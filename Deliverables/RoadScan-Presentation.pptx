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7727f342154259" /><Relationship Type="http://schemas.openxmlformats.org/officeDocument/2006/relationships/extended-properties" Target="/docProps/app.xml" Id="R68ddf601f0a1424f" /><Relationship Type="http://schemas.openxmlformats.org/officeDocument/2006/relationships/officeDocument" Target="/ppt/presentation.xml" Id="R23b10c6ec41c4aa7" /></Relationships>
</file>

<file path=ppt/presentation.xml><?xml version="1.0" encoding="utf-8"?>
<p:presentation xmlns:p="http://schemas.openxmlformats.org/presentationml/2006/main">
  <p:sldMasterIdLst>
    <p:sldMasterId xmlns:r="http://schemas.openxmlformats.org/officeDocument/2006/relationships" id="2147483648" r:id="R32f43f6ee00349f9"/>
  </p:sldMasterIdLst>
  <p:notesMasterIdLst>
    <p:notesMasterId xmlns:r="http://schemas.openxmlformats.org/officeDocument/2006/relationships" r:id="R47a977f033424d6e"/>
  </p:notesMasterIdLst>
  <p:sldIdLst>
    <p:sldId xmlns:r="http://schemas.openxmlformats.org/officeDocument/2006/relationships" id="256" r:id="R820c97ee408247df"/>
    <p:sldId xmlns:r="http://schemas.openxmlformats.org/officeDocument/2006/relationships" id="257" r:id="R5fa5047ade144ebb"/>
    <p:sldId xmlns:r="http://schemas.openxmlformats.org/officeDocument/2006/relationships" id="258" r:id="R2561982fd45049a9"/>
    <p:sldId xmlns:r="http://schemas.openxmlformats.org/officeDocument/2006/relationships" id="259" r:id="R7d2764d3dbdc4232"/>
    <p:sldId xmlns:r="http://schemas.openxmlformats.org/officeDocument/2006/relationships" id="260" r:id="R20db0bf9c53c4f95"/>
    <p:sldId xmlns:r="http://schemas.openxmlformats.org/officeDocument/2006/relationships" id="261" r:id="Rbfd1d32fec874f21"/>
    <p:sldId xmlns:r="http://schemas.openxmlformats.org/officeDocument/2006/relationships" id="262" r:id="R65ee069c06554418"/>
    <p:sldId xmlns:r="http://schemas.openxmlformats.org/officeDocument/2006/relationships" id="263" r:id="R54e7c429fa824a91"/>
    <p:sldId xmlns:r="http://schemas.openxmlformats.org/officeDocument/2006/relationships" id="264" r:id="R3f8562d8b3c44826"/>
    <p:sldId xmlns:r="http://schemas.openxmlformats.org/officeDocument/2006/relationships" id="265" r:id="R3327c8cc1d894130"/>
    <p:sldId xmlns:r="http://schemas.openxmlformats.org/officeDocument/2006/relationships" id="266" r:id="R338991c758e14b03"/>
    <p:sldId xmlns:r="http://schemas.openxmlformats.org/officeDocument/2006/relationships" id="267" r:id="R12762d8933024f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093032c7e7d4259" /><Relationship Type="http://schemas.openxmlformats.org/officeDocument/2006/relationships/slideMaster" Target="/ppt/slideMasters/slideMaster1.xml" Id="R32f43f6ee00349f9" /><Relationship Type="http://schemas.openxmlformats.org/officeDocument/2006/relationships/notesMaster" Target="/ppt/notesMasters/notesMaster1.xml" Id="R47a977f033424d6e" /><Relationship Type="http://schemas.openxmlformats.org/officeDocument/2006/relationships/presProps" Target="/ppt/presProps.xml" Id="R0925ab74ccc44910" /><Relationship Type="http://schemas.openxmlformats.org/officeDocument/2006/relationships/tableStyles" Target="/ppt/tableStyles.xml" Id="R730ba3bbb9484983" /><Relationship Type="http://schemas.openxmlformats.org/officeDocument/2006/relationships/slide" Target="/ppt/slides/slide1.xml" Id="R820c97ee408247df" /><Relationship Type="http://schemas.openxmlformats.org/officeDocument/2006/relationships/slide" Target="/ppt/slides/slide2.xml" Id="R5fa5047ade144ebb" /><Relationship Type="http://schemas.openxmlformats.org/officeDocument/2006/relationships/slide" Target="/ppt/slides/slide3.xml" Id="R2561982fd45049a9" /><Relationship Type="http://schemas.openxmlformats.org/officeDocument/2006/relationships/slide" Target="/ppt/slides/slide4.xml" Id="R7d2764d3dbdc4232" /><Relationship Type="http://schemas.openxmlformats.org/officeDocument/2006/relationships/slide" Target="/ppt/slides/slide5.xml" Id="R20db0bf9c53c4f95" /><Relationship Type="http://schemas.openxmlformats.org/officeDocument/2006/relationships/slide" Target="/ppt/slides/slide6.xml" Id="Rbfd1d32fec874f21" /><Relationship Type="http://schemas.openxmlformats.org/officeDocument/2006/relationships/slide" Target="/ppt/slides/slide7.xml" Id="R65ee069c06554418" /><Relationship Type="http://schemas.openxmlformats.org/officeDocument/2006/relationships/slide" Target="/ppt/slides/slide8.xml" Id="R54e7c429fa824a91" /><Relationship Type="http://schemas.openxmlformats.org/officeDocument/2006/relationships/slide" Target="/ppt/slides/slide9.xml" Id="R3f8562d8b3c44826" /><Relationship Type="http://schemas.openxmlformats.org/officeDocument/2006/relationships/slide" Target="/ppt/slides/slide10.xml" Id="R3327c8cc1d894130" /><Relationship Type="http://schemas.openxmlformats.org/officeDocument/2006/relationships/slide" Target="/ppt/slides/slide11.xml" Id="R338991c758e14b03" /><Relationship Type="http://schemas.openxmlformats.org/officeDocument/2006/relationships/slide" Target="/ppt/slides/slide12.xml" Id="R12762d8933024f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cfebb59a65f4d7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3c34b0681304041" /><Relationship Type="http://schemas.openxmlformats.org/officeDocument/2006/relationships/notesMaster" Target="/ppt/notesMasters/notesMaster1.xml" Id="R32a66ff1279f456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b108af166e4b77" /><Relationship Type="http://schemas.openxmlformats.org/officeDocument/2006/relationships/notesMaster" Target="/ppt/notesMasters/notesMaster1.xml" Id="Rd36a67ef89cd44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ef9c6107e3f4485" /><Relationship Type="http://schemas.openxmlformats.org/officeDocument/2006/relationships/notesMaster" Target="/ppt/notesMasters/notesMaster1.xml" Id="Rc75a4216f0494f6f"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d09d6b7d2b4bab" /><Relationship Type="http://schemas.openxmlformats.org/officeDocument/2006/relationships/notesMaster" Target="/ppt/notesMasters/notesMaster1.xml" Id="Rc3fbf54f10a640a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d15e1a3c6d24705" /><Relationship Type="http://schemas.openxmlformats.org/officeDocument/2006/relationships/notesMaster" Target="/ppt/notesMasters/notesMaster1.xml" Id="Rc8a15baa7c684d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563f2cd7f84f40" /><Relationship Type="http://schemas.openxmlformats.org/officeDocument/2006/relationships/notesMaster" Target="/ppt/notesMasters/notesMaster1.xml" Id="R6b760c6e20c149b6" /></Relationships>
</file>

<file path=ppt/notesSlides/_rels/notesSlide7.xml.rels>&#65279;<?xml version="1.0" encoding="utf-8"?><Relationships xmlns="http://schemas.openxmlformats.org/package/2006/relationships"><Relationship Type="http://schemas.openxmlformats.org/officeDocument/2006/relationships/slide" Target="/ppt/slides/slide7.xml" Id="R4197ac6c8a314371" /><Relationship Type="http://schemas.openxmlformats.org/officeDocument/2006/relationships/notesMaster" Target="/ppt/notesMasters/notesMaster1.xml" Id="Rdeedc7e66c7d43b2" /></Relationships>
</file>

<file path=ppt/notesSlides/_rels/notesSlide8.xml.rels>&#65279;<?xml version="1.0" encoding="utf-8"?><Relationships xmlns="http://schemas.openxmlformats.org/package/2006/relationships"><Relationship Type="http://schemas.openxmlformats.org/officeDocument/2006/relationships/slide" Target="/ppt/slides/slide8.xml" Id="R6d96a8ee47664892" /><Relationship Type="http://schemas.openxmlformats.org/officeDocument/2006/relationships/notesMaster" Target="/ppt/notesMasters/notesMaster1.xml" Id="Rcd5073b442b944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0bc667fbddaa4549" /><Relationship Type="http://schemas.openxmlformats.org/officeDocument/2006/relationships/notesMaster" Target="/ppt/notesMasters/notesMaster1.xml" Id="R722913b0dbe04d9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4c2412a8b5a443f" /><Relationship Type="http://schemas.openxmlformats.org/officeDocument/2006/relationships/notesMaster" Target="/ppt/notesMasters/notesMaster1.xml" Id="Rfc0da345c2504b3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51c3cc0b46b44d3" /><Relationship Type="http://schemas.openxmlformats.org/officeDocument/2006/relationships/notesMaster" Target="/ppt/notesMasters/notesMaster1.xml" Id="R91683b28dbc8451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6d4ff9d5b9a427b" /><Relationship Type="http://schemas.openxmlformats.org/officeDocument/2006/relationships/notesMaster" Target="/ppt/notesMasters/notesMaster1.xml" Id="Rb50d9e2b56d848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20 seconds.</a:t>
            </a:r>
          </a:p>
          <a:p xmlns:a="http://schemas.openxmlformats.org/drawingml/2006/main">
            <a:r>
              <a:t/>
            </a:r>
          </a:p>
          <a:p xmlns:a="http://schemas.openxmlformats.org/drawingml/2006/main">
            <a:r>
              <a:t>Road damage needs a reviewable record before it can support a maintenance decision. RoadScan connects local detection to human correction, priority support and controlled preparation of training examples. Our contribution is that complete inspection workflow. This remains a capstone prototype, rather than structural safety certification.</a:t>
            </a:r>
          </a:p>
          <a:p xmlns:a="http://schemas.openxmlformats.org/drawingml/2006/main">
            <a:r>
              <a:t/>
            </a:r>
          </a:p>
          <a:p xmlns:a="http://schemas.openxmlformats.org/drawingml/2006/main">
            <a:r>
              <a:t>Sources: RoadScan-Project-Report.pdf sections 1–2; OLO AIEP brief, Track A; assets/readme/overview.png, original RoadScene illustration. Team members supplied by the project owner.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a:t>
            </a:r>
          </a:p>
          <a:p xmlns:a="http://schemas.openxmlformats.org/drawingml/2006/main">
            <a:r>
              <a:t/>
            </a:r>
          </a:p>
          <a:p xmlns:a="http://schemas.openxmlformats.org/drawingml/2006/main">
            <a:r>
              <a:t>The browser accepts photos, a camera or video. App.tsx and LiveRecognition.tsx call FastAPI in api.py, which checks access, input size and image dimensions. ModelRuntime in model_library.py selects the checkpoint, while inference.py runs local detection. There are two paths. Temporary recognition returns boxes without saving a report. Explicit report creation stores the image, initial prediction and a reviewable record. Review and workflow modules validate corrections and status changes, retaining audit history in SQLite. Approved examples can enter a training export. Keeping these boundaries separate avoids turning every live camera frame into permanent project data.</a:t>
            </a:r>
          </a:p>
          <a:p xmlns:a="http://schemas.openxmlformats.org/drawingml/2006/main">
            <a:r>
              <a:t/>
            </a:r>
          </a:p>
          <a:p xmlns:a="http://schemas.openxmlformats.org/drawingml/2006/main">
            <a:r>
              <a:t>Sources: roadscan/api.py:136,151,280; model_library.py:220; inference.py:78; core.py; review.py; workflow.py; training_data.py; frontend/src/App.tsx and LiveRecognition.tsx. Diagram is native editable slide objects.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This is the real review interface with private road imagery excluded. A reviewer checks the detection boxes, corrects them and records a decision. Model comparison runs two or three checkpoints sequentially and keeps their individual outputs visible. A majority is one suggestion. If the third model is more credible, the reviewer can choose that model instead. The choice only replaces draft boxes until the review is explicitly saved. Priority provides a transparent triage aid. It cannot infer physical crack depth or certify whether a road is safe from one photograph.</a:t>
            </a:r>
          </a:p>
          <a:p xmlns:a="http://schemas.openxmlformats.org/drawingml/2006/main">
            <a:r>
              <a:t/>
            </a:r>
          </a:p>
          <a:p xmlns:a="http://schemas.openxmlformats.org/drawingml/2006/main">
            <a:r>
              <a:t>Sources: assets/readme/review.png, cleared screenshot; frontend/src/ModelVote.tsx:45 and App.tsx:337; roadscan/voting.py; vote_worker.py; review.py; priority.py. Screenshot shows the application controls, not an accuracy evaluation.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a:t>
            </a:r>
          </a:p>
          <a:p xmlns:a="http://schemas.openxmlformats.org/drawingml/2006/main">
            <a:r>
              <a:t/>
            </a:r>
          </a:p>
          <a:p xmlns:a="http://schemas.openxmlformats.org/drawingml/2006/main">
            <a:r>
              <a:t>We retained nineteen unique weight files, including sixteen road detectors. The baseline used eight thousand training images, a separate Czech validation set of one thousand, and a US test set of one thousand. The team reports twenty-six thousand eight hundred sixty-nine RDD training images plus roughly fourteen thousand external images for its main run. That total is approximate. The table preserves each experiment’s scope. The main YOLO26 result and RT-DETR validation score cannot establish a universal winner against the baseline’s US holdout. The team also reported near-duplicate leakage. A complete shared benchmark and labeled Saudi test set are still needed.</a:t>
            </a:r>
          </a:p>
          <a:p xmlns:a="http://schemas.openxmlformats.org/drawingml/2006/main">
            <a:r>
              <a:t/>
            </a:r>
          </a:p>
          <a:p xmlns:a="http://schemas.openxmlformats.org/drawingml/2006/main">
            <a:r>
              <a:t>Sources: Deliverables/Model-Report.md sections 01–03; Model-Inventory.json; baseline training records and held-out metrics; supplied teammate E1/main results; saved RT-DETR-L validation. mAP50 is mean AP at IoU 0.5; mAP50–95 averages stricter overlap thresholds. Scores rounded from original records, not newly measured.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For a laptop, USB camera or Iriun phone camera, live recognition analyzes fresh frames automatically and shows an overlay. It samples at the pace the detector can sustain. For an uploaded file, Analyze every frame is different. The video module decodes frames sequentially and waits for inference before continuing. A busy response retains the same frame for retry, and completion checks available metadata. This improves decoded-frame coverage, but it can take longer than the video’s playback duration. Heavy models such as RT-DETR may be unsuitable for responsive CPU viewing. Saving a selected frame remains an explicit action.</a:t>
            </a:r>
          </a:p>
          <a:p xmlns:a="http://schemas.openxmlformats.org/drawingml/2006/main">
            <a:r>
              <a:t/>
            </a:r>
          </a:p>
          <a:p xmlns:a="http://schemas.openxmlformats.org/drawingml/2006/main">
            <a:r>
              <a:t>Sources: frontend/src/LiveRecognition.tsx; liveFrames.ts; FullVideoAnalysis.tsx:34; roadscan/video_analysis.py:93; api.py video-analysis routes. Hardware-specific sustained frame rate and drone integration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a:t>
            </a:r>
          </a:p>
          <a:p xmlns:a="http://schemas.openxmlformats.org/drawingml/2006/main">
            <a:r>
              <a:t/>
            </a:r>
          </a:p>
          <a:p xmlns:a="http://schemas.openxmlformats.org/drawingml/2006/main">
            <a:r>
              <a:t>A saved review does not teach the active model instantly. First, the reviewer corrects the boxes, confirms the report and approves the example. The Learning screen exports approved images, labels, split information and provenance. A trainer prepares that export for a separate training run, evaluates the new checkpoint on unused test data and imports it through the model library. The current export needs dataset-layout preparation for the training runner, so we do not claim one-click retraining. This deliberate boundary keeps an incorrect review from silently changing a model during a demonstration.</a:t>
            </a:r>
          </a:p>
          <a:p xmlns:a="http://schemas.openxmlformats.org/drawingml/2006/main">
            <a:r>
              <a:t/>
            </a:r>
          </a:p>
          <a:p xmlns:a="http://schemas.openxmlformats.org/drawingml/2006/main">
            <a:r>
              <a:t>Sources: assets/readme/learning.png; TrainingApproval.tsx; Learning.tsx; roadscan/training_data.py:40,78; detector_train.py:71; ModelLibrary.tsx:49. Export images/train layout requires preparation for the runner’s train/images expectation.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45 seconds.</a:t>
            </a:r>
          </a:p>
          <a:p xmlns:a="http://schemas.openxmlformats.org/drawingml/2006/main">
            <a:r>
              <a:t/>
            </a:r>
          </a:p>
          <a:p xmlns:a="http://schemas.openxmlformats.org/drawingml/2006/main">
            <a:r>
              <a:t>The recorded release checks passed two hundred twenty-one backend tests, twenty-four frontend tests and sixty-seven browser checks. One optional backend test was skipped. These establish software behavior, not detection accuracy. Our delivery includes source code, reports, guides and eleven published road detectors, DINOv2 and their source or license companions. The remaining research work is concrete: collect labeled Saudi road images and real repeated-damage pairs, repair data leakage, compare models on the same test and measure camera latency on representative hardware. RoadScan provides a working, inspectable foundation for that work, with human review central to the workflow.</a:t>
            </a:r>
          </a:p>
          <a:p xmlns:a="http://schemas.openxmlformats.org/drawingml/2006/main">
            <a:r>
              <a:t/>
            </a:r>
          </a:p>
          <a:p xmlns:a="http://schemas.openxmlformats.org/drawingml/2006/main">
            <a:r>
              <a:t>Sources: Deliverables/Validation-Status.md; For-Examiners.md; Model-Report.md; GitHub-Publication-Verification.json; Baseline-Publication-Verification.json. These are previously recorded release tests, not a claim that the tests were rerun while authoring this presentation. Repository: https://github.com/Feras-MQ/RoadScan; model resources: releases/tag/model-resources-2026-10-28.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The current matrix records twenty-two unique local weight files, including nineteen road detectors. Eleven road detectors and DINOv2 are downloadable from our release. The stock COCO initializer links upstream. Eight older detectors and the ResNet18 classifier remain on individual publication holds. Road v1, Road A and Road v2b are experimental. Their shared-video selection evidence is not an independent test, and the Main model remains the default. Two additional filenames named by the trainer have not been located and are excluded from this inventory. Published downloads passed anonymous full-SHA256 and size verification. These integrity checks do not establish model accuracy.</a:t>
            </a:r>
          </a:p>
          <a:p xmlns:a="http://schemas.openxmlformats.org/drawingml/2006/main">
            <a:r>
              <a:t/>
            </a:r>
          </a:p>
          <a:p xmlns:a="http://schemas.openxmlformats.org/drawingml/2006/main">
            <a:r>
              <a:t>Sources: Deliverables/Model-Release-Matrix-2026-10-30.md, updated 31 October; Trainer-Provenance-2026-10-31.md; Trainer-Byte-Reconciliation-2026-10-31.json; model-resources-2026-10-28 release. Inventory and publication status as of 31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The live endpoint bounds input bytes and decoded pixels, marks the result as not persisted and closes the decoded image. The model-vote callback updates draft boxes and marks them edited. It does not save the review automatically. These excerpts illustrate the boundaries, rather than presenting the full implementation.</a:t>
            </a:r>
          </a:p>
          <a:p xmlns:a="http://schemas.openxmlformats.org/drawingml/2006/main">
            <a:r>
              <a:t/>
            </a:r>
          </a:p>
          <a:p xmlns:a="http://schemas.openxmlformats.org/drawingml/2006/main">
            <a:r>
              <a:t>Sources: roadscan/api.py:139–148; frontend/src/App.tsx:337, exact callback statements and interface message. Comment “Response excerpt” is a presentation annotation.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The repository README contains the setup commands. Keep the local token private and retain the Docker data volume to preserve reports. Import trusted model files through Settings, then verify the Active label before testing. A road detector is required for road-damage boxes. The baseline, seven RunPod detectors and three experimental road fine-tunes have downloadable weights and source companions on the model-resources release. Rename fine-tune files to their documented distinct labels before fresh imports. Full fresh-machine download-to-inference acceptance remains unverified. Physical drone integration and Mac/ARM setup have not been verified.</a:t>
            </a:r>
          </a:p>
          <a:p xmlns:a="http://schemas.openxmlformats.org/drawingml/2006/main">
            <a:r>
              <a:t/>
            </a:r>
          </a:p>
          <a:p xmlns:a="http://schemas.openxmlformats.org/drawingml/2006/main">
            <a:r>
              <a:t>Sources: README.md Quick start Windows; Deliverables/Run-On-Another-Computer.md; Iriun-Webcam-Guide.md; https://github.com/Feras-MQ/RoadScan/releases/tag/model-resources-2026-10-28.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This appendix is a presenter checklist rather than additional five-minute narration. Use a permitted road image for a live demonstration, clearly label any synthetic sample, and avoid exposing private locations or tokens. If the detector or camera is unavailable, show the cleared screenshots and distinguish saved evidence from a live test. For model questions, consult the complete model report rather than compressing several datasets into one accuracy number.</a:t>
            </a:r>
          </a:p>
          <a:p xmlns:a="http://schemas.openxmlformats.org/drawingml/2006/main">
            <a:r>
              <a:t/>
            </a:r>
          </a:p>
          <a:p xmlns:a="http://schemas.openxmlformats.org/drawingml/2006/main">
            <a:r>
              <a:t>Sources: Deliverables/For-Examiners.md; Model-Report.md; Validation-Status.md; cleared screenshot assets. No claimed drone flight or measured Saudi-road performance.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 outside the five-minute talk.</a:t>
            </a:r>
          </a:p>
          <a:p xmlns:a="http://schemas.openxmlformats.org/drawingml/2006/main">
            <a:r>
              <a:t/>
            </a:r>
          </a:p>
          <a:p xmlns:a="http://schemas.openxmlformats.org/drawingml/2006/main">
            <a:r>
              <a:t>This appendix maps the supplied experiments to the project brief. E1 compares image classification with detection, which requires different metrics. E2 studies detector size and resolution. E3 includes augmentation ablations. E4 studies country shift and later road adaptation, but reported near-duplicate leakage and shared-video selection prevent independent field-accuracy claims. E5 compares duplicate representations in simulations. The replacement DINOv2 and FAISS matcher exists, but real same-damage and different-damage pairs still need calibration and evaluation. Collect forty to eighty labeled local test photos without adding them to training. Suggested speaking handoff: Feras presents slides one and two, Ahmed Salamah three and four, and Ahmed Alhejaili five through seven. This is a suggested presentation rotation, not an attribution of individual implementation work.</a:t>
            </a:r>
          </a:p>
          <a:p xmlns:a="http://schemas.openxmlformats.org/drawingml/2006/main">
            <a:r>
              <a:t/>
            </a:r>
          </a:p>
          <a:p xmlns:a="http://schemas.openxmlformats.org/drawingml/2006/main">
            <a:r>
              <a:t>Sources: Deliverables/Submission-Audit-2026-10-30.md; RoadScan-Project-Report.pdf sections E1 through E5; Model-Release-Matrix-2026-10-30.md; OLO AIEP Track A brief. Trainer evidence clarifies the ResNet18 initializer as IMAGENET1K_V1; publication terms and original run reproduction remain separate unresolved issues.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4ee14f98fa4ac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9b317dc3a934e1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54073856774a0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23df08fd5c94a6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670f016111a486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5598c81f7464eb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52914C-0A9C-4F4B-A195-C8548CE1811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C9AF849-252A-44EF-9B83-EA53399220F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2D5E25B-1607-4EEB-8AA6-3A91B22394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FBB941-98A5-416C-88E8-707F52F43BA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EC918AE-3DF0-4451-A74E-320604C60445}"/>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448903-04D9-4F5B-ABDF-48EBBD25C7F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74958DA-1749-4D7E-A8F2-9AC906F00FF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486064F-B803-4DDA-ACD0-5B83A827EF6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D52CAE7-8256-47B5-894C-AC99C51456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6ECEA9D-022D-4471-A5A3-21D9B2502C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409cea17ce465f" /><Relationship Type="http://schemas.openxmlformats.org/officeDocument/2006/relationships/slideLayout" Target="/ppt/slideLayouts/slideLayout1.xml" Id="R08a971db90794dfe" /><Relationship Type="http://schemas.openxmlformats.org/officeDocument/2006/relationships/slideLayout" Target="/ppt/slideLayouts/slideLayout2.xml" Id="R403fc5c5bf8048fc" /><Relationship Type="http://schemas.openxmlformats.org/officeDocument/2006/relationships/slideLayout" Target="/ppt/slideLayouts/slideLayout3.xml" Id="Rd6c5d3264a1f451f" /><Relationship Type="http://schemas.openxmlformats.org/officeDocument/2006/relationships/slideLayout" Target="/ppt/slideLayouts/slideLayout4.xml" Id="Re92f0aefdb564229" /><Relationship Type="http://schemas.openxmlformats.org/officeDocument/2006/relationships/slideLayout" Target="/ppt/slideLayouts/slideLayout5.xml" Id="Rdbbb5289f6d34da2" /><Relationship Type="http://schemas.openxmlformats.org/officeDocument/2006/relationships/slideLayout" Target="/ppt/slideLayouts/slideLayout6.xml" Id="Rddc1637dc88b498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a971db90794dfe"/>
    <p:sldLayoutId xmlns:r="http://schemas.openxmlformats.org/officeDocument/2006/relationships" id="2147483650" r:id="R403fc5c5bf8048fc"/>
    <p:sldLayoutId xmlns:r="http://schemas.openxmlformats.org/officeDocument/2006/relationships" id="2147483651" r:id="Rd6c5d3264a1f451f"/>
    <p:sldLayoutId xmlns:r="http://schemas.openxmlformats.org/officeDocument/2006/relationships" id="2147483652" r:id="Re92f0aefdb564229"/>
    <p:sldLayoutId xmlns:r="http://schemas.openxmlformats.org/officeDocument/2006/relationships" id="2147483653" r:id="Rdbbb5289f6d34da2"/>
    <p:sldLayoutId xmlns:r="http://schemas.openxmlformats.org/officeDocument/2006/relationships" id="2147483654" r:id="Rddc1637dc88b498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e47dc9ea34d40e3" /><Relationship Type="http://schemas.openxmlformats.org/officeDocument/2006/relationships/image" Target="/ppt/media/image.png" Id="R45c89f2bd9cb402b" /><Relationship Type="http://schemas.openxmlformats.org/officeDocument/2006/relationships/notesSlide" Target="/ppt/notesSlides/notesSlide1.xml" Id="Rc8816e8a54a24b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e53bad45229487a" /><Relationship Type="http://schemas.openxmlformats.org/officeDocument/2006/relationships/notesSlide" Target="/ppt/notesSlides/notesSlide2.xml" Id="R9c91543ff7404c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ba46bc96957497b" /><Relationship Type="http://schemas.openxmlformats.org/officeDocument/2006/relationships/image" Target="/ppt/media/image2.png" Id="Rf93c821bbf3f4e25" /><Relationship Type="http://schemas.openxmlformats.org/officeDocument/2006/relationships/notesSlide" Target="/ppt/notesSlides/notesSlide3.xml" Id="R33becd1de3f9422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8ea724eec184bc7" /><Relationship Type="http://schemas.openxmlformats.org/officeDocument/2006/relationships/notesSlide" Target="/ppt/notesSlides/notesSlide4.xml" Id="R22cb1ffd612846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0df818126d41ef" /><Relationship Type="http://schemas.openxmlformats.org/officeDocument/2006/relationships/notesSlide" Target="/ppt/notesSlides/notesSlide5.xml" Id="Rc00cc0921d75455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921047636894647" /><Relationship Type="http://schemas.openxmlformats.org/officeDocument/2006/relationships/image" Target="/ppt/media/image3.png" Id="Rd8ba9a77ab304527" /><Relationship Type="http://schemas.openxmlformats.org/officeDocument/2006/relationships/notesSlide" Target="/ppt/notesSlides/notesSlide6.xml" Id="R1bca37b50e2d467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f2f57783344461b" /><Relationship Type="http://schemas.openxmlformats.org/officeDocument/2006/relationships/notesSlide" Target="/ppt/notesSlides/notesSlide7.xml" Id="R4eb7ba9ead2f417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041cb788be441c0" /><Relationship Type="http://schemas.openxmlformats.org/officeDocument/2006/relationships/notesSlide" Target="/ppt/notesSlides/notesSlide8.xml" Id="R2f2e9fc348524b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d9d05b8b8ad4cd2" /><Relationship Type="http://schemas.openxmlformats.org/officeDocument/2006/relationships/notesSlide" Target="/ppt/notesSlides/notesSlide9.xml" Id="R60907c0c00384a2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621637a4c4445fe" /><Relationship Type="http://schemas.openxmlformats.org/officeDocument/2006/relationships/notesSlide" Target="/ppt/notesSlides/notesSlide10.xml" Id="Raf5c1a2321e544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dddf06b2d3455f" /><Relationship Type="http://schemas.openxmlformats.org/officeDocument/2006/relationships/notesSlide" Target="/ppt/notesSlides/notesSlide11.xml" Id="R620ed26890614e0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35952f2f1d94f51" /><Relationship Type="http://schemas.openxmlformats.org/officeDocument/2006/relationships/notesSlide" Target="/ppt/notesSlides/notesSlide12.xml" Id="R0cea0767ace34950" /></Relationships>
</file>

<file path=ppt/slides/slide1.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0" name="ROAD DAMAGE INSPECTION">
            <a:extLst xmlns:a="http://schemas.openxmlformats.org/drawingml/2006/main">
              <a:ext uri="{FF2B5EF4-FFF2-40B4-BE49-F238E27FC236}">
                <a16:creationId xmlns:a16="http://schemas.microsoft.com/office/drawing/2014/main" id="{2D2222A0-19E3-4E79-B800-CFB77291AEA2}"/>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ROAD DAMAGE INSPECTION</a:t>
            </a:r>
          </a:p>
        </p:txBody>
      </p:sp>
      <p:sp>
        <p:nvSpPr>
          <p:cNvPr id="2" name="RoadScan">
            <a:extLst xmlns:a="http://schemas.openxmlformats.org/drawingml/2006/main">
              <a:ext uri="{FF2B5EF4-FFF2-40B4-BE49-F238E27FC236}">
                <a16:creationId xmlns:a16="http://schemas.microsoft.com/office/drawing/2014/main" id="{037F9458-9B87-448B-BBED-52965B341212}"/>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7050" b="1">
                <a:solidFill>
                  <a:srgbClr val="DCFA6B"/>
                </a:solidFill>
                <a:latin typeface="Arial"/>
                <a:ea typeface="Arial"/>
                <a:cs typeface="Arial"/>
              </a:defRPr>
            </a:defPPr>
            <a:lvl1pPr>
              <a:defRPr sz="7050" b="1">
                <a:solidFill>
                  <a:srgbClr val="DCFA6B"/>
                </a:solidFill>
                <a:latin typeface="Arial"/>
                <a:ea typeface="Arial"/>
                <a:cs typeface="Arial"/>
              </a:defRPr>
            </a:lvl1pPr>
            <a:lvl2pPr>
              <a:defRPr sz="7050" b="1">
                <a:solidFill>
                  <a:srgbClr val="DCFA6B"/>
                </a:solidFill>
                <a:latin typeface="Arial"/>
                <a:ea typeface="Arial"/>
                <a:cs typeface="Arial"/>
              </a:defRPr>
            </a:lvl2pPr>
            <a:lvl3pPr>
              <a:defRPr sz="7050" b="1">
                <a:solidFill>
                  <a:srgbClr val="DCFA6B"/>
                </a:solidFill>
                <a:latin typeface="Arial"/>
                <a:ea typeface="Arial"/>
                <a:cs typeface="Arial"/>
              </a:defRPr>
            </a:lvl3pPr>
            <a:lvl4pPr>
              <a:defRPr sz="7050" b="1">
                <a:solidFill>
                  <a:srgbClr val="DCFA6B"/>
                </a:solidFill>
                <a:latin typeface="Arial"/>
                <a:ea typeface="Arial"/>
                <a:cs typeface="Arial"/>
              </a:defRPr>
            </a:lvl4pPr>
            <a:lvl5pPr>
              <a:defRPr sz="7050" b="1">
                <a:solidFill>
                  <a:srgbClr val="DCFA6B"/>
                </a:solidFill>
                <a:latin typeface="Arial"/>
                <a:ea typeface="Arial"/>
                <a:cs typeface="Arial"/>
              </a:defRPr>
            </a:lvl5pPr>
            <a:lvl6pPr>
              <a:defRPr sz="7050" b="1">
                <a:solidFill>
                  <a:srgbClr val="DCFA6B"/>
                </a:solidFill>
                <a:latin typeface="Arial"/>
                <a:ea typeface="Arial"/>
                <a:cs typeface="Arial"/>
              </a:defRPr>
            </a:lvl6pPr>
            <a:lvl7pPr>
              <a:defRPr sz="7050" b="1">
                <a:solidFill>
                  <a:srgbClr val="DCFA6B"/>
                </a:solidFill>
                <a:latin typeface="Arial"/>
                <a:ea typeface="Arial"/>
                <a:cs typeface="Arial"/>
              </a:defRPr>
            </a:lvl7pPr>
            <a:lvl8pPr>
              <a:defRPr sz="7050" b="1">
                <a:solidFill>
                  <a:srgbClr val="DCFA6B"/>
                </a:solidFill>
                <a:latin typeface="Arial"/>
                <a:ea typeface="Arial"/>
                <a:cs typeface="Arial"/>
              </a:defRPr>
            </a:lvl8pPr>
            <a:lvl9pPr>
              <a:defRPr sz="7050" b="1">
                <a:solidFill>
                  <a:srgbClr val="DCFA6B"/>
                </a:solidFill>
                <a:latin typeface="Arial"/>
                <a:ea typeface="Arial"/>
                <a:cs typeface="Arial"/>
              </a:defRPr>
            </a:lvl9pPr>
          </a:lstStyle>
          <a:p xmlns:a="http://schemas.openxmlformats.org/drawingml/2006/main">
            <a:pPr>
              <a:defRPr sz="7050" b="1">
                <a:solidFill>
                  <a:srgbClr val="DCFA6B"/>
                </a:solidFill>
                <a:latin typeface="Arial"/>
                <a:ea typeface="Arial"/>
                <a:cs typeface="Arial"/>
              </a:defRPr>
            </a:pPr>
            <a:r>
              <a:rPr sz="7050" b="1">
                <a:solidFill>
                  <a:srgbClr val="DCFA6B"/>
                </a:solidFill>
                <a:latin typeface="Arial"/>
                <a:ea typeface="Arial"/>
                <a:cs typeface="Arial"/>
              </a:rPr>
              <a:t>RoadScan</a:t>
            </a:r>
          </a:p>
        </p:txBody>
      </p:sp>
      <p:sp>
        <p:nvSpPr>
          <p:cNvPr id="3" name="RoadScan / AIEP capstone">
            <a:extLst xmlns:a="http://schemas.openxmlformats.org/drawingml/2006/main">
              <a:ext uri="{FF2B5EF4-FFF2-40B4-BE49-F238E27FC236}">
                <a16:creationId xmlns:a16="http://schemas.microsoft.com/office/drawing/2014/main" id="{8EFDEB3F-23B2-49F0-9BE0-B2BE00CED196}"/>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1">
            <a:extLst xmlns:a="http://schemas.openxmlformats.org/drawingml/2006/main">
              <a:ext uri="{FF2B5EF4-FFF2-40B4-BE49-F238E27FC236}">
                <a16:creationId xmlns:a16="http://schemas.microsoft.com/office/drawing/2014/main" id="{855040E6-6A93-426F-BEC8-D554518150E8}"/>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01</a:t>
            </a:r>
          </a:p>
        </p:txBody>
      </p:sp>
      <p:sp>
        <p:nvSpPr>
          <p:cNvPr id="5" name="Human-reviewed&#10;road intelligence">
            <a:extLst xmlns:a="http://schemas.openxmlformats.org/drawingml/2006/main">
              <a:ext uri="{FF2B5EF4-FFF2-40B4-BE49-F238E27FC236}">
                <a16:creationId xmlns:a16="http://schemas.microsoft.com/office/drawing/2014/main" id="{34B01E07-951B-4C47-B370-1B52DDD1304F}"/>
              </a:ext>
            </a:extLst>
          </p:cNvPr>
          <p:cNvSpPr>
            <a:spLocks xmlns:a="http://schemas.openxmlformats.org/drawingml/2006/main" noGrp="1"/>
          </p:cNvSpPr>
          <p:nvPr/>
        </p:nvSpPr>
        <p:spPr>
          <a:xfrm xmlns:a="http://schemas.openxmlformats.org/drawingml/2006/main">
            <a:off x="552450" y="2124075"/>
            <a:ext cx="581025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Human-reviewed</a:t>
            </a:r>
          </a:p>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road intelligence</a:t>
            </a:r>
          </a:p>
        </p:txBody>
      </p:sp>
      <p:sp>
        <p:nvSpPr>
          <p:cNvPr id="6" name="A local workflow for detecting damage,&#10;reviewing e">
            <a:extLst xmlns:a="http://schemas.openxmlformats.org/drawingml/2006/main">
              <a:ext uri="{FF2B5EF4-FFF2-40B4-BE49-F238E27FC236}">
                <a16:creationId xmlns:a16="http://schemas.microsoft.com/office/drawing/2014/main" id="{FD6CCE1B-6665-49F5-AA0B-DA8293884F7A}"/>
              </a:ext>
            </a:extLst>
          </p:cNvPr>
          <p:cNvSpPr>
            <a:spLocks xmlns:a="http://schemas.openxmlformats.org/drawingml/2006/main" noGrp="1"/>
          </p:cNvSpPr>
          <p:nvPr/>
        </p:nvSpPr>
        <p:spPr>
          <a:xfrm xmlns:a="http://schemas.openxmlformats.org/drawingml/2006/main">
            <a:off x="590550" y="3819525"/>
            <a:ext cx="5334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A5BDC6"/>
                </a:solidFill>
                <a:latin typeface="Arial"/>
                <a:ea typeface="Arial"/>
                <a:cs typeface="Arial"/>
              </a:defRPr>
            </a:defPPr>
            <a:lvl1pPr>
              <a:defRPr sz="2025" b="0">
                <a:solidFill>
                  <a:srgbClr val="A5BDC6"/>
                </a:solidFill>
                <a:latin typeface="Arial"/>
                <a:ea typeface="Arial"/>
                <a:cs typeface="Arial"/>
              </a:defRPr>
            </a:lvl1pPr>
            <a:lvl2pPr>
              <a:defRPr sz="2025" b="0">
                <a:solidFill>
                  <a:srgbClr val="A5BDC6"/>
                </a:solidFill>
                <a:latin typeface="Arial"/>
                <a:ea typeface="Arial"/>
                <a:cs typeface="Arial"/>
              </a:defRPr>
            </a:lvl2pPr>
            <a:lvl3pPr>
              <a:defRPr sz="2025" b="0">
                <a:solidFill>
                  <a:srgbClr val="A5BDC6"/>
                </a:solidFill>
                <a:latin typeface="Arial"/>
                <a:ea typeface="Arial"/>
                <a:cs typeface="Arial"/>
              </a:defRPr>
            </a:lvl3pPr>
            <a:lvl4pPr>
              <a:defRPr sz="2025" b="0">
                <a:solidFill>
                  <a:srgbClr val="A5BDC6"/>
                </a:solidFill>
                <a:latin typeface="Arial"/>
                <a:ea typeface="Arial"/>
                <a:cs typeface="Arial"/>
              </a:defRPr>
            </a:lvl4pPr>
            <a:lvl5pPr>
              <a:defRPr sz="2025" b="0">
                <a:solidFill>
                  <a:srgbClr val="A5BDC6"/>
                </a:solidFill>
                <a:latin typeface="Arial"/>
                <a:ea typeface="Arial"/>
                <a:cs typeface="Arial"/>
              </a:defRPr>
            </a:lvl5pPr>
            <a:lvl6pPr>
              <a:defRPr sz="2025" b="0">
                <a:solidFill>
                  <a:srgbClr val="A5BDC6"/>
                </a:solidFill>
                <a:latin typeface="Arial"/>
                <a:ea typeface="Arial"/>
                <a:cs typeface="Arial"/>
              </a:defRPr>
            </a:lvl6pPr>
            <a:lvl7pPr>
              <a:defRPr sz="2025" b="0">
                <a:solidFill>
                  <a:srgbClr val="A5BDC6"/>
                </a:solidFill>
                <a:latin typeface="Arial"/>
                <a:ea typeface="Arial"/>
                <a:cs typeface="Arial"/>
              </a:defRPr>
            </a:lvl7pPr>
            <a:lvl8pPr>
              <a:defRPr sz="2025" b="0">
                <a:solidFill>
                  <a:srgbClr val="A5BDC6"/>
                </a:solidFill>
                <a:latin typeface="Arial"/>
                <a:ea typeface="Arial"/>
                <a:cs typeface="Arial"/>
              </a:defRPr>
            </a:lvl8pPr>
            <a:lvl9pPr>
              <a:defRPr sz="2025" b="0">
                <a:solidFill>
                  <a:srgbClr val="A5BDC6"/>
                </a:solidFill>
                <a:latin typeface="Arial"/>
                <a:ea typeface="Arial"/>
                <a:cs typeface="Arial"/>
              </a:defRPr>
            </a:lvl9pPr>
          </a:lstStyle>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A local workflow for detecting damage,</a:t>
            </a:r>
          </a:p>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reviewing evidence and preparing</a:t>
            </a:r>
          </a:p>
          <a:p xmlns:a="http://schemas.openxmlformats.org/drawingml/2006/main">
            <a:pPr>
              <a:defRPr sz="2025" b="0">
                <a:solidFill>
                  <a:srgbClr val="A5BDC6"/>
                </a:solidFill>
                <a:latin typeface="Arial"/>
                <a:ea typeface="Arial"/>
                <a:cs typeface="Arial"/>
              </a:defRPr>
            </a:pPr>
            <a:r>
              <a:rPr sz="2025" b="0">
                <a:solidFill>
                  <a:srgbClr val="A5BDC6"/>
                </a:solidFill>
                <a:latin typeface="Arial"/>
                <a:ea typeface="Arial"/>
                <a:cs typeface="Arial"/>
              </a:rPr>
              <a:t>better training examples.</a:t>
            </a:r>
          </a:p>
        </p:txBody>
      </p:sp>
      <p:pic>
        <p:nvPicPr>
          <p:cNvPr id="7" name="">
            <a:extLst xmlns:a="http://schemas.openxmlformats.org/drawingml/2006/main">
              <a:ext uri="{FF2B5EF4-FFF2-40B4-BE49-F238E27FC236}">
                <a16:creationId xmlns:a16="http://schemas.microsoft.com/office/drawing/2014/main" id="{A9078FB2-DA75-4CCB-A45D-0BAA13FFFF56}"/>
              </a:ext>
            </a:extLst>
          </p:cNvPr>
          <p:cNvPicPr>
            <a:picLocks xmlns:a="http://schemas.openxmlformats.org/drawingml/2006/main" noChangeAspect="1"/>
          </p:cNvPicPr>
          <p:nvPr/>
        </p:nvPicPr>
        <p:blipFill>
          <a:blip xmlns:r="http://schemas.openxmlformats.org/officeDocument/2006/relationships" xmlns:a="http://schemas.openxmlformats.org/drawingml/2006/main" r:embed="R45c89f2bd9cb402b"/>
          <a:srcRect xmlns:a="http://schemas.openxmlformats.org/drawingml/2006/main" l="57500" t="24500" r="1200" b="25700"/>
          <a:stretch xmlns:a="http://schemas.openxmlformats.org/drawingml/2006/main"/>
        </p:blipFill>
        <p:spPr>
          <a:xfrm xmlns:a="http://schemas.openxmlformats.org/drawingml/2006/main">
            <a:off x="6191250" y="1752600"/>
            <a:ext cx="5524500" cy="3619500"/>
          </a:xfrm>
          <a:prstGeom xmlns:a="http://schemas.openxmlformats.org/drawingml/2006/main" prst="rect">
            <a:avLst/>
          </a:prstGeom>
        </p:spPr>
      </p:pic>
      <p:sp>
        <p:nvSpPr>
          <p:cNvPr id="8" name="Original app illustration, not a model prediction">
            <a:extLst xmlns:a="http://schemas.openxmlformats.org/drawingml/2006/main">
              <a:ext uri="{FF2B5EF4-FFF2-40B4-BE49-F238E27FC236}">
                <a16:creationId xmlns:a16="http://schemas.microsoft.com/office/drawing/2014/main" id="{142BB98C-8278-488A-AE67-976B25AB0441}"/>
              </a:ext>
            </a:extLst>
          </p:cNvPr>
          <p:cNvSpPr>
            <a:spLocks xmlns:a="http://schemas.openxmlformats.org/drawingml/2006/main" noGrp="1"/>
          </p:cNvSpPr>
          <p:nvPr/>
        </p:nvSpPr>
        <p:spPr>
          <a:xfrm xmlns:a="http://schemas.openxmlformats.org/drawingml/2006/main">
            <a:off x="6286500" y="5514975"/>
            <a:ext cx="5238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275" b="0">
                <a:solidFill>
                  <a:srgbClr val="A5BDC6"/>
                </a:solidFill>
                <a:latin typeface="Arial"/>
                <a:ea typeface="Arial"/>
                <a:cs typeface="Arial"/>
              </a:defRPr>
            </a:defPPr>
            <a:lvl1pPr>
              <a:defRPr sz="1275" b="0">
                <a:solidFill>
                  <a:srgbClr val="A5BDC6"/>
                </a:solidFill>
                <a:latin typeface="Arial"/>
                <a:ea typeface="Arial"/>
                <a:cs typeface="Arial"/>
              </a:defRPr>
            </a:lvl1pPr>
            <a:lvl2pPr>
              <a:defRPr sz="1275" b="0">
                <a:solidFill>
                  <a:srgbClr val="A5BDC6"/>
                </a:solidFill>
                <a:latin typeface="Arial"/>
                <a:ea typeface="Arial"/>
                <a:cs typeface="Arial"/>
              </a:defRPr>
            </a:lvl2pPr>
            <a:lvl3pPr>
              <a:defRPr sz="1275" b="0">
                <a:solidFill>
                  <a:srgbClr val="A5BDC6"/>
                </a:solidFill>
                <a:latin typeface="Arial"/>
                <a:ea typeface="Arial"/>
                <a:cs typeface="Arial"/>
              </a:defRPr>
            </a:lvl3pPr>
            <a:lvl4pPr>
              <a:defRPr sz="1275" b="0">
                <a:solidFill>
                  <a:srgbClr val="A5BDC6"/>
                </a:solidFill>
                <a:latin typeface="Arial"/>
                <a:ea typeface="Arial"/>
                <a:cs typeface="Arial"/>
              </a:defRPr>
            </a:lvl4pPr>
            <a:lvl5pPr>
              <a:defRPr sz="1275" b="0">
                <a:solidFill>
                  <a:srgbClr val="A5BDC6"/>
                </a:solidFill>
                <a:latin typeface="Arial"/>
                <a:ea typeface="Arial"/>
                <a:cs typeface="Arial"/>
              </a:defRPr>
            </a:lvl5pPr>
            <a:lvl6pPr>
              <a:defRPr sz="1275" b="0">
                <a:solidFill>
                  <a:srgbClr val="A5BDC6"/>
                </a:solidFill>
                <a:latin typeface="Arial"/>
                <a:ea typeface="Arial"/>
                <a:cs typeface="Arial"/>
              </a:defRPr>
            </a:lvl6pPr>
            <a:lvl7pPr>
              <a:defRPr sz="1275" b="0">
                <a:solidFill>
                  <a:srgbClr val="A5BDC6"/>
                </a:solidFill>
                <a:latin typeface="Arial"/>
                <a:ea typeface="Arial"/>
                <a:cs typeface="Arial"/>
              </a:defRPr>
            </a:lvl7pPr>
            <a:lvl8pPr>
              <a:defRPr sz="1275" b="0">
                <a:solidFill>
                  <a:srgbClr val="A5BDC6"/>
                </a:solidFill>
                <a:latin typeface="Arial"/>
                <a:ea typeface="Arial"/>
                <a:cs typeface="Arial"/>
              </a:defRPr>
            </a:lvl8pPr>
            <a:lvl9pPr>
              <a:defRPr sz="1275" b="0">
                <a:solidFill>
                  <a:srgbClr val="A5BDC6"/>
                </a:solidFill>
                <a:latin typeface="Arial"/>
                <a:ea typeface="Arial"/>
                <a:cs typeface="Arial"/>
              </a:defRPr>
            </a:lvl9pPr>
          </a:lstStyle>
          <a:p xmlns:a="http://schemas.openxmlformats.org/drawingml/2006/main">
            <a:pPr>
              <a:defRPr sz="1275" b="0">
                <a:solidFill>
                  <a:srgbClr val="A5BDC6"/>
                </a:solidFill>
                <a:latin typeface="Arial"/>
                <a:ea typeface="Arial"/>
                <a:cs typeface="Arial"/>
              </a:defRPr>
            </a:pPr>
            <a:r>
              <a:rPr sz="1275" b="0">
                <a:solidFill>
                  <a:srgbClr val="A5BDC6"/>
                </a:solidFill>
                <a:latin typeface="Arial"/>
                <a:ea typeface="Arial"/>
                <a:cs typeface="Arial"/>
              </a:rPr>
              <a:t>Original app illustration, not a model prediction</a:t>
            </a:r>
          </a:p>
        </p:txBody>
      </p:sp>
      <p:sp>
        <p:nvSpPr>
          <p:cNvPr id="9" name="Feras Alyamani   /   Ahmed Salamah   /   Ahmed Alh">
            <a:extLst xmlns:a="http://schemas.openxmlformats.org/drawingml/2006/main">
              <a:ext uri="{FF2B5EF4-FFF2-40B4-BE49-F238E27FC236}">
                <a16:creationId xmlns:a16="http://schemas.microsoft.com/office/drawing/2014/main" id="{EE328472-A64B-4E92-8149-FB9DC039FB67}"/>
              </a:ext>
            </a:extLst>
          </p:cNvPr>
          <p:cNvSpPr>
            <a:spLocks xmlns:a="http://schemas.openxmlformats.org/drawingml/2006/main" noGrp="1"/>
          </p:cNvSpPr>
          <p:nvPr/>
        </p:nvSpPr>
        <p:spPr>
          <a:xfrm xmlns:a="http://schemas.openxmlformats.org/drawingml/2006/main">
            <a:off x="590550" y="5800725"/>
            <a:ext cx="1095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0F5F6"/>
                </a:solidFill>
                <a:latin typeface="Arial"/>
                <a:ea typeface="Arial"/>
                <a:cs typeface="Arial"/>
              </a:defRPr>
            </a:defPPr>
            <a:lvl1pPr>
              <a:defRPr sz="1725" b="0">
                <a:solidFill>
                  <a:srgbClr val="F0F5F6"/>
                </a:solidFill>
                <a:latin typeface="Arial"/>
                <a:ea typeface="Arial"/>
                <a:cs typeface="Arial"/>
              </a:defRPr>
            </a:lvl1pPr>
            <a:lvl2pPr>
              <a:defRPr sz="1725" b="0">
                <a:solidFill>
                  <a:srgbClr val="F0F5F6"/>
                </a:solidFill>
                <a:latin typeface="Arial"/>
                <a:ea typeface="Arial"/>
                <a:cs typeface="Arial"/>
              </a:defRPr>
            </a:lvl2pPr>
            <a:lvl3pPr>
              <a:defRPr sz="1725" b="0">
                <a:solidFill>
                  <a:srgbClr val="F0F5F6"/>
                </a:solidFill>
                <a:latin typeface="Arial"/>
                <a:ea typeface="Arial"/>
                <a:cs typeface="Arial"/>
              </a:defRPr>
            </a:lvl3pPr>
            <a:lvl4pPr>
              <a:defRPr sz="1725" b="0">
                <a:solidFill>
                  <a:srgbClr val="F0F5F6"/>
                </a:solidFill>
                <a:latin typeface="Arial"/>
                <a:ea typeface="Arial"/>
                <a:cs typeface="Arial"/>
              </a:defRPr>
            </a:lvl4pPr>
            <a:lvl5pPr>
              <a:defRPr sz="1725" b="0">
                <a:solidFill>
                  <a:srgbClr val="F0F5F6"/>
                </a:solidFill>
                <a:latin typeface="Arial"/>
                <a:ea typeface="Arial"/>
                <a:cs typeface="Arial"/>
              </a:defRPr>
            </a:lvl5pPr>
            <a:lvl6pPr>
              <a:defRPr sz="1725" b="0">
                <a:solidFill>
                  <a:srgbClr val="F0F5F6"/>
                </a:solidFill>
                <a:latin typeface="Arial"/>
                <a:ea typeface="Arial"/>
                <a:cs typeface="Arial"/>
              </a:defRPr>
            </a:lvl6pPr>
            <a:lvl7pPr>
              <a:defRPr sz="1725" b="0">
                <a:solidFill>
                  <a:srgbClr val="F0F5F6"/>
                </a:solidFill>
                <a:latin typeface="Arial"/>
                <a:ea typeface="Arial"/>
                <a:cs typeface="Arial"/>
              </a:defRPr>
            </a:lvl7pPr>
            <a:lvl8pPr>
              <a:defRPr sz="1725" b="0">
                <a:solidFill>
                  <a:srgbClr val="F0F5F6"/>
                </a:solidFill>
                <a:latin typeface="Arial"/>
                <a:ea typeface="Arial"/>
                <a:cs typeface="Arial"/>
              </a:defRPr>
            </a:lvl8pPr>
            <a:lvl9pPr>
              <a:defRPr sz="1725" b="0">
                <a:solidFill>
                  <a:srgbClr val="F0F5F6"/>
                </a:solidFill>
                <a:latin typeface="Arial"/>
                <a:ea typeface="Arial"/>
                <a:cs typeface="Arial"/>
              </a:defRPr>
            </a:lvl9pPr>
          </a:lstStyle>
          <a:p xmlns:a="http://schemas.openxmlformats.org/drawingml/2006/main">
            <a:pPr>
              <a:defRPr sz="1725" b="0">
                <a:solidFill>
                  <a:srgbClr val="F0F5F6"/>
                </a:solidFill>
                <a:latin typeface="Arial"/>
                <a:ea typeface="Arial"/>
                <a:cs typeface="Arial"/>
              </a:defRPr>
            </a:pPr>
            <a:r>
              <a:rPr sz="1725" b="0">
                <a:solidFill>
                  <a:srgbClr val="F0F5F6"/>
                </a:solidFill>
                <a:latin typeface="Arial"/>
                <a:ea typeface="Arial"/>
                <a:cs typeface="Arial"/>
              </a:rPr>
              <a:t>Feras Alyamani   /   Ahmed Salamah   /   Ahmed Alhejaili</a:t>
            </a:r>
          </a:p>
        </p:txBody>
      </p:sp>
    </p:spTree>
    <p:extLst>
      <p:ext uri="{BB962C8B-B14F-4D97-AF65-F5344CB8AC3E}">
        <p14:creationId xmlns:p14="http://schemas.microsoft.com/office/powerpoint/2010/main" val="153653307"/>
      </p:ext>
    </p:extLst>
  </p:cSld>
</p:sld>
</file>

<file path=ppt/slides/slide2.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cxnSp>
        <p:nvCxnSpPr>
          <p:cNvPr id="23" name="">
            <a:extLst xmlns:a="http://schemas.openxmlformats.org/drawingml/2006/main">
              <a:ext uri="{FF2B5EF4-FFF2-40B4-BE49-F238E27FC236}">
                <a16:creationId xmlns:a16="http://schemas.microsoft.com/office/drawing/2014/main" id="{04B6DDDF-6B22-4C54-8086-25631DB9B98C}"/>
              </a:ext>
            </a:extLst>
          </p:cNvPr>
          <p:cNvCxnSpPr>
            <a:stCxn xmlns:a="http://schemas.openxmlformats.org/drawingml/2006/main" id="16" idx="3"/>
            <a:endCxn xmlns:a="http://schemas.openxmlformats.org/drawingml/2006/main" id="19" idx="1"/>
          </p:cNvCxnSpPr>
          <p:nvPr/>
        </p:nvCxnSpPr>
        <p:spPr>
          <a:xfrm xmlns:a="http://schemas.openxmlformats.org/drawingml/2006/main">
            <a:off x="7696200" y="47291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22" name="">
            <a:extLst xmlns:a="http://schemas.openxmlformats.org/drawingml/2006/main">
              <a:ext uri="{FF2B5EF4-FFF2-40B4-BE49-F238E27FC236}">
                <a16:creationId xmlns:a16="http://schemas.microsoft.com/office/drawing/2014/main" id="{5267E4B0-06A4-4FD1-9433-C1958FC0567A}"/>
              </a:ext>
            </a:extLst>
          </p:cNvPr>
          <p:cNvCxnSpPr>
            <a:stCxn xmlns:a="http://schemas.openxmlformats.org/drawingml/2006/main" id="8" idx="2"/>
            <a:endCxn xmlns:a="http://schemas.openxmlformats.org/drawingml/2006/main" id="16" idx="0"/>
          </p:cNvCxnSpPr>
          <p:nvPr/>
        </p:nvCxnSpPr>
        <p:spPr>
          <a:xfrm xmlns:a="http://schemas.openxmlformats.org/drawingml/2006/main">
            <a:off x="6053138" y="3257550"/>
            <a:ext cx="0" cy="78105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5" name="">
            <a:extLst xmlns:a="http://schemas.openxmlformats.org/drawingml/2006/main">
              <a:ext uri="{FF2B5EF4-FFF2-40B4-BE49-F238E27FC236}">
                <a16:creationId xmlns:a16="http://schemas.microsoft.com/office/drawing/2014/main" id="{2ABAAC82-39D1-47A5-8D7A-8017588D9A28}"/>
              </a:ext>
            </a:extLst>
          </p:cNvPr>
          <p:cNvCxnSpPr>
            <a:stCxn xmlns:a="http://schemas.openxmlformats.org/drawingml/2006/main" id="8" idx="3"/>
            <a:endCxn xmlns:a="http://schemas.openxmlformats.org/drawingml/2006/main" id="11" idx="1"/>
          </p:cNvCxnSpPr>
          <p:nvPr/>
        </p:nvCxnSpPr>
        <p:spPr>
          <a:xfrm xmlns:a="http://schemas.openxmlformats.org/drawingml/2006/main">
            <a:off x="7696200" y="26336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4" name="">
            <a:extLst xmlns:a="http://schemas.openxmlformats.org/drawingml/2006/main">
              <a:ext uri="{FF2B5EF4-FFF2-40B4-BE49-F238E27FC236}">
                <a16:creationId xmlns:a16="http://schemas.microsoft.com/office/drawing/2014/main" id="{63FC2B2D-5B29-4A4D-B928-E134488FD69E}"/>
              </a:ext>
            </a:extLst>
          </p:cNvPr>
          <p:cNvCxnSpPr>
            <a:stCxn xmlns:a="http://schemas.openxmlformats.org/drawingml/2006/main" id="5" idx="3"/>
            <a:endCxn xmlns:a="http://schemas.openxmlformats.org/drawingml/2006/main" id="8" idx="1"/>
          </p:cNvCxnSpPr>
          <p:nvPr/>
        </p:nvCxnSpPr>
        <p:spPr>
          <a:xfrm xmlns:a="http://schemas.openxmlformats.org/drawingml/2006/main">
            <a:off x="3838575" y="2633663"/>
            <a:ext cx="571500" cy="0"/>
          </a:xfrm>
          <a:prstGeom xmlns:a="http://schemas.openxmlformats.org/drawingml/2006/main" prst="straightConnector1">
            <a:avLst/>
          </a:prstGeom>
          <a:ln xmlns:a="http://schemas.openxmlformats.org/drawingml/2006/main" w="19050">
            <a:solidFill>
              <a:srgbClr val="77D6DD"/>
            </a:solidFill>
            <a:tailEnd type="triangle" w="med" len="med"/>
          </a:ln>
        </p:spPr>
      </p:cxnSp>
      <p:sp>
        <p:nvSpPr>
          <p:cNvPr id="27" name="ARCHITECTURE AND DATA FLOW">
            <a:extLst xmlns:a="http://schemas.openxmlformats.org/drawingml/2006/main">
              <a:ext uri="{FF2B5EF4-FFF2-40B4-BE49-F238E27FC236}">
                <a16:creationId xmlns:a16="http://schemas.microsoft.com/office/drawing/2014/main" id="{C4ABC656-6BBE-458C-BCBB-9F96C1B385C3}"/>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ARCHITECTURE AND DATA FLOW</a:t>
            </a:r>
          </a:p>
        </p:txBody>
      </p:sp>
      <p:sp>
        <p:nvSpPr>
          <p:cNvPr id="2" name="How the code connects">
            <a:extLst xmlns:a="http://schemas.openxmlformats.org/drawingml/2006/main">
              <a:ext uri="{FF2B5EF4-FFF2-40B4-BE49-F238E27FC236}">
                <a16:creationId xmlns:a16="http://schemas.microsoft.com/office/drawing/2014/main" id="{8FD22CAB-DBA9-4A0F-9849-87446ABA76B4}"/>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How the code connects</a:t>
            </a:r>
          </a:p>
        </p:txBody>
      </p:sp>
      <p:sp>
        <p:nvSpPr>
          <p:cNvPr id="3" name="RoadScan / AIEP capstone">
            <a:extLst xmlns:a="http://schemas.openxmlformats.org/drawingml/2006/main">
              <a:ext uri="{FF2B5EF4-FFF2-40B4-BE49-F238E27FC236}">
                <a16:creationId xmlns:a16="http://schemas.microsoft.com/office/drawing/2014/main" id="{58D8D063-F386-4879-8126-2DB7190AA4B2}"/>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2">
            <a:extLst xmlns:a="http://schemas.openxmlformats.org/drawingml/2006/main">
              <a:ext uri="{FF2B5EF4-FFF2-40B4-BE49-F238E27FC236}">
                <a16:creationId xmlns:a16="http://schemas.microsoft.com/office/drawing/2014/main" id="{832ECC0C-51A1-4C3D-A531-AADCD34CC02C}"/>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A003C847-81AC-43C1-9C65-686D359A3B0C}"/>
              </a:ext>
            </a:extLst>
          </p:cNvPr>
          <p:cNvSpPr>
            <a:spLocks xmlns:a="http://schemas.openxmlformats.org/drawingml/2006/main" noGrp="1"/>
          </p:cNvSpPr>
          <p:nvPr/>
        </p:nvSpPr>
        <p:spPr>
          <a:xfrm xmlns:a="http://schemas.openxmlformats.org/drawingml/2006/main">
            <a:off x="552450" y="2009775"/>
            <a:ext cx="3286125"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6" name="Browser">
            <a:extLst xmlns:a="http://schemas.openxmlformats.org/drawingml/2006/main">
              <a:ext uri="{FF2B5EF4-FFF2-40B4-BE49-F238E27FC236}">
                <a16:creationId xmlns:a16="http://schemas.microsoft.com/office/drawing/2014/main" id="{D090FDB5-2CFB-4EDF-8EBF-DC1988913EA6}"/>
              </a:ext>
            </a:extLst>
          </p:cNvPr>
          <p:cNvSpPr>
            <a:spLocks xmlns:a="http://schemas.openxmlformats.org/drawingml/2006/main" noGrp="1"/>
          </p:cNvSpPr>
          <p:nvPr/>
        </p:nvSpPr>
        <p:spPr>
          <a:xfrm xmlns:a="http://schemas.openxmlformats.org/drawingml/2006/main">
            <a:off x="723900" y="2171700"/>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Browser</a:t>
            </a:r>
          </a:p>
        </p:txBody>
      </p:sp>
      <p:sp>
        <p:nvSpPr>
          <p:cNvPr id="7" name="React + TypeScript&#10;App.tsx / LiveRecognition.tsx">
            <a:extLst xmlns:a="http://schemas.openxmlformats.org/drawingml/2006/main">
              <a:ext uri="{FF2B5EF4-FFF2-40B4-BE49-F238E27FC236}">
                <a16:creationId xmlns:a16="http://schemas.microsoft.com/office/drawing/2014/main" id="{44861BDC-EDDF-49B0-8730-6A3E4A19DEFF}"/>
              </a:ext>
            </a:extLst>
          </p:cNvPr>
          <p:cNvSpPr>
            <a:spLocks xmlns:a="http://schemas.openxmlformats.org/drawingml/2006/main" noGrp="1"/>
          </p:cNvSpPr>
          <p:nvPr/>
        </p:nvSpPr>
        <p:spPr>
          <a:xfrm xmlns:a="http://schemas.openxmlformats.org/drawingml/2006/main">
            <a:off x="723900" y="2581275"/>
            <a:ext cx="29432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React + TypeScript</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App.tsx / LiveRecognition.tsx</a:t>
            </a:r>
          </a:p>
        </p:txBody>
      </p:sp>
      <p:sp>
        <p:nvSpPr>
          <p:cNvPr id="8" name="">
            <a:extLst xmlns:a="http://schemas.openxmlformats.org/drawingml/2006/main">
              <a:ext uri="{FF2B5EF4-FFF2-40B4-BE49-F238E27FC236}">
                <a16:creationId xmlns:a16="http://schemas.microsoft.com/office/drawing/2014/main" id="{4C376EFC-A059-415F-90E4-97B811B911FD}"/>
              </a:ext>
            </a:extLst>
          </p:cNvPr>
          <p:cNvSpPr>
            <a:spLocks xmlns:a="http://schemas.openxmlformats.org/drawingml/2006/main" noGrp="1"/>
          </p:cNvSpPr>
          <p:nvPr/>
        </p:nvSpPr>
        <p:spPr>
          <a:xfrm xmlns:a="http://schemas.openxmlformats.org/drawingml/2006/main">
            <a:off x="4410075" y="2009775"/>
            <a:ext cx="3286125"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9" name="Request boundary">
            <a:extLst xmlns:a="http://schemas.openxmlformats.org/drawingml/2006/main">
              <a:ext uri="{FF2B5EF4-FFF2-40B4-BE49-F238E27FC236}">
                <a16:creationId xmlns:a16="http://schemas.microsoft.com/office/drawing/2014/main" id="{641A95E3-430C-4761-8753-DBFAE7F8DEFE}"/>
              </a:ext>
            </a:extLst>
          </p:cNvPr>
          <p:cNvSpPr>
            <a:spLocks xmlns:a="http://schemas.openxmlformats.org/drawingml/2006/main" noGrp="1"/>
          </p:cNvSpPr>
          <p:nvPr/>
        </p:nvSpPr>
        <p:spPr>
          <a:xfrm xmlns:a="http://schemas.openxmlformats.org/drawingml/2006/main">
            <a:off x="4581525" y="2171700"/>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Request boundary</a:t>
            </a:r>
          </a:p>
        </p:txBody>
      </p:sp>
      <p:sp>
        <p:nvSpPr>
          <p:cNvPr id="10" name="FastAPI / api.py&#10;Input validation + access checks">
            <a:extLst xmlns:a="http://schemas.openxmlformats.org/drawingml/2006/main">
              <a:ext uri="{FF2B5EF4-FFF2-40B4-BE49-F238E27FC236}">
                <a16:creationId xmlns:a16="http://schemas.microsoft.com/office/drawing/2014/main" id="{36517471-E609-413B-BCD9-FC2E041CDAD8}"/>
              </a:ext>
            </a:extLst>
          </p:cNvPr>
          <p:cNvSpPr>
            <a:spLocks xmlns:a="http://schemas.openxmlformats.org/drawingml/2006/main" noGrp="1"/>
          </p:cNvSpPr>
          <p:nvPr/>
        </p:nvSpPr>
        <p:spPr>
          <a:xfrm xmlns:a="http://schemas.openxmlformats.org/drawingml/2006/main">
            <a:off x="4581525" y="2581275"/>
            <a:ext cx="2943225"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FastAPI / api.py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Input validation + access checks</a:t>
            </a:r>
          </a:p>
        </p:txBody>
      </p:sp>
      <p:sp>
        <p:nvSpPr>
          <p:cNvPr id="11" name="">
            <a:extLst xmlns:a="http://schemas.openxmlformats.org/drawingml/2006/main">
              <a:ext uri="{FF2B5EF4-FFF2-40B4-BE49-F238E27FC236}">
                <a16:creationId xmlns:a16="http://schemas.microsoft.com/office/drawing/2014/main" id="{C70F7B09-BFFF-4E66-B8D1-DBCE514D2E70}"/>
              </a:ext>
            </a:extLst>
          </p:cNvPr>
          <p:cNvSpPr>
            <a:spLocks xmlns:a="http://schemas.openxmlformats.org/drawingml/2006/main" noGrp="1"/>
          </p:cNvSpPr>
          <p:nvPr/>
        </p:nvSpPr>
        <p:spPr>
          <a:xfrm xmlns:a="http://schemas.openxmlformats.org/drawingml/2006/main">
            <a:off x="8267700" y="2009775"/>
            <a:ext cx="3371850" cy="124777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2" name="Local inference">
            <a:extLst xmlns:a="http://schemas.openxmlformats.org/drawingml/2006/main">
              <a:ext uri="{FF2B5EF4-FFF2-40B4-BE49-F238E27FC236}">
                <a16:creationId xmlns:a16="http://schemas.microsoft.com/office/drawing/2014/main" id="{63B46537-D371-4C3B-8AD4-EBCE130B5DF7}"/>
              </a:ext>
            </a:extLst>
          </p:cNvPr>
          <p:cNvSpPr>
            <a:spLocks xmlns:a="http://schemas.openxmlformats.org/drawingml/2006/main" noGrp="1"/>
          </p:cNvSpPr>
          <p:nvPr/>
        </p:nvSpPr>
        <p:spPr>
          <a:xfrm xmlns:a="http://schemas.openxmlformats.org/drawingml/2006/main">
            <a:off x="8439150" y="21717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Local inference</a:t>
            </a:r>
          </a:p>
        </p:txBody>
      </p:sp>
      <p:sp>
        <p:nvSpPr>
          <p:cNvPr id="13" name="model_library.py / inference.py&#10;Selected checkpoin">
            <a:extLst xmlns:a="http://schemas.openxmlformats.org/drawingml/2006/main">
              <a:ext uri="{FF2B5EF4-FFF2-40B4-BE49-F238E27FC236}">
                <a16:creationId xmlns:a16="http://schemas.microsoft.com/office/drawing/2014/main" id="{F3345094-FFFE-402C-AF01-3B7E581DD188}"/>
              </a:ext>
            </a:extLst>
          </p:cNvPr>
          <p:cNvSpPr>
            <a:spLocks xmlns:a="http://schemas.openxmlformats.org/drawingml/2006/main" noGrp="1"/>
          </p:cNvSpPr>
          <p:nvPr/>
        </p:nvSpPr>
        <p:spPr>
          <a:xfrm xmlns:a="http://schemas.openxmlformats.org/drawingml/2006/main">
            <a:off x="8439150" y="2581275"/>
            <a:ext cx="3028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model_library.py / inference.py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Selected checkpoint + boxes</a:t>
            </a:r>
          </a:p>
        </p:txBody>
      </p:sp>
      <p:sp>
        <p:nvSpPr>
          <p:cNvPr id="16" name="">
            <a:extLst xmlns:a="http://schemas.openxmlformats.org/drawingml/2006/main">
              <a:ext uri="{FF2B5EF4-FFF2-40B4-BE49-F238E27FC236}">
                <a16:creationId xmlns:a16="http://schemas.microsoft.com/office/drawing/2014/main" id="{7E33BA50-D5AF-4248-A44B-2594AB12EDB4}"/>
              </a:ext>
            </a:extLst>
          </p:cNvPr>
          <p:cNvSpPr>
            <a:spLocks xmlns:a="http://schemas.openxmlformats.org/drawingml/2006/main" noGrp="1"/>
          </p:cNvSpPr>
          <p:nvPr/>
        </p:nvSpPr>
        <p:spPr>
          <a:xfrm xmlns:a="http://schemas.openxmlformats.org/drawingml/2006/main">
            <a:off x="4410075" y="4038600"/>
            <a:ext cx="3286125" cy="138112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7" name="Saved report + review">
            <a:extLst xmlns:a="http://schemas.openxmlformats.org/drawingml/2006/main">
              <a:ext uri="{FF2B5EF4-FFF2-40B4-BE49-F238E27FC236}">
                <a16:creationId xmlns:a16="http://schemas.microsoft.com/office/drawing/2014/main" id="{896837DD-1747-4951-A9A0-E73434A8E220}"/>
              </a:ext>
            </a:extLst>
          </p:cNvPr>
          <p:cNvSpPr>
            <a:spLocks xmlns:a="http://schemas.openxmlformats.org/drawingml/2006/main" noGrp="1"/>
          </p:cNvSpPr>
          <p:nvPr/>
        </p:nvSpPr>
        <p:spPr>
          <a:xfrm xmlns:a="http://schemas.openxmlformats.org/drawingml/2006/main">
            <a:off x="4581525" y="4200525"/>
            <a:ext cx="29432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Saved report + review</a:t>
            </a:r>
          </a:p>
        </p:txBody>
      </p:sp>
      <p:sp>
        <p:nvSpPr>
          <p:cNvPr id="18" name="core.py / review.py / workflow.py&#10;SQLite, image fi">
            <a:extLst xmlns:a="http://schemas.openxmlformats.org/drawingml/2006/main">
              <a:ext uri="{FF2B5EF4-FFF2-40B4-BE49-F238E27FC236}">
                <a16:creationId xmlns:a16="http://schemas.microsoft.com/office/drawing/2014/main" id="{45CC98E7-F409-4168-81A1-3CC14C34599A}"/>
              </a:ext>
            </a:extLst>
          </p:cNvPr>
          <p:cNvSpPr>
            <a:spLocks xmlns:a="http://schemas.openxmlformats.org/drawingml/2006/main" noGrp="1"/>
          </p:cNvSpPr>
          <p:nvPr/>
        </p:nvSpPr>
        <p:spPr>
          <a:xfrm xmlns:a="http://schemas.openxmlformats.org/drawingml/2006/main">
            <a:off x="4581525" y="4610100"/>
            <a:ext cx="29432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core.py / review.py / workflow.py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SQLite, image files, audit history</a:t>
            </a:r>
          </a:p>
        </p:txBody>
      </p:sp>
      <p:sp>
        <p:nvSpPr>
          <p:cNvPr id="19" name="">
            <a:extLst xmlns:a="http://schemas.openxmlformats.org/drawingml/2006/main">
              <a:ext uri="{FF2B5EF4-FFF2-40B4-BE49-F238E27FC236}">
                <a16:creationId xmlns:a16="http://schemas.microsoft.com/office/drawing/2014/main" id="{0F687E40-0C69-46CC-8770-6B4EDCA433A5}"/>
              </a:ext>
            </a:extLst>
          </p:cNvPr>
          <p:cNvSpPr>
            <a:spLocks xmlns:a="http://schemas.openxmlformats.org/drawingml/2006/main" noGrp="1"/>
          </p:cNvSpPr>
          <p:nvPr/>
        </p:nvSpPr>
        <p:spPr>
          <a:xfrm xmlns:a="http://schemas.openxmlformats.org/drawingml/2006/main">
            <a:off x="8267700" y="4038600"/>
            <a:ext cx="3371850" cy="1381125"/>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0" name="Approved export">
            <a:extLst xmlns:a="http://schemas.openxmlformats.org/drawingml/2006/main">
              <a:ext uri="{FF2B5EF4-FFF2-40B4-BE49-F238E27FC236}">
                <a16:creationId xmlns:a16="http://schemas.microsoft.com/office/drawing/2014/main" id="{68D9041D-6761-4489-983D-8D6C4415F2AF}"/>
              </a:ext>
            </a:extLst>
          </p:cNvPr>
          <p:cNvSpPr>
            <a:spLocks xmlns:a="http://schemas.openxmlformats.org/drawingml/2006/main" noGrp="1"/>
          </p:cNvSpPr>
          <p:nvPr/>
        </p:nvSpPr>
        <p:spPr>
          <a:xfrm xmlns:a="http://schemas.openxmlformats.org/drawingml/2006/main">
            <a:off x="8439150" y="4200525"/>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Approved export</a:t>
            </a:r>
          </a:p>
        </p:txBody>
      </p:sp>
      <p:sp>
        <p:nvSpPr>
          <p:cNvPr id="21" name="training_data.py&#10;Images, labels, splits, provenanc">
            <a:extLst xmlns:a="http://schemas.openxmlformats.org/drawingml/2006/main">
              <a:ext uri="{FF2B5EF4-FFF2-40B4-BE49-F238E27FC236}">
                <a16:creationId xmlns:a16="http://schemas.microsoft.com/office/drawing/2014/main" id="{1FC9D0CA-1770-4702-96F7-B71A4296EB35}"/>
              </a:ext>
            </a:extLst>
          </p:cNvPr>
          <p:cNvSpPr>
            <a:spLocks xmlns:a="http://schemas.openxmlformats.org/drawingml/2006/main" noGrp="1"/>
          </p:cNvSpPr>
          <p:nvPr/>
        </p:nvSpPr>
        <p:spPr>
          <a:xfrm xmlns:a="http://schemas.openxmlformats.org/drawingml/2006/main">
            <a:off x="8439150" y="4610100"/>
            <a:ext cx="30289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training_data.py</a:t>
            </a:r>
          </a:p>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Images, labels, splits, provenance</a:t>
            </a:r>
          </a:p>
        </p:txBody>
      </p:sp>
      <p:sp>
        <p:nvSpPr>
          <p:cNvPr id="24" name="Temporary frames">
            <a:extLst xmlns:a="http://schemas.openxmlformats.org/drawingml/2006/main">
              <a:ext uri="{FF2B5EF4-FFF2-40B4-BE49-F238E27FC236}">
                <a16:creationId xmlns:a16="http://schemas.microsoft.com/office/drawing/2014/main" id="{7CF9674E-CBBB-48C4-ABA5-C83F5A7F14D7}"/>
              </a:ext>
            </a:extLst>
          </p:cNvPr>
          <p:cNvSpPr>
            <a:spLocks xmlns:a="http://schemas.openxmlformats.org/drawingml/2006/main" noGrp="1"/>
          </p:cNvSpPr>
          <p:nvPr/>
        </p:nvSpPr>
        <p:spPr>
          <a:xfrm xmlns:a="http://schemas.openxmlformats.org/drawingml/2006/main">
            <a:off x="552450" y="4086225"/>
            <a:ext cx="3286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77D6DD"/>
                </a:solidFill>
                <a:latin typeface="Arial"/>
                <a:ea typeface="Arial"/>
                <a:cs typeface="Arial"/>
              </a:defRPr>
            </a:defPPr>
            <a:lvl1pPr>
              <a:defRPr sz="2175" b="1">
                <a:solidFill>
                  <a:srgbClr val="77D6DD"/>
                </a:solidFill>
                <a:latin typeface="Arial"/>
                <a:ea typeface="Arial"/>
                <a:cs typeface="Arial"/>
              </a:defRPr>
            </a:lvl1pPr>
            <a:lvl2pPr>
              <a:defRPr sz="2175" b="1">
                <a:solidFill>
                  <a:srgbClr val="77D6DD"/>
                </a:solidFill>
                <a:latin typeface="Arial"/>
                <a:ea typeface="Arial"/>
                <a:cs typeface="Arial"/>
              </a:defRPr>
            </a:lvl2pPr>
            <a:lvl3pPr>
              <a:defRPr sz="2175" b="1">
                <a:solidFill>
                  <a:srgbClr val="77D6DD"/>
                </a:solidFill>
                <a:latin typeface="Arial"/>
                <a:ea typeface="Arial"/>
                <a:cs typeface="Arial"/>
              </a:defRPr>
            </a:lvl3pPr>
            <a:lvl4pPr>
              <a:defRPr sz="2175" b="1">
                <a:solidFill>
                  <a:srgbClr val="77D6DD"/>
                </a:solidFill>
                <a:latin typeface="Arial"/>
                <a:ea typeface="Arial"/>
                <a:cs typeface="Arial"/>
              </a:defRPr>
            </a:lvl4pPr>
            <a:lvl5pPr>
              <a:defRPr sz="2175" b="1">
                <a:solidFill>
                  <a:srgbClr val="77D6DD"/>
                </a:solidFill>
                <a:latin typeface="Arial"/>
                <a:ea typeface="Arial"/>
                <a:cs typeface="Arial"/>
              </a:defRPr>
            </a:lvl5pPr>
            <a:lvl6pPr>
              <a:defRPr sz="2175" b="1">
                <a:solidFill>
                  <a:srgbClr val="77D6DD"/>
                </a:solidFill>
                <a:latin typeface="Arial"/>
                <a:ea typeface="Arial"/>
                <a:cs typeface="Arial"/>
              </a:defRPr>
            </a:lvl6pPr>
            <a:lvl7pPr>
              <a:defRPr sz="2175" b="1">
                <a:solidFill>
                  <a:srgbClr val="77D6DD"/>
                </a:solidFill>
                <a:latin typeface="Arial"/>
                <a:ea typeface="Arial"/>
                <a:cs typeface="Arial"/>
              </a:defRPr>
            </a:lvl7pPr>
            <a:lvl8pPr>
              <a:defRPr sz="2175" b="1">
                <a:solidFill>
                  <a:srgbClr val="77D6DD"/>
                </a:solidFill>
                <a:latin typeface="Arial"/>
                <a:ea typeface="Arial"/>
                <a:cs typeface="Arial"/>
              </a:defRPr>
            </a:lvl8pPr>
            <a:lvl9pPr>
              <a:defRPr sz="2175" b="1">
                <a:solidFill>
                  <a:srgbClr val="77D6DD"/>
                </a:solidFill>
                <a:latin typeface="Arial"/>
                <a:ea typeface="Arial"/>
                <a:cs typeface="Arial"/>
              </a:defRPr>
            </a:lvl9pPr>
          </a:lstStyle>
          <a:p xmlns:a="http://schemas.openxmlformats.org/drawingml/2006/main">
            <a:pPr>
              <a:defRPr sz="2175" b="1">
                <a:solidFill>
                  <a:srgbClr val="77D6DD"/>
                </a:solidFill>
                <a:latin typeface="Arial"/>
                <a:ea typeface="Arial"/>
                <a:cs typeface="Arial"/>
              </a:defRPr>
            </a:pPr>
            <a:r>
              <a:rPr sz="2175" b="1">
                <a:solidFill>
                  <a:srgbClr val="77D6DD"/>
                </a:solidFill>
                <a:latin typeface="Arial"/>
                <a:ea typeface="Arial"/>
                <a:cs typeface="Arial"/>
              </a:rPr>
              <a:t>Temporary frames</a:t>
            </a:r>
          </a:p>
        </p:txBody>
      </p:sp>
      <p:sp>
        <p:nvSpPr>
          <p:cNvPr id="25" name="/api/recognize&#10;persisted: false&#10;Save a frame expli">
            <a:extLst xmlns:a="http://schemas.openxmlformats.org/drawingml/2006/main">
              <a:ext uri="{FF2B5EF4-FFF2-40B4-BE49-F238E27FC236}">
                <a16:creationId xmlns:a16="http://schemas.microsoft.com/office/drawing/2014/main" id="{EB3945AC-31C3-42E7-B8E0-7C4E3102CC9A}"/>
              </a:ext>
            </a:extLst>
          </p:cNvPr>
          <p:cNvSpPr>
            <a:spLocks xmlns:a="http://schemas.openxmlformats.org/drawingml/2006/main" noGrp="1"/>
          </p:cNvSpPr>
          <p:nvPr/>
        </p:nvSpPr>
        <p:spPr>
          <a:xfrm xmlns:a="http://schemas.openxmlformats.org/drawingml/2006/main">
            <a:off x="552450" y="4533900"/>
            <a:ext cx="32861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5BDC6"/>
                </a:solidFill>
                <a:latin typeface="Arial"/>
                <a:ea typeface="Arial"/>
                <a:cs typeface="Arial"/>
              </a:defRPr>
            </a:defPPr>
            <a:lvl1pPr>
              <a:defRPr sz="1650" b="0">
                <a:solidFill>
                  <a:srgbClr val="A5BDC6"/>
                </a:solidFill>
                <a:latin typeface="Arial"/>
                <a:ea typeface="Arial"/>
                <a:cs typeface="Arial"/>
              </a:defRPr>
            </a:lvl1pPr>
            <a:lvl2pPr>
              <a:defRPr sz="1650" b="0">
                <a:solidFill>
                  <a:srgbClr val="A5BDC6"/>
                </a:solidFill>
                <a:latin typeface="Arial"/>
                <a:ea typeface="Arial"/>
                <a:cs typeface="Arial"/>
              </a:defRPr>
            </a:lvl2pPr>
            <a:lvl3pPr>
              <a:defRPr sz="1650" b="0">
                <a:solidFill>
                  <a:srgbClr val="A5BDC6"/>
                </a:solidFill>
                <a:latin typeface="Arial"/>
                <a:ea typeface="Arial"/>
                <a:cs typeface="Arial"/>
              </a:defRPr>
            </a:lvl3pPr>
            <a:lvl4pPr>
              <a:defRPr sz="1650" b="0">
                <a:solidFill>
                  <a:srgbClr val="A5BDC6"/>
                </a:solidFill>
                <a:latin typeface="Arial"/>
                <a:ea typeface="Arial"/>
                <a:cs typeface="Arial"/>
              </a:defRPr>
            </a:lvl4pPr>
            <a:lvl5pPr>
              <a:defRPr sz="1650" b="0">
                <a:solidFill>
                  <a:srgbClr val="A5BDC6"/>
                </a:solidFill>
                <a:latin typeface="Arial"/>
                <a:ea typeface="Arial"/>
                <a:cs typeface="Arial"/>
              </a:defRPr>
            </a:lvl5pPr>
            <a:lvl6pPr>
              <a:defRPr sz="1650" b="0">
                <a:solidFill>
                  <a:srgbClr val="A5BDC6"/>
                </a:solidFill>
                <a:latin typeface="Arial"/>
                <a:ea typeface="Arial"/>
                <a:cs typeface="Arial"/>
              </a:defRPr>
            </a:lvl6pPr>
            <a:lvl7pPr>
              <a:defRPr sz="1650" b="0">
                <a:solidFill>
                  <a:srgbClr val="A5BDC6"/>
                </a:solidFill>
                <a:latin typeface="Arial"/>
                <a:ea typeface="Arial"/>
                <a:cs typeface="Arial"/>
              </a:defRPr>
            </a:lvl7pPr>
            <a:lvl8pPr>
              <a:defRPr sz="1650" b="0">
                <a:solidFill>
                  <a:srgbClr val="A5BDC6"/>
                </a:solidFill>
                <a:latin typeface="Arial"/>
                <a:ea typeface="Arial"/>
                <a:cs typeface="Arial"/>
              </a:defRPr>
            </a:lvl8pPr>
            <a:lvl9pPr>
              <a:defRPr sz="1650" b="0">
                <a:solidFill>
                  <a:srgbClr val="A5BDC6"/>
                </a:solidFill>
                <a:latin typeface="Arial"/>
                <a:ea typeface="Arial"/>
                <a:cs typeface="Arial"/>
              </a:defRPr>
            </a:lvl9pPr>
          </a:lstStyle>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/api/recognize</a:t>
            </a:r>
          </a:p>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persisted: false</a:t>
            </a:r>
          </a:p>
          <a:p xmlns:a="http://schemas.openxmlformats.org/drawingml/2006/main">
            <a:pPr>
              <a:defRPr sz="1650" b="0">
                <a:solidFill>
                  <a:srgbClr val="A5BDC6"/>
                </a:solidFill>
                <a:latin typeface="Arial"/>
                <a:ea typeface="Arial"/>
                <a:cs typeface="Arial"/>
              </a:defRPr>
            </a:pPr>
            <a:r>
              <a:rPr sz="1650" b="0">
                <a:solidFill>
                  <a:srgbClr val="A5BDC6"/>
                </a:solidFill>
                <a:latin typeface="Arial"/>
                <a:ea typeface="Arial"/>
                <a:cs typeface="Arial"/>
              </a:rPr>
              <a:t>Save a frame explicitly to report it.</a:t>
            </a:r>
          </a:p>
        </p:txBody>
      </p:sp>
      <p:sp>
        <p:nvSpPr>
          <p:cNvPr id="26" name="Model prediction stays separate from the reviewer’">
            <a:extLst xmlns:a="http://schemas.openxmlformats.org/drawingml/2006/main">
              <a:ext uri="{FF2B5EF4-FFF2-40B4-BE49-F238E27FC236}">
                <a16:creationId xmlns:a16="http://schemas.microsoft.com/office/drawing/2014/main" id="{1B04FBDB-4329-4CE3-9CE9-87DB0166190D}"/>
              </a:ext>
            </a:extLst>
          </p:cNvPr>
          <p:cNvSpPr>
            <a:spLocks xmlns:a="http://schemas.openxmlformats.org/drawingml/2006/main" noGrp="1"/>
          </p:cNvSpPr>
          <p:nvPr/>
        </p:nvSpPr>
        <p:spPr>
          <a:xfrm xmlns:a="http://schemas.openxmlformats.org/drawingml/2006/main">
            <a:off x="552450" y="5829300"/>
            <a:ext cx="1095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DCFA6B"/>
                </a:solidFill>
                <a:latin typeface="Arial"/>
                <a:ea typeface="Arial"/>
                <a:cs typeface="Arial"/>
              </a:defRPr>
            </a:defPPr>
            <a:lvl1pPr>
              <a:defRPr sz="1950" b="1">
                <a:solidFill>
                  <a:srgbClr val="DCFA6B"/>
                </a:solidFill>
                <a:latin typeface="Arial"/>
                <a:ea typeface="Arial"/>
                <a:cs typeface="Arial"/>
              </a:defRPr>
            </a:lvl1pPr>
            <a:lvl2pPr>
              <a:defRPr sz="1950" b="1">
                <a:solidFill>
                  <a:srgbClr val="DCFA6B"/>
                </a:solidFill>
                <a:latin typeface="Arial"/>
                <a:ea typeface="Arial"/>
                <a:cs typeface="Arial"/>
              </a:defRPr>
            </a:lvl2pPr>
            <a:lvl3pPr>
              <a:defRPr sz="1950" b="1">
                <a:solidFill>
                  <a:srgbClr val="DCFA6B"/>
                </a:solidFill>
                <a:latin typeface="Arial"/>
                <a:ea typeface="Arial"/>
                <a:cs typeface="Arial"/>
              </a:defRPr>
            </a:lvl3pPr>
            <a:lvl4pPr>
              <a:defRPr sz="1950" b="1">
                <a:solidFill>
                  <a:srgbClr val="DCFA6B"/>
                </a:solidFill>
                <a:latin typeface="Arial"/>
                <a:ea typeface="Arial"/>
                <a:cs typeface="Arial"/>
              </a:defRPr>
            </a:lvl4pPr>
            <a:lvl5pPr>
              <a:defRPr sz="1950" b="1">
                <a:solidFill>
                  <a:srgbClr val="DCFA6B"/>
                </a:solidFill>
                <a:latin typeface="Arial"/>
                <a:ea typeface="Arial"/>
                <a:cs typeface="Arial"/>
              </a:defRPr>
            </a:lvl5pPr>
            <a:lvl6pPr>
              <a:defRPr sz="1950" b="1">
                <a:solidFill>
                  <a:srgbClr val="DCFA6B"/>
                </a:solidFill>
                <a:latin typeface="Arial"/>
                <a:ea typeface="Arial"/>
                <a:cs typeface="Arial"/>
              </a:defRPr>
            </a:lvl6pPr>
            <a:lvl7pPr>
              <a:defRPr sz="1950" b="1">
                <a:solidFill>
                  <a:srgbClr val="DCFA6B"/>
                </a:solidFill>
                <a:latin typeface="Arial"/>
                <a:ea typeface="Arial"/>
                <a:cs typeface="Arial"/>
              </a:defRPr>
            </a:lvl7pPr>
            <a:lvl8pPr>
              <a:defRPr sz="1950" b="1">
                <a:solidFill>
                  <a:srgbClr val="DCFA6B"/>
                </a:solidFill>
                <a:latin typeface="Arial"/>
                <a:ea typeface="Arial"/>
                <a:cs typeface="Arial"/>
              </a:defRPr>
            </a:lvl8pPr>
            <a:lvl9pPr>
              <a:defRPr sz="1950" b="1">
                <a:solidFill>
                  <a:srgbClr val="DCFA6B"/>
                </a:solidFill>
                <a:latin typeface="Arial"/>
                <a:ea typeface="Arial"/>
                <a:cs typeface="Arial"/>
              </a:defRPr>
            </a:lvl9pPr>
          </a:lstStyle>
          <a:p xmlns:a="http://schemas.openxmlformats.org/drawingml/2006/main">
            <a:pPr>
              <a:defRPr sz="1950" b="1">
                <a:solidFill>
                  <a:srgbClr val="DCFA6B"/>
                </a:solidFill>
                <a:latin typeface="Arial"/>
                <a:ea typeface="Arial"/>
                <a:cs typeface="Arial"/>
              </a:defRPr>
            </a:pPr>
            <a:r>
              <a:rPr sz="1950" b="1">
                <a:solidFill>
                  <a:srgbClr val="DCFA6B"/>
                </a:solidFill>
                <a:latin typeface="Arial"/>
                <a:ea typeface="Arial"/>
                <a:cs typeface="Arial"/>
              </a:rPr>
              <a:t>Model prediction stays separate from the reviewer’s final decision.</a:t>
            </a:r>
          </a:p>
        </p:txBody>
      </p:sp>
    </p:spTree>
    <p:extLst>
      <p:ext uri="{BB962C8B-B14F-4D97-AF65-F5344CB8AC3E}">
        <p14:creationId xmlns:p14="http://schemas.microsoft.com/office/powerpoint/2010/main" val="2015894761"/>
      </p:ext>
    </p:extLst>
  </p:cSld>
</p:sld>
</file>

<file path=ppt/slides/slide3.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2" name="REVIEW AND MODEL COMPARISON">
            <a:extLst xmlns:a="http://schemas.openxmlformats.org/drawingml/2006/main">
              <a:ext uri="{FF2B5EF4-FFF2-40B4-BE49-F238E27FC236}">
                <a16:creationId xmlns:a16="http://schemas.microsoft.com/office/drawing/2014/main" id="{8C013C40-EBA3-4F54-BB89-B5D7D676A7D6}"/>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REVIEW AND MODEL COMPARISON</a:t>
            </a:r>
          </a:p>
        </p:txBody>
      </p:sp>
      <p:sp>
        <p:nvSpPr>
          <p:cNvPr id="2" name="A person makes the final call">
            <a:extLst xmlns:a="http://schemas.openxmlformats.org/drawingml/2006/main">
              <a:ext uri="{FF2B5EF4-FFF2-40B4-BE49-F238E27FC236}">
                <a16:creationId xmlns:a16="http://schemas.microsoft.com/office/drawing/2014/main" id="{CE49C609-6F3E-4A3D-A76D-64E272EA7741}"/>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person makes the final call</a:t>
            </a:r>
          </a:p>
        </p:txBody>
      </p:sp>
      <p:sp>
        <p:nvSpPr>
          <p:cNvPr id="3" name="RoadScan / AIEP capstone">
            <a:extLst xmlns:a="http://schemas.openxmlformats.org/drawingml/2006/main">
              <a:ext uri="{FF2B5EF4-FFF2-40B4-BE49-F238E27FC236}">
                <a16:creationId xmlns:a16="http://schemas.microsoft.com/office/drawing/2014/main" id="{E8B1A0E9-23EE-42FF-B02A-02261069D455}"/>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3">
            <a:extLst xmlns:a="http://schemas.openxmlformats.org/drawingml/2006/main">
              <a:ext uri="{FF2B5EF4-FFF2-40B4-BE49-F238E27FC236}">
                <a16:creationId xmlns:a16="http://schemas.microsoft.com/office/drawing/2014/main" id="{5A2D78FC-BF35-4CC6-B545-43F1A6C3A990}"/>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03</a:t>
            </a:r>
          </a:p>
        </p:txBody>
      </p:sp>
      <p:sp>
        <p:nvSpPr>
          <p:cNvPr id="5" name="01  Inspect the boxes">
            <a:extLst xmlns:a="http://schemas.openxmlformats.org/drawingml/2006/main">
              <a:ext uri="{FF2B5EF4-FFF2-40B4-BE49-F238E27FC236}">
                <a16:creationId xmlns:a16="http://schemas.microsoft.com/office/drawing/2014/main" id="{9E6D8C61-2199-4D3A-BA18-4C8619A22F66}"/>
              </a:ext>
            </a:extLst>
          </p:cNvPr>
          <p:cNvSpPr>
            <a:spLocks xmlns:a="http://schemas.openxmlformats.org/drawingml/2006/main" noGrp="1"/>
          </p:cNvSpPr>
          <p:nvPr/>
        </p:nvSpPr>
        <p:spPr>
          <a:xfrm xmlns:a="http://schemas.openxmlformats.org/drawingml/2006/main">
            <a:off x="552450" y="2076450"/>
            <a:ext cx="4238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01  Inspect the boxes</a:t>
            </a:r>
          </a:p>
        </p:txBody>
      </p:sp>
      <p:sp>
        <p:nvSpPr>
          <p:cNvPr id="6" name="Correct the class and location.&#10;Keep the original ">
            <a:extLst xmlns:a="http://schemas.openxmlformats.org/drawingml/2006/main">
              <a:ext uri="{FF2B5EF4-FFF2-40B4-BE49-F238E27FC236}">
                <a16:creationId xmlns:a16="http://schemas.microsoft.com/office/drawing/2014/main" id="{BF06852C-B7DF-41BB-9E79-845E2989B7CD}"/>
              </a:ext>
            </a:extLst>
          </p:cNvPr>
          <p:cNvSpPr>
            <a:spLocks xmlns:a="http://schemas.openxmlformats.org/drawingml/2006/main" noGrp="1"/>
          </p:cNvSpPr>
          <p:nvPr/>
        </p:nvSpPr>
        <p:spPr>
          <a:xfrm xmlns:a="http://schemas.openxmlformats.org/drawingml/2006/main">
            <a:off x="552450" y="2552700"/>
            <a:ext cx="42386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Correct the class and location.</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Keep the original prediction in history.</a:t>
            </a:r>
          </a:p>
        </p:txBody>
      </p:sp>
      <p:sp>
        <p:nvSpPr>
          <p:cNvPr id="7" name="02  Compare model opinions">
            <a:extLst xmlns:a="http://schemas.openxmlformats.org/drawingml/2006/main">
              <a:ext uri="{FF2B5EF4-FFF2-40B4-BE49-F238E27FC236}">
                <a16:creationId xmlns:a16="http://schemas.microsoft.com/office/drawing/2014/main" id="{04E2FC97-47F5-4CA5-8463-049BEB1F32F8}"/>
              </a:ext>
            </a:extLst>
          </p:cNvPr>
          <p:cNvSpPr>
            <a:spLocks xmlns:a="http://schemas.openxmlformats.org/drawingml/2006/main" noGrp="1"/>
          </p:cNvSpPr>
          <p:nvPr/>
        </p:nvSpPr>
        <p:spPr>
          <a:xfrm xmlns:a="http://schemas.openxmlformats.org/drawingml/2006/main">
            <a:off x="552450" y="3505200"/>
            <a:ext cx="42386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02  Compare model opinions</a:t>
            </a:r>
          </a:p>
        </p:txBody>
      </p:sp>
      <p:sp>
        <p:nvSpPr>
          <p:cNvPr id="8" name="Choose any completed model,&#10;including a minority r">
            <a:extLst xmlns:a="http://schemas.openxmlformats.org/drawingml/2006/main">
              <a:ext uri="{FF2B5EF4-FFF2-40B4-BE49-F238E27FC236}">
                <a16:creationId xmlns:a16="http://schemas.microsoft.com/office/drawing/2014/main" id="{92BDA689-6262-4CE1-B6B2-190E2D42255C}"/>
              </a:ext>
            </a:extLst>
          </p:cNvPr>
          <p:cNvSpPr>
            <a:spLocks xmlns:a="http://schemas.openxmlformats.org/drawingml/2006/main" noGrp="1"/>
          </p:cNvSpPr>
          <p:nvPr/>
        </p:nvSpPr>
        <p:spPr>
          <a:xfrm xmlns:a="http://schemas.openxmlformats.org/drawingml/2006/main">
            <a:off x="552450" y="3981450"/>
            <a:ext cx="423862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Choose any completed model,</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including a minority result.</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Its boxes become an editable draft.</a:t>
            </a:r>
          </a:p>
        </p:txBody>
      </p:sp>
      <p:pic>
        <p:nvPicPr>
          <p:cNvPr id="9" name="">
            <a:extLst xmlns:a="http://schemas.openxmlformats.org/drawingml/2006/main">
              <a:ext uri="{FF2B5EF4-FFF2-40B4-BE49-F238E27FC236}">
                <a16:creationId xmlns:a16="http://schemas.microsoft.com/office/drawing/2014/main" id="{D470F92B-02CF-4897-80D3-242120406256}"/>
              </a:ext>
            </a:extLst>
          </p:cNvPr>
          <p:cNvPicPr>
            <a:picLocks xmlns:a="http://schemas.openxmlformats.org/drawingml/2006/main" noChangeAspect="1"/>
          </p:cNvPicPr>
          <p:nvPr/>
        </p:nvPicPr>
        <p:blipFill>
          <a:blip xmlns:r="http://schemas.openxmlformats.org/officeDocument/2006/relationships" xmlns:a="http://schemas.openxmlformats.org/drawingml/2006/main" r:embed="Rf93c821bbf3f4e25"/>
          <a:srcRect xmlns:a="http://schemas.openxmlformats.org/drawingml/2006/main" l="38700" t="3400" r="0" b="40800"/>
          <a:stretch xmlns:a="http://schemas.openxmlformats.org/drawingml/2006/main"/>
        </p:blipFill>
        <p:spPr>
          <a:xfrm xmlns:a="http://schemas.openxmlformats.org/drawingml/2006/main">
            <a:off x="5057775" y="1924050"/>
            <a:ext cx="6581775" cy="3800475"/>
          </a:xfrm>
          <a:prstGeom xmlns:a="http://schemas.openxmlformats.org/drawingml/2006/main" prst="rect">
            <a:avLst/>
          </a:prstGeom>
        </p:spPr>
      </p:pic>
      <p:sp>
        <p:nvSpPr>
          <p:cNvPr id="10" name="03  Save the review">
            <a:extLst xmlns:a="http://schemas.openxmlformats.org/drawingml/2006/main">
              <a:ext uri="{FF2B5EF4-FFF2-40B4-BE49-F238E27FC236}">
                <a16:creationId xmlns:a16="http://schemas.microsoft.com/office/drawing/2014/main" id="{BB77C427-CB95-4DF5-8AC2-9D9DFB1409F1}"/>
              </a:ext>
            </a:extLst>
          </p:cNvPr>
          <p:cNvSpPr>
            <a:spLocks xmlns:a="http://schemas.openxmlformats.org/drawingml/2006/main" noGrp="1"/>
          </p:cNvSpPr>
          <p:nvPr/>
        </p:nvSpPr>
        <p:spPr>
          <a:xfrm xmlns:a="http://schemas.openxmlformats.org/drawingml/2006/main">
            <a:off x="552450" y="5324475"/>
            <a:ext cx="4238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DCFA6B"/>
                </a:solidFill>
                <a:latin typeface="Arial"/>
                <a:ea typeface="Arial"/>
                <a:cs typeface="Arial"/>
              </a:defRPr>
            </a:defPPr>
            <a:lvl1pPr>
              <a:defRPr sz="2250" b="1">
                <a:solidFill>
                  <a:srgbClr val="DCFA6B"/>
                </a:solidFill>
                <a:latin typeface="Arial"/>
                <a:ea typeface="Arial"/>
                <a:cs typeface="Arial"/>
              </a:defRPr>
            </a:lvl1pPr>
            <a:lvl2pPr>
              <a:defRPr sz="2250" b="1">
                <a:solidFill>
                  <a:srgbClr val="DCFA6B"/>
                </a:solidFill>
                <a:latin typeface="Arial"/>
                <a:ea typeface="Arial"/>
                <a:cs typeface="Arial"/>
              </a:defRPr>
            </a:lvl2pPr>
            <a:lvl3pPr>
              <a:defRPr sz="2250" b="1">
                <a:solidFill>
                  <a:srgbClr val="DCFA6B"/>
                </a:solidFill>
                <a:latin typeface="Arial"/>
                <a:ea typeface="Arial"/>
                <a:cs typeface="Arial"/>
              </a:defRPr>
            </a:lvl3pPr>
            <a:lvl4pPr>
              <a:defRPr sz="2250" b="1">
                <a:solidFill>
                  <a:srgbClr val="DCFA6B"/>
                </a:solidFill>
                <a:latin typeface="Arial"/>
                <a:ea typeface="Arial"/>
                <a:cs typeface="Arial"/>
              </a:defRPr>
            </a:lvl4pPr>
            <a:lvl5pPr>
              <a:defRPr sz="2250" b="1">
                <a:solidFill>
                  <a:srgbClr val="DCFA6B"/>
                </a:solidFill>
                <a:latin typeface="Arial"/>
                <a:ea typeface="Arial"/>
                <a:cs typeface="Arial"/>
              </a:defRPr>
            </a:lvl5pPr>
            <a:lvl6pPr>
              <a:defRPr sz="2250" b="1">
                <a:solidFill>
                  <a:srgbClr val="DCFA6B"/>
                </a:solidFill>
                <a:latin typeface="Arial"/>
                <a:ea typeface="Arial"/>
                <a:cs typeface="Arial"/>
              </a:defRPr>
            </a:lvl6pPr>
            <a:lvl7pPr>
              <a:defRPr sz="2250" b="1">
                <a:solidFill>
                  <a:srgbClr val="DCFA6B"/>
                </a:solidFill>
                <a:latin typeface="Arial"/>
                <a:ea typeface="Arial"/>
                <a:cs typeface="Arial"/>
              </a:defRPr>
            </a:lvl7pPr>
            <a:lvl8pPr>
              <a:defRPr sz="2250" b="1">
                <a:solidFill>
                  <a:srgbClr val="DCFA6B"/>
                </a:solidFill>
                <a:latin typeface="Arial"/>
                <a:ea typeface="Arial"/>
                <a:cs typeface="Arial"/>
              </a:defRPr>
            </a:lvl8pPr>
            <a:lvl9pPr>
              <a:defRPr sz="2250" b="1">
                <a:solidFill>
                  <a:srgbClr val="DCFA6B"/>
                </a:solidFill>
                <a:latin typeface="Arial"/>
                <a:ea typeface="Arial"/>
                <a:cs typeface="Arial"/>
              </a:defRPr>
            </a:lvl9pPr>
          </a:lstStyle>
          <a:p xmlns:a="http://schemas.openxmlformats.org/drawingml/2006/main">
            <a:pPr>
              <a:defRPr sz="2250" b="1">
                <a:solidFill>
                  <a:srgbClr val="DCFA6B"/>
                </a:solidFill>
                <a:latin typeface="Arial"/>
                <a:ea typeface="Arial"/>
                <a:cs typeface="Arial"/>
              </a:defRPr>
            </a:pPr>
            <a:r>
              <a:rPr sz="2250" b="1">
                <a:solidFill>
                  <a:srgbClr val="DCFA6B"/>
                </a:solidFill>
                <a:latin typeface="Arial"/>
                <a:ea typeface="Arial"/>
                <a:cs typeface="Arial"/>
              </a:rPr>
              <a:t>03  Save the review</a:t>
            </a:r>
          </a:p>
        </p:txBody>
      </p:sp>
      <p:sp>
        <p:nvSpPr>
          <p:cNvPr id="11" name="Priority supports triage. It does not measure phys">
            <a:extLst xmlns:a="http://schemas.openxmlformats.org/drawingml/2006/main">
              <a:ext uri="{FF2B5EF4-FFF2-40B4-BE49-F238E27FC236}">
                <a16:creationId xmlns:a16="http://schemas.microsoft.com/office/drawing/2014/main" id="{8C143578-14AA-49F5-B8EA-C52C5B4133D1}"/>
              </a:ext>
            </a:extLst>
          </p:cNvPr>
          <p:cNvSpPr>
            <a:spLocks xmlns:a="http://schemas.openxmlformats.org/drawingml/2006/main" noGrp="1"/>
          </p:cNvSpPr>
          <p:nvPr/>
        </p:nvSpPr>
        <p:spPr>
          <a:xfrm xmlns:a="http://schemas.openxmlformats.org/drawingml/2006/main">
            <a:off x="552450" y="5905500"/>
            <a:ext cx="109918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77D6DD"/>
                </a:solidFill>
                <a:latin typeface="Arial"/>
                <a:ea typeface="Arial"/>
                <a:cs typeface="Arial"/>
              </a:defRPr>
            </a:defPPr>
            <a:lvl1pPr>
              <a:defRPr sz="1800" b="0">
                <a:solidFill>
                  <a:srgbClr val="77D6DD"/>
                </a:solidFill>
                <a:latin typeface="Arial"/>
                <a:ea typeface="Arial"/>
                <a:cs typeface="Arial"/>
              </a:defRPr>
            </a:lvl1pPr>
            <a:lvl2pPr>
              <a:defRPr sz="1800" b="0">
                <a:solidFill>
                  <a:srgbClr val="77D6DD"/>
                </a:solidFill>
                <a:latin typeface="Arial"/>
                <a:ea typeface="Arial"/>
                <a:cs typeface="Arial"/>
              </a:defRPr>
            </a:lvl2pPr>
            <a:lvl3pPr>
              <a:defRPr sz="1800" b="0">
                <a:solidFill>
                  <a:srgbClr val="77D6DD"/>
                </a:solidFill>
                <a:latin typeface="Arial"/>
                <a:ea typeface="Arial"/>
                <a:cs typeface="Arial"/>
              </a:defRPr>
            </a:lvl3pPr>
            <a:lvl4pPr>
              <a:defRPr sz="1800" b="0">
                <a:solidFill>
                  <a:srgbClr val="77D6DD"/>
                </a:solidFill>
                <a:latin typeface="Arial"/>
                <a:ea typeface="Arial"/>
                <a:cs typeface="Arial"/>
              </a:defRPr>
            </a:lvl4pPr>
            <a:lvl5pPr>
              <a:defRPr sz="1800" b="0">
                <a:solidFill>
                  <a:srgbClr val="77D6DD"/>
                </a:solidFill>
                <a:latin typeface="Arial"/>
                <a:ea typeface="Arial"/>
                <a:cs typeface="Arial"/>
              </a:defRPr>
            </a:lvl5pPr>
            <a:lvl6pPr>
              <a:defRPr sz="1800" b="0">
                <a:solidFill>
                  <a:srgbClr val="77D6DD"/>
                </a:solidFill>
                <a:latin typeface="Arial"/>
                <a:ea typeface="Arial"/>
                <a:cs typeface="Arial"/>
              </a:defRPr>
            </a:lvl6pPr>
            <a:lvl7pPr>
              <a:defRPr sz="1800" b="0">
                <a:solidFill>
                  <a:srgbClr val="77D6DD"/>
                </a:solidFill>
                <a:latin typeface="Arial"/>
                <a:ea typeface="Arial"/>
                <a:cs typeface="Arial"/>
              </a:defRPr>
            </a:lvl7pPr>
            <a:lvl8pPr>
              <a:defRPr sz="1800" b="0">
                <a:solidFill>
                  <a:srgbClr val="77D6DD"/>
                </a:solidFill>
                <a:latin typeface="Arial"/>
                <a:ea typeface="Arial"/>
                <a:cs typeface="Arial"/>
              </a:defRPr>
            </a:lvl8pPr>
            <a:lvl9pPr>
              <a:defRPr sz="1800" b="0">
                <a:solidFill>
                  <a:srgbClr val="77D6DD"/>
                </a:solidFill>
                <a:latin typeface="Arial"/>
                <a:ea typeface="Arial"/>
                <a:cs typeface="Arial"/>
              </a:defRPr>
            </a:lvl9pPr>
          </a:lstStyle>
          <a:p xmlns:a="http://schemas.openxmlformats.org/drawingml/2006/main">
            <a:pPr>
              <a:defRPr sz="1800" b="0">
                <a:solidFill>
                  <a:srgbClr val="77D6DD"/>
                </a:solidFill>
                <a:latin typeface="Arial"/>
                <a:ea typeface="Arial"/>
                <a:cs typeface="Arial"/>
              </a:defRPr>
            </a:pPr>
            <a:r>
              <a:rPr sz="1800" b="0">
                <a:solidFill>
                  <a:srgbClr val="77D6DD"/>
                </a:solidFill>
                <a:latin typeface="Arial"/>
                <a:ea typeface="Arial"/>
                <a:cs typeface="Arial"/>
              </a:rPr>
              <a:t>Priority supports triage. It does not measure physical crack depth.</a:t>
            </a:r>
          </a:p>
        </p:txBody>
      </p:sp>
    </p:spTree>
    <p:extLst>
      <p:ext uri="{BB962C8B-B14F-4D97-AF65-F5344CB8AC3E}">
        <p14:creationId xmlns:p14="http://schemas.microsoft.com/office/powerpoint/2010/main" val="1064223644"/>
      </p:ext>
    </p:extLst>
  </p:cSld>
</p:sld>
</file>

<file path=ppt/slides/slide4.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9" name="DATA AND TRAINING EVIDENCE">
            <a:extLst xmlns:a="http://schemas.openxmlformats.org/drawingml/2006/main">
              <a:ext uri="{FF2B5EF4-FFF2-40B4-BE49-F238E27FC236}">
                <a16:creationId xmlns:a16="http://schemas.microsoft.com/office/drawing/2014/main" id="{9FC2E04B-6026-408D-B435-9867EAB44805}"/>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DATA AND TRAINING EVIDENCE</a:t>
            </a:r>
          </a:p>
        </p:txBody>
      </p:sp>
      <p:sp>
        <p:nvSpPr>
          <p:cNvPr id="2" name="Model results depend on the test set">
            <a:extLst xmlns:a="http://schemas.openxmlformats.org/drawingml/2006/main">
              <a:ext uri="{FF2B5EF4-FFF2-40B4-BE49-F238E27FC236}">
                <a16:creationId xmlns:a16="http://schemas.microsoft.com/office/drawing/2014/main" id="{58D8F9EB-EBCD-45EB-BF4A-268AFC4040F2}"/>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Model results depend on the test set</a:t>
            </a:r>
          </a:p>
        </p:txBody>
      </p:sp>
      <p:sp>
        <p:nvSpPr>
          <p:cNvPr id="3" name="RoadScan / AIEP capstone">
            <a:extLst xmlns:a="http://schemas.openxmlformats.org/drawingml/2006/main">
              <a:ext uri="{FF2B5EF4-FFF2-40B4-BE49-F238E27FC236}">
                <a16:creationId xmlns:a16="http://schemas.microsoft.com/office/drawing/2014/main" id="{A7301883-C904-4FAE-A602-2DE894A04FD8}"/>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4">
            <a:extLst xmlns:a="http://schemas.openxmlformats.org/drawingml/2006/main">
              <a:ext uri="{FF2B5EF4-FFF2-40B4-BE49-F238E27FC236}">
                <a16:creationId xmlns:a16="http://schemas.microsoft.com/office/drawing/2014/main" id="{FFF32168-219D-484D-9CF3-62DB2AF1CCBF}"/>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04</a:t>
            </a:r>
          </a:p>
        </p:txBody>
      </p:sp>
      <p:graphicFrame>
        <p:nvGraphicFramePr>
          <p:cNvPr id="5" name="">
            <a:extLst xmlns:a="http://schemas.openxmlformats.org/drawingml/2006/main">
              <a:ext uri="{FF2B5EF4-FFF2-40B4-BE49-F238E27FC236}">
                <a16:creationId xmlns:a16="http://schemas.microsoft.com/office/drawing/2014/main" id="{7A1F0C37-3B76-49AF-BB81-52FF792EB933}"/>
              </a:ext>
            </a:extLst>
          </p:cNvPr>
          <p:cNvGraphicFramePr/>
          <p:nvPr/>
        </p:nvGraphicFramePr>
        <p:xfrm>
          <a:off xmlns:a="http://schemas.openxmlformats.org/drawingml/2006/main" x="552450" y="1952625"/>
          <a:ext xmlns:a="http://schemas.openxmlformats.org/drawingml/2006/main" cx="11087100" cy="2790825"/>
        </p:xfrm>
        <a:graphic xmlns:a="http://schemas.openxmlformats.org/drawingml/2006/main">
          <a:graphicData uri="http://schemas.openxmlformats.org/drawingml/2006/table">
            <a:tbl>
              <a:tblPr/>
              <a:tblGrid>
                <a:gridCol w="2514600"/>
                <a:gridCol w="1924050"/>
                <a:gridCol w="2819400"/>
                <a:gridCol w="1809750"/>
                <a:gridCol w="2019300"/>
              </a:tblGrid>
              <a:tr h="697706">
                <a:tc>
                  <a:txBody>
                    <a:bodyPr/>
                    <a:lstStyle/>
                    <a:p>
                      <a:r>
                        <a:rPr sz="1425" b="1">
                          <a:solidFill>
                            <a:srgbClr val="77D6DD"/>
                          </a:solidFill>
                          <a:latin typeface="Arial"/>
                          <a:ea typeface="Arial"/>
                          <a:cs typeface="Arial"/>
                        </a:rPr>
                        <a:t>Checkpoint</a:t>
                      </a:r>
                    </a:p>
                  </a:txBody>
                  <a:tcPr marL="91440" marR="91440" marT="45720" marB="45720">
                    <a:lnL w="9525">
                      <a:solidFill>
                        <a:srgbClr val="36515B"/>
                      </a:solidFill>
                      <a:prstDash val="solid"/>
                    </a:lnL>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Training images</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Evaluation scope</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mAP50</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mAP50–95</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r>
              <a:tr h="697706">
                <a:tc>
                  <a:txBody>
                    <a:bodyPr/>
                    <a:lstStyle/>
                    <a:p>
                      <a:r>
                        <a:rPr sz="1725" b="0">
                          <a:solidFill>
                            <a:srgbClr val="F0F5F6"/>
                          </a:solidFill>
                          <a:latin typeface="Arial"/>
                          <a:ea typeface="Arial"/>
                          <a:cs typeface="Arial"/>
                        </a:rPr>
                        <a:t>RoadScan baseline</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8,000</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US holdout</a:t>
                      </a:r>
                    </a:p>
                    <a:p>
                      <a:r>
                        <a:rPr sz="1725" b="0">
                          <a:solidFill>
                            <a:srgbClr val="F0F5F6"/>
                          </a:solidFill>
                          <a:latin typeface="Arial"/>
                          <a:ea typeface="Arial"/>
                          <a:cs typeface="Arial"/>
                        </a:rPr>
                        <a:t>1,000 images</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25.05%</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10.96%</a:t>
                      </a:r>
                    </a:p>
                  </a:txBody>
                  <a:tcPr marL="91440" marR="91440" marT="45720" marB="45720">
                    <a:lnR w="9525">
                      <a:solidFill>
                        <a:srgbClr val="36515B"/>
                      </a:solidFill>
                      <a:prstDash val="solid"/>
                    </a:lnR>
                    <a:lnB w="9525">
                      <a:solidFill>
                        <a:srgbClr val="36515B"/>
                      </a:solidFill>
                      <a:prstDash val="solid"/>
                    </a:lnB>
                    <a:solidFill>
                      <a:srgbClr val="0C1820"/>
                    </a:solidFill>
                  </a:tcPr>
                </a:tc>
              </a:tr>
              <a:tr h="697706">
                <a:tc>
                  <a:txBody>
                    <a:bodyPr/>
                    <a:lstStyle/>
                    <a:p>
                      <a:r>
                        <a:rPr sz="1725" b="0">
                          <a:solidFill>
                            <a:srgbClr val="F0F5F6"/>
                          </a:solidFill>
                          <a:latin typeface="Arial"/>
                          <a:ea typeface="Arial"/>
                          <a:cs typeface="Arial"/>
                        </a:rPr>
                        <a:t>YOLO26s main</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~41,000</a:t>
                      </a:r>
                    </a:p>
                    <a:p>
                      <a:r>
                        <a:rPr sz="1725" b="0">
                          <a:solidFill>
                            <a:srgbClr val="F0F5F6"/>
                          </a:solidFill>
                          <a:latin typeface="Arial"/>
                          <a:ea typeface="Arial"/>
                          <a:cs typeface="Arial"/>
                        </a:rPr>
                        <a:t>reported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Team RDD test</a:t>
                      </a:r>
                    </a:p>
                    <a:p>
                      <a:r>
                        <a:rPr sz="1725" b="0">
                          <a:solidFill>
                            <a:srgbClr val="F0F5F6"/>
                          </a:solidFill>
                          <a:latin typeface="Arial"/>
                          <a:ea typeface="Arial"/>
                          <a:cs typeface="Arial"/>
                        </a:rPr>
                        <a:t>5,758 reported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63.04%</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33.01%</a:t>
                      </a:r>
                    </a:p>
                  </a:txBody>
                  <a:tcPr marL="91440" marR="91440" marT="45720" marB="45720">
                    <a:lnR w="9525">
                      <a:solidFill>
                        <a:srgbClr val="36515B"/>
                      </a:solidFill>
                      <a:prstDash val="solid"/>
                    </a:lnR>
                    <a:lnB w="9525">
                      <a:solidFill>
                        <a:srgbClr val="36515B"/>
                      </a:solidFill>
                      <a:prstDash val="solid"/>
                    </a:lnB>
                    <a:solidFill>
                      <a:srgbClr val="0C1820"/>
                    </a:solidFill>
                  </a:tcPr>
                </a:tc>
              </a:tr>
              <a:tr h="697706">
                <a:tc>
                  <a:txBody>
                    <a:bodyPr/>
                    <a:lstStyle/>
                    <a:p>
                      <a:r>
                        <a:rPr sz="1725" b="0">
                          <a:solidFill>
                            <a:srgbClr val="F0F5F6"/>
                          </a:solidFill>
                          <a:latin typeface="Arial"/>
                          <a:ea typeface="Arial"/>
                          <a:cs typeface="Arial"/>
                        </a:rPr>
                        <a:t>RT-DETR-L</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Count</a:t>
                      </a:r>
                    </a:p>
                    <a:p>
                      <a:r>
                        <a:rPr sz="1725" b="0">
                          <a:solidFill>
                            <a:srgbClr val="F0F5F6"/>
                          </a:solidFill>
                          <a:latin typeface="Arial"/>
                          <a:ea typeface="Arial"/>
                          <a:cs typeface="Arial"/>
                        </a:rPr>
                        <a:t>unverified</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Saved validation</a:t>
                      </a:r>
                    </a:p>
                    <a:p>
                      <a:r>
                        <a:rPr sz="1725" b="0">
                          <a:solidFill>
                            <a:srgbClr val="F0F5F6"/>
                          </a:solidFill>
                          <a:latin typeface="Arial"/>
                          <a:ea typeface="Arial"/>
                          <a:cs typeface="Arial"/>
                        </a:rPr>
                        <a:t>different split</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61.77%</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31.28%</a:t>
                      </a:r>
                    </a:p>
                  </a:txBody>
                  <a:tcPr marL="91440" marR="91440" marT="45720" marB="45720">
                    <a:lnR w="9525">
                      <a:solidFill>
                        <a:srgbClr val="36515B"/>
                      </a:solidFill>
                      <a:prstDash val="solid"/>
                    </a:lnR>
                    <a:lnB w="9525">
                      <a:solidFill>
                        <a:srgbClr val="36515B"/>
                      </a:solidFill>
                      <a:prstDash val="solid"/>
                    </a:lnB>
                    <a:solidFill>
                      <a:srgbClr val="0C1820"/>
                    </a:solidFill>
                  </a:tcPr>
                </a:tc>
              </a:tr>
            </a:tbl>
          </a:graphicData>
        </a:graphic>
      </p:graphicFrame>
      <p:sp>
        <p:nvSpPr>
          <p:cNvPr id="6" name="Baseline: 8,000 train + 1,000 Czech validation + 1">
            <a:extLst xmlns:a="http://schemas.openxmlformats.org/drawingml/2006/main">
              <a:ext uri="{FF2B5EF4-FFF2-40B4-BE49-F238E27FC236}">
                <a16:creationId xmlns:a16="http://schemas.microsoft.com/office/drawing/2014/main" id="{6D3D3498-F469-44CB-A437-DE627D82D878}"/>
              </a:ext>
            </a:extLst>
          </p:cNvPr>
          <p:cNvSpPr>
            <a:spLocks xmlns:a="http://schemas.openxmlformats.org/drawingml/2006/main" noGrp="1"/>
          </p:cNvSpPr>
          <p:nvPr/>
        </p:nvSpPr>
        <p:spPr>
          <a:xfrm xmlns:a="http://schemas.openxmlformats.org/drawingml/2006/main">
            <a:off x="552450" y="5010150"/>
            <a:ext cx="11001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1">
                <a:solidFill>
                  <a:srgbClr val="DCFA6B"/>
                </a:solidFill>
                <a:latin typeface="Arial"/>
                <a:ea typeface="Arial"/>
                <a:cs typeface="Arial"/>
              </a:defRPr>
            </a:defPPr>
            <a:lvl1pPr>
              <a:defRPr sz="1800" b="1">
                <a:solidFill>
                  <a:srgbClr val="DCFA6B"/>
                </a:solidFill>
                <a:latin typeface="Arial"/>
                <a:ea typeface="Arial"/>
                <a:cs typeface="Arial"/>
              </a:defRPr>
            </a:lvl1pPr>
            <a:lvl2pPr>
              <a:defRPr sz="1800" b="1">
                <a:solidFill>
                  <a:srgbClr val="DCFA6B"/>
                </a:solidFill>
                <a:latin typeface="Arial"/>
                <a:ea typeface="Arial"/>
                <a:cs typeface="Arial"/>
              </a:defRPr>
            </a:lvl2pPr>
            <a:lvl3pPr>
              <a:defRPr sz="1800" b="1">
                <a:solidFill>
                  <a:srgbClr val="DCFA6B"/>
                </a:solidFill>
                <a:latin typeface="Arial"/>
                <a:ea typeface="Arial"/>
                <a:cs typeface="Arial"/>
              </a:defRPr>
            </a:lvl3pPr>
            <a:lvl4pPr>
              <a:defRPr sz="1800" b="1">
                <a:solidFill>
                  <a:srgbClr val="DCFA6B"/>
                </a:solidFill>
                <a:latin typeface="Arial"/>
                <a:ea typeface="Arial"/>
                <a:cs typeface="Arial"/>
              </a:defRPr>
            </a:lvl4pPr>
            <a:lvl5pPr>
              <a:defRPr sz="1800" b="1">
                <a:solidFill>
                  <a:srgbClr val="DCFA6B"/>
                </a:solidFill>
                <a:latin typeface="Arial"/>
                <a:ea typeface="Arial"/>
                <a:cs typeface="Arial"/>
              </a:defRPr>
            </a:lvl5pPr>
            <a:lvl6pPr>
              <a:defRPr sz="1800" b="1">
                <a:solidFill>
                  <a:srgbClr val="DCFA6B"/>
                </a:solidFill>
                <a:latin typeface="Arial"/>
                <a:ea typeface="Arial"/>
                <a:cs typeface="Arial"/>
              </a:defRPr>
            </a:lvl6pPr>
            <a:lvl7pPr>
              <a:defRPr sz="1800" b="1">
                <a:solidFill>
                  <a:srgbClr val="DCFA6B"/>
                </a:solidFill>
                <a:latin typeface="Arial"/>
                <a:ea typeface="Arial"/>
                <a:cs typeface="Arial"/>
              </a:defRPr>
            </a:lvl7pPr>
            <a:lvl8pPr>
              <a:defRPr sz="1800" b="1">
                <a:solidFill>
                  <a:srgbClr val="DCFA6B"/>
                </a:solidFill>
                <a:latin typeface="Arial"/>
                <a:ea typeface="Arial"/>
                <a:cs typeface="Arial"/>
              </a:defRPr>
            </a:lvl8pPr>
            <a:lvl9pPr>
              <a:defRPr sz="1800" b="1">
                <a:solidFill>
                  <a:srgbClr val="DCFA6B"/>
                </a:solidFill>
                <a:latin typeface="Arial"/>
                <a:ea typeface="Arial"/>
                <a:cs typeface="Arial"/>
              </a:defRPr>
            </a:lvl9pPr>
          </a:lstStyle>
          <a:p xmlns:a="http://schemas.openxmlformats.org/drawingml/2006/main">
            <a:pPr>
              <a:defRPr sz="1800" b="1">
                <a:solidFill>
                  <a:srgbClr val="DCFA6B"/>
                </a:solidFill>
                <a:latin typeface="Arial"/>
                <a:ea typeface="Arial"/>
                <a:cs typeface="Arial"/>
              </a:defRPr>
            </a:pPr>
            <a:r>
              <a:rPr sz="1800" b="1">
                <a:solidFill>
                  <a:srgbClr val="DCFA6B"/>
                </a:solidFill>
                <a:latin typeface="Arial"/>
                <a:ea typeface="Arial"/>
                <a:cs typeface="Arial"/>
              </a:rPr>
              <a:t>Baseline: 8,000 train + 1,000 Czech validation + 1,000 US test</a:t>
            </a:r>
          </a:p>
        </p:txBody>
      </p:sp>
      <p:sp>
        <p:nvSpPr>
          <p:cNvPr id="7" name="These rows are separate experiments, not a common-">
            <a:extLst xmlns:a="http://schemas.openxmlformats.org/drawingml/2006/main">
              <a:ext uri="{FF2B5EF4-FFF2-40B4-BE49-F238E27FC236}">
                <a16:creationId xmlns:a16="http://schemas.microsoft.com/office/drawing/2014/main" id="{6D8F6043-C7A2-4420-ADDC-37CA80F4F5AB}"/>
              </a:ext>
            </a:extLst>
          </p:cNvPr>
          <p:cNvSpPr>
            <a:spLocks xmlns:a="http://schemas.openxmlformats.org/drawingml/2006/main" noGrp="1"/>
          </p:cNvSpPr>
          <p:nvPr/>
        </p:nvSpPr>
        <p:spPr>
          <a:xfrm xmlns:a="http://schemas.openxmlformats.org/drawingml/2006/main">
            <a:off x="552450" y="5457825"/>
            <a:ext cx="11001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F0F5F6"/>
                </a:solidFill>
                <a:latin typeface="Arial"/>
                <a:ea typeface="Arial"/>
                <a:cs typeface="Arial"/>
              </a:defRPr>
            </a:defPPr>
            <a:lvl1pPr>
              <a:defRPr sz="2025" b="1">
                <a:solidFill>
                  <a:srgbClr val="F0F5F6"/>
                </a:solidFill>
                <a:latin typeface="Arial"/>
                <a:ea typeface="Arial"/>
                <a:cs typeface="Arial"/>
              </a:defRPr>
            </a:lvl1pPr>
            <a:lvl2pPr>
              <a:defRPr sz="2025" b="1">
                <a:solidFill>
                  <a:srgbClr val="F0F5F6"/>
                </a:solidFill>
                <a:latin typeface="Arial"/>
                <a:ea typeface="Arial"/>
                <a:cs typeface="Arial"/>
              </a:defRPr>
            </a:lvl2pPr>
            <a:lvl3pPr>
              <a:defRPr sz="2025" b="1">
                <a:solidFill>
                  <a:srgbClr val="F0F5F6"/>
                </a:solidFill>
                <a:latin typeface="Arial"/>
                <a:ea typeface="Arial"/>
                <a:cs typeface="Arial"/>
              </a:defRPr>
            </a:lvl3pPr>
            <a:lvl4pPr>
              <a:defRPr sz="2025" b="1">
                <a:solidFill>
                  <a:srgbClr val="F0F5F6"/>
                </a:solidFill>
                <a:latin typeface="Arial"/>
                <a:ea typeface="Arial"/>
                <a:cs typeface="Arial"/>
              </a:defRPr>
            </a:lvl4pPr>
            <a:lvl5pPr>
              <a:defRPr sz="2025" b="1">
                <a:solidFill>
                  <a:srgbClr val="F0F5F6"/>
                </a:solidFill>
                <a:latin typeface="Arial"/>
                <a:ea typeface="Arial"/>
                <a:cs typeface="Arial"/>
              </a:defRPr>
            </a:lvl5pPr>
            <a:lvl6pPr>
              <a:defRPr sz="2025" b="1">
                <a:solidFill>
                  <a:srgbClr val="F0F5F6"/>
                </a:solidFill>
                <a:latin typeface="Arial"/>
                <a:ea typeface="Arial"/>
                <a:cs typeface="Arial"/>
              </a:defRPr>
            </a:lvl6pPr>
            <a:lvl7pPr>
              <a:defRPr sz="2025" b="1">
                <a:solidFill>
                  <a:srgbClr val="F0F5F6"/>
                </a:solidFill>
                <a:latin typeface="Arial"/>
                <a:ea typeface="Arial"/>
                <a:cs typeface="Arial"/>
              </a:defRPr>
            </a:lvl7pPr>
            <a:lvl8pPr>
              <a:defRPr sz="2025" b="1">
                <a:solidFill>
                  <a:srgbClr val="F0F5F6"/>
                </a:solidFill>
                <a:latin typeface="Arial"/>
                <a:ea typeface="Arial"/>
                <a:cs typeface="Arial"/>
              </a:defRPr>
            </a:lvl8pPr>
            <a:lvl9pPr>
              <a:defRPr sz="2025" b="1">
                <a:solidFill>
                  <a:srgbClr val="F0F5F6"/>
                </a:solidFill>
                <a:latin typeface="Arial"/>
                <a:ea typeface="Arial"/>
                <a:cs typeface="Arial"/>
              </a:defRPr>
            </a:lvl9pPr>
          </a:lstStyle>
          <a:p xmlns:a="http://schemas.openxmlformats.org/drawingml/2006/main">
            <a:pPr>
              <a:defRPr sz="2025" b="1">
                <a:solidFill>
                  <a:srgbClr val="F0F5F6"/>
                </a:solidFill>
                <a:latin typeface="Arial"/>
                <a:ea typeface="Arial"/>
                <a:cs typeface="Arial"/>
              </a:defRPr>
            </a:pPr>
            <a:r>
              <a:rPr sz="2025" b="1">
                <a:solidFill>
                  <a:srgbClr val="F0F5F6"/>
                </a:solidFill>
                <a:latin typeface="Arial"/>
                <a:ea typeface="Arial"/>
                <a:cs typeface="Arial"/>
              </a:rPr>
              <a:t>These rows are separate experiments, not a common-test leaderboard.</a:t>
            </a:r>
          </a:p>
        </p:txBody>
      </p:sp>
      <p:sp>
        <p:nvSpPr>
          <p:cNvPr id="8" name="Team data includes reported near-duplicate leakage">
            <a:extLst xmlns:a="http://schemas.openxmlformats.org/drawingml/2006/main">
              <a:ext uri="{FF2B5EF4-FFF2-40B4-BE49-F238E27FC236}">
                <a16:creationId xmlns:a16="http://schemas.microsoft.com/office/drawing/2014/main" id="{90F4966D-8F2A-4897-9BC2-B466D612A33C}"/>
              </a:ext>
            </a:extLst>
          </p:cNvPr>
          <p:cNvSpPr>
            <a:spLocks xmlns:a="http://schemas.openxmlformats.org/drawingml/2006/main" noGrp="1"/>
          </p:cNvSpPr>
          <p:nvPr/>
        </p:nvSpPr>
        <p:spPr>
          <a:xfrm xmlns:a="http://schemas.openxmlformats.org/drawingml/2006/main">
            <a:off x="552450" y="5924550"/>
            <a:ext cx="11001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Team data includes reported near-duplicate leakage. Saudi field accuracy is still unmeasured.</a:t>
            </a:r>
          </a:p>
        </p:txBody>
      </p:sp>
    </p:spTree>
    <p:extLst>
      <p:ext uri="{BB962C8B-B14F-4D97-AF65-F5344CB8AC3E}">
        <p14:creationId xmlns:p14="http://schemas.microsoft.com/office/powerpoint/2010/main" val="2113454964"/>
      </p:ext>
    </p:extLst>
  </p:cSld>
</p:sld>
</file>

<file path=ppt/slides/slide5.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cxnSp>
        <p:nvCxnSpPr>
          <p:cNvPr id="28" name="">
            <a:extLst xmlns:a="http://schemas.openxmlformats.org/drawingml/2006/main">
              <a:ext uri="{FF2B5EF4-FFF2-40B4-BE49-F238E27FC236}">
                <a16:creationId xmlns:a16="http://schemas.microsoft.com/office/drawing/2014/main" id="{D1C33239-7C9F-418B-8F21-B10E99047246}"/>
              </a:ext>
            </a:extLst>
          </p:cNvPr>
          <p:cNvCxnSpPr>
            <a:stCxn xmlns:a="http://schemas.openxmlformats.org/drawingml/2006/main" id="21" idx="3"/>
            <a:endCxn xmlns:a="http://schemas.openxmlformats.org/drawingml/2006/main" id="24" idx="1"/>
          </p:cNvCxnSpPr>
          <p:nvPr/>
        </p:nvCxnSpPr>
        <p:spPr>
          <a:xfrm xmlns:a="http://schemas.openxmlformats.org/drawingml/2006/main">
            <a:off x="7581900" y="50577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27" name="">
            <a:extLst xmlns:a="http://schemas.openxmlformats.org/drawingml/2006/main">
              <a:ext uri="{FF2B5EF4-FFF2-40B4-BE49-F238E27FC236}">
                <a16:creationId xmlns:a16="http://schemas.microsoft.com/office/drawing/2014/main" id="{BE28635F-1F85-4680-AABF-6A237562D481}"/>
              </a:ext>
            </a:extLst>
          </p:cNvPr>
          <p:cNvCxnSpPr>
            <a:stCxn xmlns:a="http://schemas.openxmlformats.org/drawingml/2006/main" id="18" idx="3"/>
            <a:endCxn xmlns:a="http://schemas.openxmlformats.org/drawingml/2006/main" id="21" idx="1"/>
          </p:cNvCxnSpPr>
          <p:nvPr/>
        </p:nvCxnSpPr>
        <p:spPr>
          <a:xfrm xmlns:a="http://schemas.openxmlformats.org/drawingml/2006/main">
            <a:off x="3724275" y="50577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6" name="">
            <a:extLst xmlns:a="http://schemas.openxmlformats.org/drawingml/2006/main">
              <a:ext uri="{FF2B5EF4-FFF2-40B4-BE49-F238E27FC236}">
                <a16:creationId xmlns:a16="http://schemas.microsoft.com/office/drawing/2014/main" id="{3071F130-DB04-47EA-949B-7F7A9FD628CF}"/>
              </a:ext>
            </a:extLst>
          </p:cNvPr>
          <p:cNvCxnSpPr>
            <a:stCxn xmlns:a="http://schemas.openxmlformats.org/drawingml/2006/main" id="9" idx="3"/>
            <a:endCxn xmlns:a="http://schemas.openxmlformats.org/drawingml/2006/main" id="12" idx="1"/>
          </p:cNvCxnSpPr>
          <p:nvPr/>
        </p:nvCxnSpPr>
        <p:spPr>
          <a:xfrm xmlns:a="http://schemas.openxmlformats.org/drawingml/2006/main">
            <a:off x="7581900" y="30384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cxnSp>
        <p:nvCxnSpPr>
          <p:cNvPr id="15" name="">
            <a:extLst xmlns:a="http://schemas.openxmlformats.org/drawingml/2006/main">
              <a:ext uri="{FF2B5EF4-FFF2-40B4-BE49-F238E27FC236}">
                <a16:creationId xmlns:a16="http://schemas.microsoft.com/office/drawing/2014/main" id="{C256AAA0-E913-410A-A922-4F5A2E402977}"/>
              </a:ext>
            </a:extLst>
          </p:cNvPr>
          <p:cNvCxnSpPr>
            <a:stCxn xmlns:a="http://schemas.openxmlformats.org/drawingml/2006/main" id="6" idx="3"/>
            <a:endCxn xmlns:a="http://schemas.openxmlformats.org/drawingml/2006/main" id="9" idx="1"/>
          </p:cNvCxnSpPr>
          <p:nvPr/>
        </p:nvCxnSpPr>
        <p:spPr>
          <a:xfrm xmlns:a="http://schemas.openxmlformats.org/drawingml/2006/main">
            <a:off x="3724275" y="3038475"/>
            <a:ext cx="685800" cy="0"/>
          </a:xfrm>
          <a:prstGeom xmlns:a="http://schemas.openxmlformats.org/drawingml/2006/main" prst="straightConnector1">
            <a:avLst/>
          </a:prstGeom>
          <a:ln xmlns:a="http://schemas.openxmlformats.org/drawingml/2006/main" w="19050">
            <a:solidFill>
              <a:srgbClr val="77D6DD"/>
            </a:solidFill>
            <a:tailEnd type="triangle" w="med" len="med"/>
          </a:ln>
        </p:spPr>
      </p:cxnSp>
      <p:sp>
        <p:nvSpPr>
          <p:cNvPr id="30" name="CAMERA AND UPLOADED VIDEO">
            <a:extLst xmlns:a="http://schemas.openxmlformats.org/drawingml/2006/main">
              <a:ext uri="{FF2B5EF4-FFF2-40B4-BE49-F238E27FC236}">
                <a16:creationId xmlns:a16="http://schemas.microsoft.com/office/drawing/2014/main" id="{FD12E9EA-2CBF-4926-B762-CD09D2599FE9}"/>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CAMERA AND UPLOADED VIDEO</a:t>
            </a:r>
          </a:p>
        </p:txBody>
      </p:sp>
      <p:sp>
        <p:nvSpPr>
          <p:cNvPr id="2" name="Live viewing and complete video analysis">
            <a:extLst xmlns:a="http://schemas.openxmlformats.org/drawingml/2006/main">
              <a:ext uri="{FF2B5EF4-FFF2-40B4-BE49-F238E27FC236}">
                <a16:creationId xmlns:a16="http://schemas.microsoft.com/office/drawing/2014/main" id="{22E5CD58-1176-4AD3-BDEB-1759CBB5F973}"/>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Live viewing and complete video analysis</a:t>
            </a:r>
          </a:p>
        </p:txBody>
      </p:sp>
      <p:sp>
        <p:nvSpPr>
          <p:cNvPr id="3" name="RoadScan / AIEP capstone">
            <a:extLst xmlns:a="http://schemas.openxmlformats.org/drawingml/2006/main">
              <a:ext uri="{FF2B5EF4-FFF2-40B4-BE49-F238E27FC236}">
                <a16:creationId xmlns:a16="http://schemas.microsoft.com/office/drawing/2014/main" id="{DC6E6C77-41C0-4E43-AB2F-EAB54D60EB2B}"/>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5">
            <a:extLst xmlns:a="http://schemas.openxmlformats.org/drawingml/2006/main">
              <a:ext uri="{FF2B5EF4-FFF2-40B4-BE49-F238E27FC236}">
                <a16:creationId xmlns:a16="http://schemas.microsoft.com/office/drawing/2014/main" id="{39D4E658-7016-4EFC-9ED4-7B5849FD81BB}"/>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05</a:t>
            </a:r>
          </a:p>
        </p:txBody>
      </p:sp>
      <p:sp>
        <p:nvSpPr>
          <p:cNvPr id="5" name="Camera / Iriun / USB">
            <a:extLst xmlns:a="http://schemas.openxmlformats.org/drawingml/2006/main">
              <a:ext uri="{FF2B5EF4-FFF2-40B4-BE49-F238E27FC236}">
                <a16:creationId xmlns:a16="http://schemas.microsoft.com/office/drawing/2014/main" id="{0F1CF0E6-3724-4474-9A73-B199CCB00F8D}"/>
              </a:ext>
            </a:extLst>
          </p:cNvPr>
          <p:cNvSpPr>
            <a:spLocks xmlns:a="http://schemas.openxmlformats.org/drawingml/2006/main" noGrp="1"/>
          </p:cNvSpPr>
          <p:nvPr/>
        </p:nvSpPr>
        <p:spPr>
          <a:xfrm xmlns:a="http://schemas.openxmlformats.org/drawingml/2006/main">
            <a:off x="552450" y="198120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DCFA6B"/>
                </a:solidFill>
                <a:latin typeface="Arial"/>
                <a:ea typeface="Arial"/>
                <a:cs typeface="Arial"/>
              </a:defRPr>
            </a:defPPr>
            <a:lvl1pPr>
              <a:defRPr sz="2325" b="1">
                <a:solidFill>
                  <a:srgbClr val="DCFA6B"/>
                </a:solidFill>
                <a:latin typeface="Arial"/>
                <a:ea typeface="Arial"/>
                <a:cs typeface="Arial"/>
              </a:defRPr>
            </a:lvl1pPr>
            <a:lvl2pPr>
              <a:defRPr sz="2325" b="1">
                <a:solidFill>
                  <a:srgbClr val="DCFA6B"/>
                </a:solidFill>
                <a:latin typeface="Arial"/>
                <a:ea typeface="Arial"/>
                <a:cs typeface="Arial"/>
              </a:defRPr>
            </a:lvl2pPr>
            <a:lvl3pPr>
              <a:defRPr sz="2325" b="1">
                <a:solidFill>
                  <a:srgbClr val="DCFA6B"/>
                </a:solidFill>
                <a:latin typeface="Arial"/>
                <a:ea typeface="Arial"/>
                <a:cs typeface="Arial"/>
              </a:defRPr>
            </a:lvl3pPr>
            <a:lvl4pPr>
              <a:defRPr sz="2325" b="1">
                <a:solidFill>
                  <a:srgbClr val="DCFA6B"/>
                </a:solidFill>
                <a:latin typeface="Arial"/>
                <a:ea typeface="Arial"/>
                <a:cs typeface="Arial"/>
              </a:defRPr>
            </a:lvl4pPr>
            <a:lvl5pPr>
              <a:defRPr sz="2325" b="1">
                <a:solidFill>
                  <a:srgbClr val="DCFA6B"/>
                </a:solidFill>
                <a:latin typeface="Arial"/>
                <a:ea typeface="Arial"/>
                <a:cs typeface="Arial"/>
              </a:defRPr>
            </a:lvl5pPr>
            <a:lvl6pPr>
              <a:defRPr sz="2325" b="1">
                <a:solidFill>
                  <a:srgbClr val="DCFA6B"/>
                </a:solidFill>
                <a:latin typeface="Arial"/>
                <a:ea typeface="Arial"/>
                <a:cs typeface="Arial"/>
              </a:defRPr>
            </a:lvl6pPr>
            <a:lvl7pPr>
              <a:defRPr sz="2325" b="1">
                <a:solidFill>
                  <a:srgbClr val="DCFA6B"/>
                </a:solidFill>
                <a:latin typeface="Arial"/>
                <a:ea typeface="Arial"/>
                <a:cs typeface="Arial"/>
              </a:defRPr>
            </a:lvl7pPr>
            <a:lvl8pPr>
              <a:defRPr sz="2325" b="1">
                <a:solidFill>
                  <a:srgbClr val="DCFA6B"/>
                </a:solidFill>
                <a:latin typeface="Arial"/>
                <a:ea typeface="Arial"/>
                <a:cs typeface="Arial"/>
              </a:defRPr>
            </a:lvl8pPr>
            <a:lvl9pPr>
              <a:defRPr sz="2325" b="1">
                <a:solidFill>
                  <a:srgbClr val="DCFA6B"/>
                </a:solidFill>
                <a:latin typeface="Arial"/>
                <a:ea typeface="Arial"/>
                <a:cs typeface="Arial"/>
              </a:defRPr>
            </a:lvl9pPr>
          </a:lstStyle>
          <a:p xmlns:a="http://schemas.openxmlformats.org/drawingml/2006/main">
            <a:pPr>
              <a:defRPr sz="2325" b="1">
                <a:solidFill>
                  <a:srgbClr val="DCFA6B"/>
                </a:solidFill>
                <a:latin typeface="Arial"/>
                <a:ea typeface="Arial"/>
                <a:cs typeface="Arial"/>
              </a:defRPr>
            </a:pPr>
            <a:r>
              <a:rPr sz="2325" b="1">
                <a:solidFill>
                  <a:srgbClr val="DCFA6B"/>
                </a:solidFill>
                <a:latin typeface="Arial"/>
                <a:ea typeface="Arial"/>
                <a:cs typeface="Arial"/>
              </a:rPr>
              <a:t>Camera / Iriun / USB</a:t>
            </a:r>
          </a:p>
        </p:txBody>
      </p:sp>
      <p:sp>
        <p:nvSpPr>
          <p:cNvPr id="6" name="">
            <a:extLst xmlns:a="http://schemas.openxmlformats.org/drawingml/2006/main">
              <a:ext uri="{FF2B5EF4-FFF2-40B4-BE49-F238E27FC236}">
                <a16:creationId xmlns:a16="http://schemas.microsoft.com/office/drawing/2014/main" id="{9DBF1C8F-357C-40F2-BDE0-49712F96E86E}"/>
              </a:ext>
            </a:extLst>
          </p:cNvPr>
          <p:cNvSpPr>
            <a:spLocks xmlns:a="http://schemas.openxmlformats.org/drawingml/2006/main" noGrp="1"/>
          </p:cNvSpPr>
          <p:nvPr/>
        </p:nvSpPr>
        <p:spPr>
          <a:xfrm xmlns:a="http://schemas.openxmlformats.org/drawingml/2006/main">
            <a:off x="552450" y="25431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7" name="Current camera frame">
            <a:extLst xmlns:a="http://schemas.openxmlformats.org/drawingml/2006/main">
              <a:ext uri="{FF2B5EF4-FFF2-40B4-BE49-F238E27FC236}">
                <a16:creationId xmlns:a16="http://schemas.microsoft.com/office/drawing/2014/main" id="{09276CF0-112B-4A4C-BAB0-9B9CEC970ABC}"/>
              </a:ext>
            </a:extLst>
          </p:cNvPr>
          <p:cNvSpPr>
            <a:spLocks xmlns:a="http://schemas.openxmlformats.org/drawingml/2006/main" noGrp="1"/>
          </p:cNvSpPr>
          <p:nvPr/>
        </p:nvSpPr>
        <p:spPr>
          <a:xfrm xmlns:a="http://schemas.openxmlformats.org/drawingml/2006/main">
            <a:off x="723900" y="27051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Current camera frame</a:t>
            </a:r>
          </a:p>
        </p:txBody>
      </p:sp>
      <p:sp>
        <p:nvSpPr>
          <p:cNvPr id="8" name="Browser captures a fresh frame">
            <a:extLst xmlns:a="http://schemas.openxmlformats.org/drawingml/2006/main">
              <a:ext uri="{FF2B5EF4-FFF2-40B4-BE49-F238E27FC236}">
                <a16:creationId xmlns:a16="http://schemas.microsoft.com/office/drawing/2014/main" id="{FF51BD00-2BE7-4E40-8762-B630BC4ED765}"/>
              </a:ext>
            </a:extLst>
          </p:cNvPr>
          <p:cNvSpPr>
            <a:spLocks xmlns:a="http://schemas.openxmlformats.org/drawingml/2006/main" noGrp="1"/>
          </p:cNvSpPr>
          <p:nvPr/>
        </p:nvSpPr>
        <p:spPr>
          <a:xfrm xmlns:a="http://schemas.openxmlformats.org/drawingml/2006/main">
            <a:off x="723900" y="31146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Browser captures a fresh frame</a:t>
            </a:r>
          </a:p>
        </p:txBody>
      </p:sp>
      <p:sp>
        <p:nvSpPr>
          <p:cNvPr id="9" name="">
            <a:extLst xmlns:a="http://schemas.openxmlformats.org/drawingml/2006/main">
              <a:ext uri="{FF2B5EF4-FFF2-40B4-BE49-F238E27FC236}">
                <a16:creationId xmlns:a16="http://schemas.microsoft.com/office/drawing/2014/main" id="{5D66A103-3E44-442E-97A6-2CCE8C43501B}"/>
              </a:ext>
            </a:extLst>
          </p:cNvPr>
          <p:cNvSpPr>
            <a:spLocks xmlns:a="http://schemas.openxmlformats.org/drawingml/2006/main" noGrp="1"/>
          </p:cNvSpPr>
          <p:nvPr/>
        </p:nvSpPr>
        <p:spPr>
          <a:xfrm xmlns:a="http://schemas.openxmlformats.org/drawingml/2006/main">
            <a:off x="4410075" y="25431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0" name="Local detector">
            <a:extLst xmlns:a="http://schemas.openxmlformats.org/drawingml/2006/main">
              <a:ext uri="{FF2B5EF4-FFF2-40B4-BE49-F238E27FC236}">
                <a16:creationId xmlns:a16="http://schemas.microsoft.com/office/drawing/2014/main" id="{3FCA34ED-478D-4965-B2C2-B0995E352528}"/>
              </a:ext>
            </a:extLst>
          </p:cNvPr>
          <p:cNvSpPr>
            <a:spLocks xmlns:a="http://schemas.openxmlformats.org/drawingml/2006/main" noGrp="1"/>
          </p:cNvSpPr>
          <p:nvPr/>
        </p:nvSpPr>
        <p:spPr>
          <a:xfrm xmlns:a="http://schemas.openxmlformats.org/drawingml/2006/main">
            <a:off x="4581525" y="27051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Local detector</a:t>
            </a:r>
          </a:p>
        </p:txBody>
      </p:sp>
      <p:sp>
        <p:nvSpPr>
          <p:cNvPr id="11" name="One request at a time">
            <a:extLst xmlns:a="http://schemas.openxmlformats.org/drawingml/2006/main">
              <a:ext uri="{FF2B5EF4-FFF2-40B4-BE49-F238E27FC236}">
                <a16:creationId xmlns:a16="http://schemas.microsoft.com/office/drawing/2014/main" id="{5A6E01CE-8DF4-4889-8559-6479DECA8309}"/>
              </a:ext>
            </a:extLst>
          </p:cNvPr>
          <p:cNvSpPr>
            <a:spLocks xmlns:a="http://schemas.openxmlformats.org/drawingml/2006/main" noGrp="1"/>
          </p:cNvSpPr>
          <p:nvPr/>
        </p:nvSpPr>
        <p:spPr>
          <a:xfrm xmlns:a="http://schemas.openxmlformats.org/drawingml/2006/main">
            <a:off x="4581525" y="31146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One request at a time</a:t>
            </a:r>
          </a:p>
        </p:txBody>
      </p:sp>
      <p:sp>
        <p:nvSpPr>
          <p:cNvPr id="12" name="">
            <a:extLst xmlns:a="http://schemas.openxmlformats.org/drawingml/2006/main">
              <a:ext uri="{FF2B5EF4-FFF2-40B4-BE49-F238E27FC236}">
                <a16:creationId xmlns:a16="http://schemas.microsoft.com/office/drawing/2014/main" id="{E1791F00-D413-4C58-AD7E-E2C246D1C63D}"/>
              </a:ext>
            </a:extLst>
          </p:cNvPr>
          <p:cNvSpPr>
            <a:spLocks xmlns:a="http://schemas.openxmlformats.org/drawingml/2006/main" noGrp="1"/>
          </p:cNvSpPr>
          <p:nvPr/>
        </p:nvSpPr>
        <p:spPr>
          <a:xfrm xmlns:a="http://schemas.openxmlformats.org/drawingml/2006/main">
            <a:off x="8267700" y="2543175"/>
            <a:ext cx="3371850"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3" name="Result overlay">
            <a:extLst xmlns:a="http://schemas.openxmlformats.org/drawingml/2006/main">
              <a:ext uri="{FF2B5EF4-FFF2-40B4-BE49-F238E27FC236}">
                <a16:creationId xmlns:a16="http://schemas.microsoft.com/office/drawing/2014/main" id="{D138D4D6-5CEB-4C68-AECE-50B7B3944356}"/>
              </a:ext>
            </a:extLst>
          </p:cNvPr>
          <p:cNvSpPr>
            <a:spLocks xmlns:a="http://schemas.openxmlformats.org/drawingml/2006/main" noGrp="1"/>
          </p:cNvSpPr>
          <p:nvPr/>
        </p:nvSpPr>
        <p:spPr>
          <a:xfrm xmlns:a="http://schemas.openxmlformats.org/drawingml/2006/main">
            <a:off x="8439150" y="27051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Result overlay</a:t>
            </a:r>
          </a:p>
        </p:txBody>
      </p:sp>
      <p:sp>
        <p:nvSpPr>
          <p:cNvPr id="14" name="Responsive sampled recognition">
            <a:extLst xmlns:a="http://schemas.openxmlformats.org/drawingml/2006/main">
              <a:ext uri="{FF2B5EF4-FFF2-40B4-BE49-F238E27FC236}">
                <a16:creationId xmlns:a16="http://schemas.microsoft.com/office/drawing/2014/main" id="{0D65CF7F-08BF-4D85-9F7B-FD1B4B2F83CA}"/>
              </a:ext>
            </a:extLst>
          </p:cNvPr>
          <p:cNvSpPr>
            <a:spLocks xmlns:a="http://schemas.openxmlformats.org/drawingml/2006/main" noGrp="1"/>
          </p:cNvSpPr>
          <p:nvPr/>
        </p:nvSpPr>
        <p:spPr>
          <a:xfrm xmlns:a="http://schemas.openxmlformats.org/drawingml/2006/main">
            <a:off x="8439150" y="3114675"/>
            <a:ext cx="302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Responsive sampled recognition</a:t>
            </a:r>
          </a:p>
        </p:txBody>
      </p:sp>
      <p:sp>
        <p:nvSpPr>
          <p:cNvPr id="17" name="Uploaded file: “Analyze every frame”">
            <a:extLst xmlns:a="http://schemas.openxmlformats.org/drawingml/2006/main">
              <a:ext uri="{FF2B5EF4-FFF2-40B4-BE49-F238E27FC236}">
                <a16:creationId xmlns:a16="http://schemas.microsoft.com/office/drawing/2014/main" id="{0219FB9B-4878-4AC0-B0D1-656862096231}"/>
              </a:ext>
            </a:extLst>
          </p:cNvPr>
          <p:cNvSpPr>
            <a:spLocks xmlns:a="http://schemas.openxmlformats.org/drawingml/2006/main" noGrp="1"/>
          </p:cNvSpPr>
          <p:nvPr/>
        </p:nvSpPr>
        <p:spPr>
          <a:xfrm xmlns:a="http://schemas.openxmlformats.org/drawingml/2006/main">
            <a:off x="552450" y="3981450"/>
            <a:ext cx="10763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77D6DD"/>
                </a:solidFill>
                <a:latin typeface="Arial"/>
                <a:ea typeface="Arial"/>
                <a:cs typeface="Arial"/>
              </a:defRPr>
            </a:defPPr>
            <a:lvl1pPr>
              <a:defRPr sz="2325" b="1">
                <a:solidFill>
                  <a:srgbClr val="77D6DD"/>
                </a:solidFill>
                <a:latin typeface="Arial"/>
                <a:ea typeface="Arial"/>
                <a:cs typeface="Arial"/>
              </a:defRPr>
            </a:lvl1pPr>
            <a:lvl2pPr>
              <a:defRPr sz="2325" b="1">
                <a:solidFill>
                  <a:srgbClr val="77D6DD"/>
                </a:solidFill>
                <a:latin typeface="Arial"/>
                <a:ea typeface="Arial"/>
                <a:cs typeface="Arial"/>
              </a:defRPr>
            </a:lvl2pPr>
            <a:lvl3pPr>
              <a:defRPr sz="2325" b="1">
                <a:solidFill>
                  <a:srgbClr val="77D6DD"/>
                </a:solidFill>
                <a:latin typeface="Arial"/>
                <a:ea typeface="Arial"/>
                <a:cs typeface="Arial"/>
              </a:defRPr>
            </a:lvl3pPr>
            <a:lvl4pPr>
              <a:defRPr sz="2325" b="1">
                <a:solidFill>
                  <a:srgbClr val="77D6DD"/>
                </a:solidFill>
                <a:latin typeface="Arial"/>
                <a:ea typeface="Arial"/>
                <a:cs typeface="Arial"/>
              </a:defRPr>
            </a:lvl4pPr>
            <a:lvl5pPr>
              <a:defRPr sz="2325" b="1">
                <a:solidFill>
                  <a:srgbClr val="77D6DD"/>
                </a:solidFill>
                <a:latin typeface="Arial"/>
                <a:ea typeface="Arial"/>
                <a:cs typeface="Arial"/>
              </a:defRPr>
            </a:lvl5pPr>
            <a:lvl6pPr>
              <a:defRPr sz="2325" b="1">
                <a:solidFill>
                  <a:srgbClr val="77D6DD"/>
                </a:solidFill>
                <a:latin typeface="Arial"/>
                <a:ea typeface="Arial"/>
                <a:cs typeface="Arial"/>
              </a:defRPr>
            </a:lvl6pPr>
            <a:lvl7pPr>
              <a:defRPr sz="2325" b="1">
                <a:solidFill>
                  <a:srgbClr val="77D6DD"/>
                </a:solidFill>
                <a:latin typeface="Arial"/>
                <a:ea typeface="Arial"/>
                <a:cs typeface="Arial"/>
              </a:defRPr>
            </a:lvl7pPr>
            <a:lvl8pPr>
              <a:defRPr sz="2325" b="1">
                <a:solidFill>
                  <a:srgbClr val="77D6DD"/>
                </a:solidFill>
                <a:latin typeface="Arial"/>
                <a:ea typeface="Arial"/>
                <a:cs typeface="Arial"/>
              </a:defRPr>
            </a:lvl8pPr>
            <a:lvl9pPr>
              <a:defRPr sz="2325" b="1">
                <a:solidFill>
                  <a:srgbClr val="77D6DD"/>
                </a:solidFill>
                <a:latin typeface="Arial"/>
                <a:ea typeface="Arial"/>
                <a:cs typeface="Arial"/>
              </a:defRPr>
            </a:lvl9pPr>
          </a:lstStyle>
          <a:p xmlns:a="http://schemas.openxmlformats.org/drawingml/2006/main">
            <a:pPr>
              <a:defRPr sz="2325" b="1">
                <a:solidFill>
                  <a:srgbClr val="77D6DD"/>
                </a:solidFill>
                <a:latin typeface="Arial"/>
                <a:ea typeface="Arial"/>
                <a:cs typeface="Arial"/>
              </a:defRPr>
            </a:pPr>
            <a:r>
              <a:rPr sz="2325" b="1">
                <a:solidFill>
                  <a:srgbClr val="77D6DD"/>
                </a:solidFill>
                <a:latin typeface="Arial"/>
                <a:ea typeface="Arial"/>
                <a:cs typeface="Arial"/>
              </a:rPr>
              <a:t>Uploaded file: “Analyze every frame”</a:t>
            </a:r>
          </a:p>
        </p:txBody>
      </p:sp>
      <p:sp>
        <p:nvSpPr>
          <p:cNvPr id="18" name="">
            <a:extLst xmlns:a="http://schemas.openxmlformats.org/drawingml/2006/main">
              <a:ext uri="{FF2B5EF4-FFF2-40B4-BE49-F238E27FC236}">
                <a16:creationId xmlns:a16="http://schemas.microsoft.com/office/drawing/2014/main" id="{96E1B581-FDBF-4FA2-86B9-1CEB31A6957D}"/>
              </a:ext>
            </a:extLst>
          </p:cNvPr>
          <p:cNvSpPr>
            <a:spLocks xmlns:a="http://schemas.openxmlformats.org/drawingml/2006/main" noGrp="1"/>
          </p:cNvSpPr>
          <p:nvPr/>
        </p:nvSpPr>
        <p:spPr>
          <a:xfrm xmlns:a="http://schemas.openxmlformats.org/drawingml/2006/main">
            <a:off x="552450" y="45624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19" name="Decode next frame">
            <a:extLst xmlns:a="http://schemas.openxmlformats.org/drawingml/2006/main">
              <a:ext uri="{FF2B5EF4-FFF2-40B4-BE49-F238E27FC236}">
                <a16:creationId xmlns:a16="http://schemas.microsoft.com/office/drawing/2014/main" id="{D8EFD80C-678D-4FC0-9E3A-6014A39F11B1}"/>
              </a:ext>
            </a:extLst>
          </p:cNvPr>
          <p:cNvSpPr>
            <a:spLocks xmlns:a="http://schemas.openxmlformats.org/drawingml/2006/main" noGrp="1"/>
          </p:cNvSpPr>
          <p:nvPr/>
        </p:nvSpPr>
        <p:spPr>
          <a:xfrm xmlns:a="http://schemas.openxmlformats.org/drawingml/2006/main">
            <a:off x="723900" y="47244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Decode next frame</a:t>
            </a:r>
          </a:p>
        </p:txBody>
      </p:sp>
      <p:sp>
        <p:nvSpPr>
          <p:cNvPr id="20" name="FullVideoAnalysis.tsx">
            <a:extLst xmlns:a="http://schemas.openxmlformats.org/drawingml/2006/main">
              <a:ext uri="{FF2B5EF4-FFF2-40B4-BE49-F238E27FC236}">
                <a16:creationId xmlns:a16="http://schemas.microsoft.com/office/drawing/2014/main" id="{8B9B7E76-9FB9-4675-897B-0068963F32F0}"/>
              </a:ext>
            </a:extLst>
          </p:cNvPr>
          <p:cNvSpPr>
            <a:spLocks xmlns:a="http://schemas.openxmlformats.org/drawingml/2006/main" noGrp="1"/>
          </p:cNvSpPr>
          <p:nvPr/>
        </p:nvSpPr>
        <p:spPr>
          <a:xfrm xmlns:a="http://schemas.openxmlformats.org/drawingml/2006/main">
            <a:off x="723900" y="51339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FullVideoAnalysis.tsx</a:t>
            </a:r>
          </a:p>
        </p:txBody>
      </p:sp>
      <p:sp>
        <p:nvSpPr>
          <p:cNvPr id="21" name="">
            <a:extLst xmlns:a="http://schemas.openxmlformats.org/drawingml/2006/main">
              <a:ext uri="{FF2B5EF4-FFF2-40B4-BE49-F238E27FC236}">
                <a16:creationId xmlns:a16="http://schemas.microsoft.com/office/drawing/2014/main" id="{FD7689F8-D81C-4F33-B85C-9786AACE6EDB}"/>
              </a:ext>
            </a:extLst>
          </p:cNvPr>
          <p:cNvSpPr>
            <a:spLocks xmlns:a="http://schemas.openxmlformats.org/drawingml/2006/main" noGrp="1"/>
          </p:cNvSpPr>
          <p:nvPr/>
        </p:nvSpPr>
        <p:spPr>
          <a:xfrm xmlns:a="http://schemas.openxmlformats.org/drawingml/2006/main">
            <a:off x="4410075" y="4562475"/>
            <a:ext cx="3171825"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2" name="Wait for inference">
            <a:extLst xmlns:a="http://schemas.openxmlformats.org/drawingml/2006/main">
              <a:ext uri="{FF2B5EF4-FFF2-40B4-BE49-F238E27FC236}">
                <a16:creationId xmlns:a16="http://schemas.microsoft.com/office/drawing/2014/main" id="{3305218A-CC40-41D5-A935-804248FE7B20}"/>
              </a:ext>
            </a:extLst>
          </p:cNvPr>
          <p:cNvSpPr>
            <a:spLocks xmlns:a="http://schemas.openxmlformats.org/drawingml/2006/main" noGrp="1"/>
          </p:cNvSpPr>
          <p:nvPr/>
        </p:nvSpPr>
        <p:spPr>
          <a:xfrm xmlns:a="http://schemas.openxmlformats.org/drawingml/2006/main">
            <a:off x="4581525" y="4724400"/>
            <a:ext cx="2828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Wait for inference</a:t>
            </a:r>
          </a:p>
        </p:txBody>
      </p:sp>
      <p:sp>
        <p:nvSpPr>
          <p:cNvPr id="23" name="video_analysis.py">
            <a:extLst xmlns:a="http://schemas.openxmlformats.org/drawingml/2006/main">
              <a:ext uri="{FF2B5EF4-FFF2-40B4-BE49-F238E27FC236}">
                <a16:creationId xmlns:a16="http://schemas.microsoft.com/office/drawing/2014/main" id="{A17F52AA-20EF-45A0-8A42-887621A7D662}"/>
              </a:ext>
            </a:extLst>
          </p:cNvPr>
          <p:cNvSpPr>
            <a:spLocks xmlns:a="http://schemas.openxmlformats.org/drawingml/2006/main" noGrp="1"/>
          </p:cNvSpPr>
          <p:nvPr/>
        </p:nvSpPr>
        <p:spPr>
          <a:xfrm xmlns:a="http://schemas.openxmlformats.org/drawingml/2006/main">
            <a:off x="4581525" y="5133975"/>
            <a:ext cx="28289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video_analysis.py</a:t>
            </a:r>
          </a:p>
        </p:txBody>
      </p:sp>
      <p:sp>
        <p:nvSpPr>
          <p:cNvPr id="24" name="">
            <a:extLst xmlns:a="http://schemas.openxmlformats.org/drawingml/2006/main">
              <a:ext uri="{FF2B5EF4-FFF2-40B4-BE49-F238E27FC236}">
                <a16:creationId xmlns:a16="http://schemas.microsoft.com/office/drawing/2014/main" id="{9294CB46-1FD8-4D40-B4E5-49BD80F01BA9}"/>
              </a:ext>
            </a:extLst>
          </p:cNvPr>
          <p:cNvSpPr>
            <a:spLocks xmlns:a="http://schemas.openxmlformats.org/drawingml/2006/main" noGrp="1"/>
          </p:cNvSpPr>
          <p:nvPr/>
        </p:nvSpPr>
        <p:spPr>
          <a:xfrm xmlns:a="http://schemas.openxmlformats.org/drawingml/2006/main">
            <a:off x="8267700" y="4562475"/>
            <a:ext cx="3371850" cy="990600"/>
          </a:xfrm>
          <a:prstGeom xmlns:a="http://schemas.openxmlformats.org/drawingml/2006/main" prst="rect">
            <a:avLst/>
          </a:prstGeom>
          <a:solidFill xmlns:a="http://schemas.openxmlformats.org/drawingml/2006/main">
            <a:srgbClr val="142830"/>
          </a:solidFill>
          <a:ln xmlns:a="http://schemas.openxmlformats.org/drawingml/2006/main" w="9525">
            <a:solidFill>
              <a:srgbClr val="36515B"/>
            </a:solidFill>
          </a:ln>
        </p:spPr>
      </p:sp>
      <p:sp>
        <p:nvSpPr>
          <p:cNvPr id="25" name="Continue sequentially">
            <a:extLst xmlns:a="http://schemas.openxmlformats.org/drawingml/2006/main">
              <a:ext uri="{FF2B5EF4-FFF2-40B4-BE49-F238E27FC236}">
                <a16:creationId xmlns:a16="http://schemas.microsoft.com/office/drawing/2014/main" id="{AF4F2734-65B0-4059-976D-7F0ACB83AEB9}"/>
              </a:ext>
            </a:extLst>
          </p:cNvPr>
          <p:cNvSpPr>
            <a:spLocks xmlns:a="http://schemas.openxmlformats.org/drawingml/2006/main" noGrp="1"/>
          </p:cNvSpPr>
          <p:nvPr/>
        </p:nvSpPr>
        <p:spPr>
          <a:xfrm xmlns:a="http://schemas.openxmlformats.org/drawingml/2006/main">
            <a:off x="8439150" y="4724400"/>
            <a:ext cx="3028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Continue sequentially</a:t>
            </a:r>
          </a:p>
        </p:txBody>
      </p:sp>
      <p:sp>
        <p:nvSpPr>
          <p:cNvPr id="26" name="Busy retry retains the same frame">
            <a:extLst xmlns:a="http://schemas.openxmlformats.org/drawingml/2006/main">
              <a:ext uri="{FF2B5EF4-FFF2-40B4-BE49-F238E27FC236}">
                <a16:creationId xmlns:a16="http://schemas.microsoft.com/office/drawing/2014/main" id="{362E3AA5-D152-49C7-805C-DDEF361E03D6}"/>
              </a:ext>
            </a:extLst>
          </p:cNvPr>
          <p:cNvSpPr>
            <a:spLocks xmlns:a="http://schemas.openxmlformats.org/drawingml/2006/main" noGrp="1"/>
          </p:cNvSpPr>
          <p:nvPr/>
        </p:nvSpPr>
        <p:spPr>
          <a:xfrm xmlns:a="http://schemas.openxmlformats.org/drawingml/2006/main">
            <a:off x="8439150" y="5133975"/>
            <a:ext cx="302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5BDC6"/>
                </a:solidFill>
                <a:latin typeface="Arial"/>
                <a:ea typeface="Arial"/>
                <a:cs typeface="Arial"/>
              </a:defRPr>
            </a:defPPr>
            <a:lvl1pPr>
              <a:defRPr sz="1500" b="0">
                <a:solidFill>
                  <a:srgbClr val="A5BDC6"/>
                </a:solidFill>
                <a:latin typeface="Arial"/>
                <a:ea typeface="Arial"/>
                <a:cs typeface="Arial"/>
              </a:defRPr>
            </a:lvl1pPr>
            <a:lvl2pPr>
              <a:defRPr sz="1500" b="0">
                <a:solidFill>
                  <a:srgbClr val="A5BDC6"/>
                </a:solidFill>
                <a:latin typeface="Arial"/>
                <a:ea typeface="Arial"/>
                <a:cs typeface="Arial"/>
              </a:defRPr>
            </a:lvl2pPr>
            <a:lvl3pPr>
              <a:defRPr sz="1500" b="0">
                <a:solidFill>
                  <a:srgbClr val="A5BDC6"/>
                </a:solidFill>
                <a:latin typeface="Arial"/>
                <a:ea typeface="Arial"/>
                <a:cs typeface="Arial"/>
              </a:defRPr>
            </a:lvl3pPr>
            <a:lvl4pPr>
              <a:defRPr sz="1500" b="0">
                <a:solidFill>
                  <a:srgbClr val="A5BDC6"/>
                </a:solidFill>
                <a:latin typeface="Arial"/>
                <a:ea typeface="Arial"/>
                <a:cs typeface="Arial"/>
              </a:defRPr>
            </a:lvl4pPr>
            <a:lvl5pPr>
              <a:defRPr sz="1500" b="0">
                <a:solidFill>
                  <a:srgbClr val="A5BDC6"/>
                </a:solidFill>
                <a:latin typeface="Arial"/>
                <a:ea typeface="Arial"/>
                <a:cs typeface="Arial"/>
              </a:defRPr>
            </a:lvl5pPr>
            <a:lvl6pPr>
              <a:defRPr sz="1500" b="0">
                <a:solidFill>
                  <a:srgbClr val="A5BDC6"/>
                </a:solidFill>
                <a:latin typeface="Arial"/>
                <a:ea typeface="Arial"/>
                <a:cs typeface="Arial"/>
              </a:defRPr>
            </a:lvl6pPr>
            <a:lvl7pPr>
              <a:defRPr sz="1500" b="0">
                <a:solidFill>
                  <a:srgbClr val="A5BDC6"/>
                </a:solidFill>
                <a:latin typeface="Arial"/>
                <a:ea typeface="Arial"/>
                <a:cs typeface="Arial"/>
              </a:defRPr>
            </a:lvl7pPr>
            <a:lvl8pPr>
              <a:defRPr sz="1500" b="0">
                <a:solidFill>
                  <a:srgbClr val="A5BDC6"/>
                </a:solidFill>
                <a:latin typeface="Arial"/>
                <a:ea typeface="Arial"/>
                <a:cs typeface="Arial"/>
              </a:defRPr>
            </a:lvl8pPr>
            <a:lvl9pPr>
              <a:defRPr sz="1500" b="0">
                <a:solidFill>
                  <a:srgbClr val="A5BDC6"/>
                </a:solidFill>
                <a:latin typeface="Arial"/>
                <a:ea typeface="Arial"/>
                <a:cs typeface="Arial"/>
              </a:defRPr>
            </a:lvl9pPr>
          </a:lstStyle>
          <a:p xmlns:a="http://schemas.openxmlformats.org/drawingml/2006/main">
            <a:pPr>
              <a:defRPr sz="1500" b="0">
                <a:solidFill>
                  <a:srgbClr val="A5BDC6"/>
                </a:solidFill>
                <a:latin typeface="Arial"/>
                <a:ea typeface="Arial"/>
                <a:cs typeface="Arial"/>
              </a:defRPr>
            </a:pPr>
            <a:r>
              <a:rPr sz="1500" b="0">
                <a:solidFill>
                  <a:srgbClr val="A5BDC6"/>
                </a:solidFill>
                <a:latin typeface="Arial"/>
                <a:ea typeface="Arial"/>
                <a:cs typeface="Arial"/>
              </a:rPr>
              <a:t>Busy retry retains the same frame</a:t>
            </a:r>
          </a:p>
        </p:txBody>
      </p:sp>
      <p:sp>
        <p:nvSpPr>
          <p:cNvPr id="29" name="Complete coverage can run slower than playback. A ">
            <a:extLst xmlns:a="http://schemas.openxmlformats.org/drawingml/2006/main">
              <a:ext uri="{FF2B5EF4-FFF2-40B4-BE49-F238E27FC236}">
                <a16:creationId xmlns:a16="http://schemas.microsoft.com/office/drawing/2014/main" id="{6A66C075-810D-47CE-91DF-0D3E15B56862}"/>
              </a:ext>
            </a:extLst>
          </p:cNvPr>
          <p:cNvSpPr>
            <a:spLocks xmlns:a="http://schemas.openxmlformats.org/drawingml/2006/main" noGrp="1"/>
          </p:cNvSpPr>
          <p:nvPr/>
        </p:nvSpPr>
        <p:spPr>
          <a:xfrm xmlns:a="http://schemas.openxmlformats.org/drawingml/2006/main">
            <a:off x="552450" y="590550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Complete coverage can run slower than playback. A heavy model reduces throughput.</a:t>
            </a:r>
          </a:p>
        </p:txBody>
      </p:sp>
    </p:spTree>
    <p:extLst>
      <p:ext uri="{BB962C8B-B14F-4D97-AF65-F5344CB8AC3E}">
        <p14:creationId xmlns:p14="http://schemas.microsoft.com/office/powerpoint/2010/main" val="749739739"/>
      </p:ext>
    </p:extLst>
  </p:cSld>
</p:sld>
</file>

<file path=ppt/slides/slide6.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8" name="THE LEARNING WORKFLOW">
            <a:extLst xmlns:a="http://schemas.openxmlformats.org/drawingml/2006/main">
              <a:ext uri="{FF2B5EF4-FFF2-40B4-BE49-F238E27FC236}">
                <a16:creationId xmlns:a16="http://schemas.microsoft.com/office/drawing/2014/main" id="{828178B9-9A7F-426A-9281-9747C6FB58AC}"/>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THE LEARNING WORKFLOW</a:t>
            </a:r>
          </a:p>
        </p:txBody>
      </p:sp>
      <p:sp>
        <p:nvSpPr>
          <p:cNvPr id="2" name="How human review improves later models">
            <a:extLst xmlns:a="http://schemas.openxmlformats.org/drawingml/2006/main">
              <a:ext uri="{FF2B5EF4-FFF2-40B4-BE49-F238E27FC236}">
                <a16:creationId xmlns:a16="http://schemas.microsoft.com/office/drawing/2014/main" id="{3F694B54-FB8F-4A49-8197-CD02DEC4C03D}"/>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How human review improves later models</a:t>
            </a:r>
          </a:p>
        </p:txBody>
      </p:sp>
      <p:sp>
        <p:nvSpPr>
          <p:cNvPr id="3" name="RoadScan / AIEP capstone">
            <a:extLst xmlns:a="http://schemas.openxmlformats.org/drawingml/2006/main">
              <a:ext uri="{FF2B5EF4-FFF2-40B4-BE49-F238E27FC236}">
                <a16:creationId xmlns:a16="http://schemas.microsoft.com/office/drawing/2014/main" id="{F8A927DD-D7C4-4A5B-AF8A-AD523054B552}"/>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6">
            <a:extLst xmlns:a="http://schemas.openxmlformats.org/drawingml/2006/main">
              <a:ext uri="{FF2B5EF4-FFF2-40B4-BE49-F238E27FC236}">
                <a16:creationId xmlns:a16="http://schemas.microsoft.com/office/drawing/2014/main" id="{91A1BF52-322E-4070-8F1B-E59142E31B13}"/>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06</a:t>
            </a:r>
          </a:p>
        </p:txBody>
      </p:sp>
      <p:pic>
        <p:nvPicPr>
          <p:cNvPr id="5" name="">
            <a:extLst xmlns:a="http://schemas.openxmlformats.org/drawingml/2006/main">
              <a:ext uri="{FF2B5EF4-FFF2-40B4-BE49-F238E27FC236}">
                <a16:creationId xmlns:a16="http://schemas.microsoft.com/office/drawing/2014/main" id="{62521FAF-3975-4636-848D-4EC5AD577799}"/>
              </a:ext>
            </a:extLst>
          </p:cNvPr>
          <p:cNvPicPr>
            <a:picLocks xmlns:a="http://schemas.openxmlformats.org/drawingml/2006/main" noChangeAspect="1"/>
          </p:cNvPicPr>
          <p:nvPr/>
        </p:nvPicPr>
        <p:blipFill>
          <a:blip xmlns:r="http://schemas.openxmlformats.org/officeDocument/2006/relationships" xmlns:a="http://schemas.openxmlformats.org/drawingml/2006/main" r:embed="Rd8ba9a77ab304527"/>
          <a:srcRect xmlns:a="http://schemas.openxmlformats.org/drawingml/2006/main" l="17700" t="29000" r="1700" b="28000"/>
          <a:stretch xmlns:a="http://schemas.openxmlformats.org/drawingml/2006/main"/>
        </p:blipFill>
        <p:spPr>
          <a:xfrm xmlns:a="http://schemas.openxmlformats.org/drawingml/2006/main">
            <a:off x="552450" y="1866900"/>
            <a:ext cx="11087100" cy="3190875"/>
          </a:xfrm>
          <a:prstGeom xmlns:a="http://schemas.openxmlformats.org/drawingml/2006/main" prst="rect">
            <a:avLst/>
          </a:prstGeom>
        </p:spPr>
      </p:pic>
      <p:sp>
        <p:nvSpPr>
          <p:cNvPr id="6" name="Saved corrections leave the active model unchanged">
            <a:extLst xmlns:a="http://schemas.openxmlformats.org/drawingml/2006/main">
              <a:ext uri="{FF2B5EF4-FFF2-40B4-BE49-F238E27FC236}">
                <a16:creationId xmlns:a16="http://schemas.microsoft.com/office/drawing/2014/main" id="{CD5DD9B6-2999-4E1D-8FF2-A75BB16F4766}"/>
              </a:ext>
            </a:extLst>
          </p:cNvPr>
          <p:cNvSpPr>
            <a:spLocks xmlns:a="http://schemas.openxmlformats.org/drawingml/2006/main" noGrp="1"/>
          </p:cNvSpPr>
          <p:nvPr/>
        </p:nvSpPr>
        <p:spPr>
          <a:xfrm xmlns:a="http://schemas.openxmlformats.org/drawingml/2006/main">
            <a:off x="552450" y="5305425"/>
            <a:ext cx="11049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DCFA6B"/>
                </a:solidFill>
                <a:latin typeface="Arial"/>
                <a:ea typeface="Arial"/>
                <a:cs typeface="Arial"/>
              </a:defRPr>
            </a:defPPr>
            <a:lvl1pPr>
              <a:defRPr sz="2325" b="1">
                <a:solidFill>
                  <a:srgbClr val="DCFA6B"/>
                </a:solidFill>
                <a:latin typeface="Arial"/>
                <a:ea typeface="Arial"/>
                <a:cs typeface="Arial"/>
              </a:defRPr>
            </a:lvl1pPr>
            <a:lvl2pPr>
              <a:defRPr sz="2325" b="1">
                <a:solidFill>
                  <a:srgbClr val="DCFA6B"/>
                </a:solidFill>
                <a:latin typeface="Arial"/>
                <a:ea typeface="Arial"/>
                <a:cs typeface="Arial"/>
              </a:defRPr>
            </a:lvl2pPr>
            <a:lvl3pPr>
              <a:defRPr sz="2325" b="1">
                <a:solidFill>
                  <a:srgbClr val="DCFA6B"/>
                </a:solidFill>
                <a:latin typeface="Arial"/>
                <a:ea typeface="Arial"/>
                <a:cs typeface="Arial"/>
              </a:defRPr>
            </a:lvl3pPr>
            <a:lvl4pPr>
              <a:defRPr sz="2325" b="1">
                <a:solidFill>
                  <a:srgbClr val="DCFA6B"/>
                </a:solidFill>
                <a:latin typeface="Arial"/>
                <a:ea typeface="Arial"/>
                <a:cs typeface="Arial"/>
              </a:defRPr>
            </a:lvl4pPr>
            <a:lvl5pPr>
              <a:defRPr sz="2325" b="1">
                <a:solidFill>
                  <a:srgbClr val="DCFA6B"/>
                </a:solidFill>
                <a:latin typeface="Arial"/>
                <a:ea typeface="Arial"/>
                <a:cs typeface="Arial"/>
              </a:defRPr>
            </a:lvl5pPr>
            <a:lvl6pPr>
              <a:defRPr sz="2325" b="1">
                <a:solidFill>
                  <a:srgbClr val="DCFA6B"/>
                </a:solidFill>
                <a:latin typeface="Arial"/>
                <a:ea typeface="Arial"/>
                <a:cs typeface="Arial"/>
              </a:defRPr>
            </a:lvl6pPr>
            <a:lvl7pPr>
              <a:defRPr sz="2325" b="1">
                <a:solidFill>
                  <a:srgbClr val="DCFA6B"/>
                </a:solidFill>
                <a:latin typeface="Arial"/>
                <a:ea typeface="Arial"/>
                <a:cs typeface="Arial"/>
              </a:defRPr>
            </a:lvl7pPr>
            <a:lvl8pPr>
              <a:defRPr sz="2325" b="1">
                <a:solidFill>
                  <a:srgbClr val="DCFA6B"/>
                </a:solidFill>
                <a:latin typeface="Arial"/>
                <a:ea typeface="Arial"/>
                <a:cs typeface="Arial"/>
              </a:defRPr>
            </a:lvl8pPr>
            <a:lvl9pPr>
              <a:defRPr sz="2325" b="1">
                <a:solidFill>
                  <a:srgbClr val="DCFA6B"/>
                </a:solidFill>
                <a:latin typeface="Arial"/>
                <a:ea typeface="Arial"/>
                <a:cs typeface="Arial"/>
              </a:defRPr>
            </a:lvl9pPr>
          </a:lstStyle>
          <a:p xmlns:a="http://schemas.openxmlformats.org/drawingml/2006/main">
            <a:pPr>
              <a:defRPr sz="2325" b="1">
                <a:solidFill>
                  <a:srgbClr val="DCFA6B"/>
                </a:solidFill>
                <a:latin typeface="Arial"/>
                <a:ea typeface="Arial"/>
                <a:cs typeface="Arial"/>
              </a:defRPr>
            </a:pPr>
            <a:r>
              <a:rPr sz="2325" b="1">
                <a:solidFill>
                  <a:srgbClr val="DCFA6B"/>
                </a:solidFill>
                <a:latin typeface="Arial"/>
                <a:ea typeface="Arial"/>
                <a:cs typeface="Arial"/>
              </a:rPr>
              <a:t>Saved corrections leave the active model unchanged.</a:t>
            </a:r>
          </a:p>
        </p:txBody>
      </p:sp>
      <p:sp>
        <p:nvSpPr>
          <p:cNvPr id="7" name="Approved export   /   separate training   /   held">
            <a:extLst xmlns:a="http://schemas.openxmlformats.org/drawingml/2006/main">
              <a:ext uri="{FF2B5EF4-FFF2-40B4-BE49-F238E27FC236}">
                <a16:creationId xmlns:a16="http://schemas.microsoft.com/office/drawing/2014/main" id="{2A537069-2F1E-4738-A7D9-16BC4359CE89}"/>
              </a:ext>
            </a:extLst>
          </p:cNvPr>
          <p:cNvSpPr>
            <a:spLocks xmlns:a="http://schemas.openxmlformats.org/drawingml/2006/main" noGrp="1"/>
          </p:cNvSpPr>
          <p:nvPr/>
        </p:nvSpPr>
        <p:spPr>
          <a:xfrm xmlns:a="http://schemas.openxmlformats.org/drawingml/2006/main">
            <a:off x="552450" y="5810250"/>
            <a:ext cx="1104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Approved export   /   separate training   /   held-out test   /   deliberate import</a:t>
            </a:r>
          </a:p>
        </p:txBody>
      </p:sp>
    </p:spTree>
    <p:extLst>
      <p:ext uri="{BB962C8B-B14F-4D97-AF65-F5344CB8AC3E}">
        <p14:creationId xmlns:p14="http://schemas.microsoft.com/office/powerpoint/2010/main" val="342570890"/>
      </p:ext>
    </p:extLst>
  </p:cSld>
</p:sld>
</file>

<file path=ppt/slides/slide7.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5" name="RESULTS AND CONCLUSION">
            <a:extLst xmlns:a="http://schemas.openxmlformats.org/drawingml/2006/main">
              <a:ext uri="{FF2B5EF4-FFF2-40B4-BE49-F238E27FC236}">
                <a16:creationId xmlns:a16="http://schemas.microsoft.com/office/drawing/2014/main" id="{0B2ED3EE-62A8-4C2B-8A02-0F34561BAB52}"/>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RESULTS AND CONCLUSION</a:t>
            </a:r>
          </a:p>
        </p:txBody>
      </p:sp>
      <p:sp>
        <p:nvSpPr>
          <p:cNvPr id="2" name="A working system with clear next tests">
            <a:extLst xmlns:a="http://schemas.openxmlformats.org/drawingml/2006/main">
              <a:ext uri="{FF2B5EF4-FFF2-40B4-BE49-F238E27FC236}">
                <a16:creationId xmlns:a16="http://schemas.microsoft.com/office/drawing/2014/main" id="{B273D7D4-213A-48EA-807A-FA8757734CCF}"/>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working system with clear next tests</a:t>
            </a:r>
          </a:p>
        </p:txBody>
      </p:sp>
      <p:sp>
        <p:nvSpPr>
          <p:cNvPr id="3" name="RoadScan / AIEP capstone">
            <a:extLst xmlns:a="http://schemas.openxmlformats.org/drawingml/2006/main">
              <a:ext uri="{FF2B5EF4-FFF2-40B4-BE49-F238E27FC236}">
                <a16:creationId xmlns:a16="http://schemas.microsoft.com/office/drawing/2014/main" id="{24E54020-DE36-4387-86DB-96D44FE52122}"/>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7">
            <a:extLst xmlns:a="http://schemas.openxmlformats.org/drawingml/2006/main">
              <a:ext uri="{FF2B5EF4-FFF2-40B4-BE49-F238E27FC236}">
                <a16:creationId xmlns:a16="http://schemas.microsoft.com/office/drawing/2014/main" id="{72D6D1F8-690E-41DE-A699-ED01996F4277}"/>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07</a:t>
            </a:r>
          </a:p>
        </p:txBody>
      </p:sp>
      <p:sp>
        <p:nvSpPr>
          <p:cNvPr id="5" name="221">
            <a:extLst xmlns:a="http://schemas.openxmlformats.org/drawingml/2006/main">
              <a:ext uri="{FF2B5EF4-FFF2-40B4-BE49-F238E27FC236}">
                <a16:creationId xmlns:a16="http://schemas.microsoft.com/office/drawing/2014/main" id="{B360466D-61B0-48D2-96B0-E4A1814B2535}"/>
              </a:ext>
            </a:extLst>
          </p:cNvPr>
          <p:cNvSpPr>
            <a:spLocks xmlns:a="http://schemas.openxmlformats.org/drawingml/2006/main" noGrp="1"/>
          </p:cNvSpPr>
          <p:nvPr/>
        </p:nvSpPr>
        <p:spPr>
          <a:xfrm xmlns:a="http://schemas.openxmlformats.org/drawingml/2006/main">
            <a:off x="552450"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221</a:t>
            </a:r>
          </a:p>
        </p:txBody>
      </p:sp>
      <p:sp>
        <p:nvSpPr>
          <p:cNvPr id="6" name="backend tests">
            <a:extLst xmlns:a="http://schemas.openxmlformats.org/drawingml/2006/main">
              <a:ext uri="{FF2B5EF4-FFF2-40B4-BE49-F238E27FC236}">
                <a16:creationId xmlns:a16="http://schemas.microsoft.com/office/drawing/2014/main" id="{C97810CA-184D-4F73-8BDA-80DCA1D88FB8}"/>
              </a:ext>
            </a:extLst>
          </p:cNvPr>
          <p:cNvSpPr>
            <a:spLocks xmlns:a="http://schemas.openxmlformats.org/drawingml/2006/main" noGrp="1"/>
          </p:cNvSpPr>
          <p:nvPr/>
        </p:nvSpPr>
        <p:spPr>
          <a:xfrm xmlns:a="http://schemas.openxmlformats.org/drawingml/2006/main">
            <a:off x="552450"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backend tests</a:t>
            </a:r>
          </a:p>
        </p:txBody>
      </p:sp>
      <p:sp>
        <p:nvSpPr>
          <p:cNvPr id="7" name="24">
            <a:extLst xmlns:a="http://schemas.openxmlformats.org/drawingml/2006/main">
              <a:ext uri="{FF2B5EF4-FFF2-40B4-BE49-F238E27FC236}">
                <a16:creationId xmlns:a16="http://schemas.microsoft.com/office/drawing/2014/main" id="{54D1B746-FADE-467E-A834-C98574402521}"/>
              </a:ext>
            </a:extLst>
          </p:cNvPr>
          <p:cNvSpPr>
            <a:spLocks xmlns:a="http://schemas.openxmlformats.org/drawingml/2006/main" noGrp="1"/>
          </p:cNvSpPr>
          <p:nvPr/>
        </p:nvSpPr>
        <p:spPr>
          <a:xfrm xmlns:a="http://schemas.openxmlformats.org/drawingml/2006/main">
            <a:off x="4429125"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24</a:t>
            </a:r>
          </a:p>
        </p:txBody>
      </p:sp>
      <p:sp>
        <p:nvSpPr>
          <p:cNvPr id="8" name="frontend tests">
            <a:extLst xmlns:a="http://schemas.openxmlformats.org/drawingml/2006/main">
              <a:ext uri="{FF2B5EF4-FFF2-40B4-BE49-F238E27FC236}">
                <a16:creationId xmlns:a16="http://schemas.microsoft.com/office/drawing/2014/main" id="{306DEFA8-F7FD-4AD7-A0DB-29469303F6B2}"/>
              </a:ext>
            </a:extLst>
          </p:cNvPr>
          <p:cNvSpPr>
            <a:spLocks xmlns:a="http://schemas.openxmlformats.org/drawingml/2006/main" noGrp="1"/>
          </p:cNvSpPr>
          <p:nvPr/>
        </p:nvSpPr>
        <p:spPr>
          <a:xfrm xmlns:a="http://schemas.openxmlformats.org/drawingml/2006/main">
            <a:off x="4429125"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frontend tests</a:t>
            </a:r>
          </a:p>
        </p:txBody>
      </p:sp>
      <p:sp>
        <p:nvSpPr>
          <p:cNvPr id="9" name="67">
            <a:extLst xmlns:a="http://schemas.openxmlformats.org/drawingml/2006/main">
              <a:ext uri="{FF2B5EF4-FFF2-40B4-BE49-F238E27FC236}">
                <a16:creationId xmlns:a16="http://schemas.microsoft.com/office/drawing/2014/main" id="{ECE6BA10-87CF-4CB7-97E0-13DC2962B7AB}"/>
              </a:ext>
            </a:extLst>
          </p:cNvPr>
          <p:cNvSpPr>
            <a:spLocks xmlns:a="http://schemas.openxmlformats.org/drawingml/2006/main" noGrp="1"/>
          </p:cNvSpPr>
          <p:nvPr/>
        </p:nvSpPr>
        <p:spPr>
          <a:xfrm xmlns:a="http://schemas.openxmlformats.org/drawingml/2006/main">
            <a:off x="8286750" y="2047875"/>
            <a:ext cx="304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DCFA6B"/>
                </a:solidFill>
                <a:latin typeface="Arial"/>
                <a:ea typeface="Arial"/>
                <a:cs typeface="Arial"/>
              </a:defRPr>
            </a:defPPr>
            <a:lvl1pPr>
              <a:defRPr sz="6600" b="1">
                <a:solidFill>
                  <a:srgbClr val="DCFA6B"/>
                </a:solidFill>
                <a:latin typeface="Arial"/>
                <a:ea typeface="Arial"/>
                <a:cs typeface="Arial"/>
              </a:defRPr>
            </a:lvl1pPr>
            <a:lvl2pPr>
              <a:defRPr sz="6600" b="1">
                <a:solidFill>
                  <a:srgbClr val="DCFA6B"/>
                </a:solidFill>
                <a:latin typeface="Arial"/>
                <a:ea typeface="Arial"/>
                <a:cs typeface="Arial"/>
              </a:defRPr>
            </a:lvl2pPr>
            <a:lvl3pPr>
              <a:defRPr sz="6600" b="1">
                <a:solidFill>
                  <a:srgbClr val="DCFA6B"/>
                </a:solidFill>
                <a:latin typeface="Arial"/>
                <a:ea typeface="Arial"/>
                <a:cs typeface="Arial"/>
              </a:defRPr>
            </a:lvl3pPr>
            <a:lvl4pPr>
              <a:defRPr sz="6600" b="1">
                <a:solidFill>
                  <a:srgbClr val="DCFA6B"/>
                </a:solidFill>
                <a:latin typeface="Arial"/>
                <a:ea typeface="Arial"/>
                <a:cs typeface="Arial"/>
              </a:defRPr>
            </a:lvl4pPr>
            <a:lvl5pPr>
              <a:defRPr sz="6600" b="1">
                <a:solidFill>
                  <a:srgbClr val="DCFA6B"/>
                </a:solidFill>
                <a:latin typeface="Arial"/>
                <a:ea typeface="Arial"/>
                <a:cs typeface="Arial"/>
              </a:defRPr>
            </a:lvl5pPr>
            <a:lvl6pPr>
              <a:defRPr sz="6600" b="1">
                <a:solidFill>
                  <a:srgbClr val="DCFA6B"/>
                </a:solidFill>
                <a:latin typeface="Arial"/>
                <a:ea typeface="Arial"/>
                <a:cs typeface="Arial"/>
              </a:defRPr>
            </a:lvl6pPr>
            <a:lvl7pPr>
              <a:defRPr sz="6600" b="1">
                <a:solidFill>
                  <a:srgbClr val="DCFA6B"/>
                </a:solidFill>
                <a:latin typeface="Arial"/>
                <a:ea typeface="Arial"/>
                <a:cs typeface="Arial"/>
              </a:defRPr>
            </a:lvl7pPr>
            <a:lvl8pPr>
              <a:defRPr sz="6600" b="1">
                <a:solidFill>
                  <a:srgbClr val="DCFA6B"/>
                </a:solidFill>
                <a:latin typeface="Arial"/>
                <a:ea typeface="Arial"/>
                <a:cs typeface="Arial"/>
              </a:defRPr>
            </a:lvl8pPr>
            <a:lvl9pPr>
              <a:defRPr sz="6600" b="1">
                <a:solidFill>
                  <a:srgbClr val="DCFA6B"/>
                </a:solidFill>
                <a:latin typeface="Arial"/>
                <a:ea typeface="Arial"/>
                <a:cs typeface="Arial"/>
              </a:defRPr>
            </a:lvl9pPr>
          </a:lstStyle>
          <a:p xmlns:a="http://schemas.openxmlformats.org/drawingml/2006/main">
            <a:pPr>
              <a:defRPr sz="6600" b="1">
                <a:solidFill>
                  <a:srgbClr val="DCFA6B"/>
                </a:solidFill>
                <a:latin typeface="Arial"/>
                <a:ea typeface="Arial"/>
                <a:cs typeface="Arial"/>
              </a:defRPr>
            </a:pPr>
            <a:r>
              <a:rPr sz="6600" b="1">
                <a:solidFill>
                  <a:srgbClr val="DCFA6B"/>
                </a:solidFill>
                <a:latin typeface="Arial"/>
                <a:ea typeface="Arial"/>
                <a:cs typeface="Arial"/>
              </a:rPr>
              <a:t>67</a:t>
            </a:r>
          </a:p>
        </p:txBody>
      </p:sp>
      <p:sp>
        <p:nvSpPr>
          <p:cNvPr id="10" name="browser checks">
            <a:extLst xmlns:a="http://schemas.openxmlformats.org/drawingml/2006/main">
              <a:ext uri="{FF2B5EF4-FFF2-40B4-BE49-F238E27FC236}">
                <a16:creationId xmlns:a16="http://schemas.microsoft.com/office/drawing/2014/main" id="{CD1A8CFF-DEB7-4B7B-B16D-E81280778DDF}"/>
              </a:ext>
            </a:extLst>
          </p:cNvPr>
          <p:cNvSpPr>
            <a:spLocks xmlns:a="http://schemas.openxmlformats.org/drawingml/2006/main" noGrp="1"/>
          </p:cNvSpPr>
          <p:nvPr/>
        </p:nvSpPr>
        <p:spPr>
          <a:xfrm xmlns:a="http://schemas.openxmlformats.org/drawingml/2006/main">
            <a:off x="8286750" y="3143250"/>
            <a:ext cx="314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browser checks</a:t>
            </a:r>
          </a:p>
        </p:txBody>
      </p:sp>
      <p:sp>
        <p:nvSpPr>
          <p:cNvPr id="11" name="Recorded release checks. One optional backend test">
            <a:extLst xmlns:a="http://schemas.openxmlformats.org/drawingml/2006/main">
              <a:ext uri="{FF2B5EF4-FFF2-40B4-BE49-F238E27FC236}">
                <a16:creationId xmlns:a16="http://schemas.microsoft.com/office/drawing/2014/main" id="{65375E8C-DE58-45A8-9118-8B76E7CC82E7}"/>
              </a:ext>
            </a:extLst>
          </p:cNvPr>
          <p:cNvSpPr>
            <a:spLocks xmlns:a="http://schemas.openxmlformats.org/drawingml/2006/main" noGrp="1"/>
          </p:cNvSpPr>
          <p:nvPr/>
        </p:nvSpPr>
        <p:spPr>
          <a:xfrm xmlns:a="http://schemas.openxmlformats.org/drawingml/2006/main">
            <a:off x="552450" y="375285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Recorded release checks. One optional backend test skipped.</a:t>
            </a:r>
          </a:p>
        </p:txBody>
      </p:sp>
      <p:sp>
        <p:nvSpPr>
          <p:cNvPr id="12" name="Next evidence">
            <a:extLst xmlns:a="http://schemas.openxmlformats.org/drawingml/2006/main">
              <a:ext uri="{FF2B5EF4-FFF2-40B4-BE49-F238E27FC236}">
                <a16:creationId xmlns:a16="http://schemas.microsoft.com/office/drawing/2014/main" id="{7C4155EF-E7F8-44CC-8B7E-7032B165A946}"/>
              </a:ext>
            </a:extLst>
          </p:cNvPr>
          <p:cNvSpPr>
            <a:spLocks xmlns:a="http://schemas.openxmlformats.org/drawingml/2006/main" noGrp="1"/>
          </p:cNvSpPr>
          <p:nvPr/>
        </p:nvSpPr>
        <p:spPr>
          <a:xfrm xmlns:a="http://schemas.openxmlformats.org/drawingml/2006/main">
            <a:off x="552450" y="4486275"/>
            <a:ext cx="10477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77D6DD"/>
                </a:solidFill>
                <a:latin typeface="Arial"/>
                <a:ea typeface="Arial"/>
                <a:cs typeface="Arial"/>
              </a:defRPr>
            </a:defPPr>
            <a:lvl1pPr>
              <a:defRPr sz="2325" b="1">
                <a:solidFill>
                  <a:srgbClr val="77D6DD"/>
                </a:solidFill>
                <a:latin typeface="Arial"/>
                <a:ea typeface="Arial"/>
                <a:cs typeface="Arial"/>
              </a:defRPr>
            </a:lvl1pPr>
            <a:lvl2pPr>
              <a:defRPr sz="2325" b="1">
                <a:solidFill>
                  <a:srgbClr val="77D6DD"/>
                </a:solidFill>
                <a:latin typeface="Arial"/>
                <a:ea typeface="Arial"/>
                <a:cs typeface="Arial"/>
              </a:defRPr>
            </a:lvl2pPr>
            <a:lvl3pPr>
              <a:defRPr sz="2325" b="1">
                <a:solidFill>
                  <a:srgbClr val="77D6DD"/>
                </a:solidFill>
                <a:latin typeface="Arial"/>
                <a:ea typeface="Arial"/>
                <a:cs typeface="Arial"/>
              </a:defRPr>
            </a:lvl3pPr>
            <a:lvl4pPr>
              <a:defRPr sz="2325" b="1">
                <a:solidFill>
                  <a:srgbClr val="77D6DD"/>
                </a:solidFill>
                <a:latin typeface="Arial"/>
                <a:ea typeface="Arial"/>
                <a:cs typeface="Arial"/>
              </a:defRPr>
            </a:lvl4pPr>
            <a:lvl5pPr>
              <a:defRPr sz="2325" b="1">
                <a:solidFill>
                  <a:srgbClr val="77D6DD"/>
                </a:solidFill>
                <a:latin typeface="Arial"/>
                <a:ea typeface="Arial"/>
                <a:cs typeface="Arial"/>
              </a:defRPr>
            </a:lvl5pPr>
            <a:lvl6pPr>
              <a:defRPr sz="2325" b="1">
                <a:solidFill>
                  <a:srgbClr val="77D6DD"/>
                </a:solidFill>
                <a:latin typeface="Arial"/>
                <a:ea typeface="Arial"/>
                <a:cs typeface="Arial"/>
              </a:defRPr>
            </a:lvl6pPr>
            <a:lvl7pPr>
              <a:defRPr sz="2325" b="1">
                <a:solidFill>
                  <a:srgbClr val="77D6DD"/>
                </a:solidFill>
                <a:latin typeface="Arial"/>
                <a:ea typeface="Arial"/>
                <a:cs typeface="Arial"/>
              </a:defRPr>
            </a:lvl7pPr>
            <a:lvl8pPr>
              <a:defRPr sz="2325" b="1">
                <a:solidFill>
                  <a:srgbClr val="77D6DD"/>
                </a:solidFill>
                <a:latin typeface="Arial"/>
                <a:ea typeface="Arial"/>
                <a:cs typeface="Arial"/>
              </a:defRPr>
            </a:lvl8pPr>
            <a:lvl9pPr>
              <a:defRPr sz="2325" b="1">
                <a:solidFill>
                  <a:srgbClr val="77D6DD"/>
                </a:solidFill>
                <a:latin typeface="Arial"/>
                <a:ea typeface="Arial"/>
                <a:cs typeface="Arial"/>
              </a:defRPr>
            </a:lvl9pPr>
          </a:lstStyle>
          <a:p xmlns:a="http://schemas.openxmlformats.org/drawingml/2006/main">
            <a:pPr>
              <a:defRPr sz="2325" b="1">
                <a:solidFill>
                  <a:srgbClr val="77D6DD"/>
                </a:solidFill>
                <a:latin typeface="Arial"/>
                <a:ea typeface="Arial"/>
                <a:cs typeface="Arial"/>
              </a:defRPr>
            </a:pPr>
            <a:r>
              <a:rPr sz="2325" b="1">
                <a:solidFill>
                  <a:srgbClr val="77D6DD"/>
                </a:solidFill>
                <a:latin typeface="Arial"/>
                <a:ea typeface="Arial"/>
                <a:cs typeface="Arial"/>
              </a:rPr>
              <a:t>Next evidence</a:t>
            </a:r>
          </a:p>
        </p:txBody>
      </p:sp>
      <p:sp>
        <p:nvSpPr>
          <p:cNvPr id="13" name="Labeled Saudi road images and real repeat-damage p">
            <a:extLst xmlns:a="http://schemas.openxmlformats.org/drawingml/2006/main">
              <a:ext uri="{FF2B5EF4-FFF2-40B4-BE49-F238E27FC236}">
                <a16:creationId xmlns:a16="http://schemas.microsoft.com/office/drawing/2014/main" id="{DE80EE18-429E-4FF9-AD13-69CED62C6AE3}"/>
              </a:ext>
            </a:extLst>
          </p:cNvPr>
          <p:cNvSpPr>
            <a:spLocks xmlns:a="http://schemas.openxmlformats.org/drawingml/2006/main" noGrp="1"/>
          </p:cNvSpPr>
          <p:nvPr/>
        </p:nvSpPr>
        <p:spPr>
          <a:xfrm xmlns:a="http://schemas.openxmlformats.org/drawingml/2006/main">
            <a:off x="552450" y="4962525"/>
            <a:ext cx="10953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Labeled Saudi road images and real repeat-damage pairs.</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shared model test and representative camera latency.</a:t>
            </a:r>
          </a:p>
        </p:txBody>
      </p:sp>
      <p:sp>
        <p:nvSpPr>
          <p:cNvPr id="14" name="Code, reports and model downloads: github.com/Fera">
            <a:extLst xmlns:a="http://schemas.openxmlformats.org/drawingml/2006/main">
              <a:ext uri="{FF2B5EF4-FFF2-40B4-BE49-F238E27FC236}">
                <a16:creationId xmlns:a16="http://schemas.microsoft.com/office/drawing/2014/main" id="{6C2007D7-0A98-40B6-8EBA-2713C97B7FBC}"/>
              </a:ext>
            </a:extLst>
          </p:cNvPr>
          <p:cNvSpPr>
            <a:spLocks xmlns:a="http://schemas.openxmlformats.org/drawingml/2006/main" noGrp="1"/>
          </p:cNvSpPr>
          <p:nvPr/>
        </p:nvSpPr>
        <p:spPr>
          <a:xfrm xmlns:a="http://schemas.openxmlformats.org/drawingml/2006/main">
            <a:off x="552450" y="5981700"/>
            <a:ext cx="110490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DCFA6B"/>
                </a:solidFill>
                <a:latin typeface="Arial"/>
                <a:ea typeface="Arial"/>
                <a:cs typeface="Arial"/>
              </a:defRPr>
            </a:defPPr>
            <a:lvl1pPr>
              <a:defRPr sz="1650" b="0">
                <a:solidFill>
                  <a:srgbClr val="DCFA6B"/>
                </a:solidFill>
                <a:latin typeface="Arial"/>
                <a:ea typeface="Arial"/>
                <a:cs typeface="Arial"/>
              </a:defRPr>
            </a:lvl1pPr>
            <a:lvl2pPr>
              <a:defRPr sz="1650" b="0">
                <a:solidFill>
                  <a:srgbClr val="DCFA6B"/>
                </a:solidFill>
                <a:latin typeface="Arial"/>
                <a:ea typeface="Arial"/>
                <a:cs typeface="Arial"/>
              </a:defRPr>
            </a:lvl2pPr>
            <a:lvl3pPr>
              <a:defRPr sz="1650" b="0">
                <a:solidFill>
                  <a:srgbClr val="DCFA6B"/>
                </a:solidFill>
                <a:latin typeface="Arial"/>
                <a:ea typeface="Arial"/>
                <a:cs typeface="Arial"/>
              </a:defRPr>
            </a:lvl3pPr>
            <a:lvl4pPr>
              <a:defRPr sz="1650" b="0">
                <a:solidFill>
                  <a:srgbClr val="DCFA6B"/>
                </a:solidFill>
                <a:latin typeface="Arial"/>
                <a:ea typeface="Arial"/>
                <a:cs typeface="Arial"/>
              </a:defRPr>
            </a:lvl4pPr>
            <a:lvl5pPr>
              <a:defRPr sz="1650" b="0">
                <a:solidFill>
                  <a:srgbClr val="DCFA6B"/>
                </a:solidFill>
                <a:latin typeface="Arial"/>
                <a:ea typeface="Arial"/>
                <a:cs typeface="Arial"/>
              </a:defRPr>
            </a:lvl5pPr>
            <a:lvl6pPr>
              <a:defRPr sz="1650" b="0">
                <a:solidFill>
                  <a:srgbClr val="DCFA6B"/>
                </a:solidFill>
                <a:latin typeface="Arial"/>
                <a:ea typeface="Arial"/>
                <a:cs typeface="Arial"/>
              </a:defRPr>
            </a:lvl6pPr>
            <a:lvl7pPr>
              <a:defRPr sz="1650" b="0">
                <a:solidFill>
                  <a:srgbClr val="DCFA6B"/>
                </a:solidFill>
                <a:latin typeface="Arial"/>
                <a:ea typeface="Arial"/>
                <a:cs typeface="Arial"/>
              </a:defRPr>
            </a:lvl7pPr>
            <a:lvl8pPr>
              <a:defRPr sz="1650" b="0">
                <a:solidFill>
                  <a:srgbClr val="DCFA6B"/>
                </a:solidFill>
                <a:latin typeface="Arial"/>
                <a:ea typeface="Arial"/>
                <a:cs typeface="Arial"/>
              </a:defRPr>
            </a:lvl8pPr>
            <a:lvl9pPr>
              <a:defRPr sz="1650" b="0">
                <a:solidFill>
                  <a:srgbClr val="DCFA6B"/>
                </a:solidFill>
                <a:latin typeface="Arial"/>
                <a:ea typeface="Arial"/>
                <a:cs typeface="Arial"/>
              </a:defRPr>
            </a:lvl9pPr>
          </a:lstStyle>
          <a:p xmlns:a="http://schemas.openxmlformats.org/drawingml/2006/main">
            <a:pPr>
              <a:defRPr sz="1650" b="0">
                <a:solidFill>
                  <a:srgbClr val="DCFA6B"/>
                </a:solidFill>
                <a:latin typeface="Arial"/>
                <a:ea typeface="Arial"/>
                <a:cs typeface="Arial"/>
              </a:defRPr>
            </a:pPr>
            <a:r>
              <a:rPr sz="1650" b="0">
                <a:solidFill>
                  <a:srgbClr val="DCFA6B"/>
                </a:solidFill>
                <a:latin typeface="Arial"/>
                <a:ea typeface="Arial"/>
                <a:cs typeface="Arial"/>
              </a:rPr>
              <a:t>Code, reports and model downloads: github.com/Feras-MQ/RoadScan</a:t>
            </a:r>
          </a:p>
        </p:txBody>
      </p:sp>
    </p:spTree>
    <p:extLst>
      <p:ext uri="{BB962C8B-B14F-4D97-AF65-F5344CB8AC3E}">
        <p14:creationId xmlns:p14="http://schemas.microsoft.com/office/powerpoint/2010/main" val="2023629183"/>
      </p:ext>
    </p:extLst>
  </p:cSld>
</p:sld>
</file>

<file path=ppt/slides/slide8.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7" name="APPENDIX A / MODEL INVENTORY">
            <a:extLst xmlns:a="http://schemas.openxmlformats.org/drawingml/2006/main">
              <a:ext uri="{FF2B5EF4-FFF2-40B4-BE49-F238E27FC236}">
                <a16:creationId xmlns:a16="http://schemas.microsoft.com/office/drawing/2014/main" id="{D662D8D6-086A-434B-BCB6-80EFB99446BA}"/>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A / MODEL INVENTORY</a:t>
            </a:r>
          </a:p>
        </p:txBody>
      </p:sp>
      <p:sp>
        <p:nvSpPr>
          <p:cNvPr id="2" name="The current 22-file model inventory">
            <a:extLst xmlns:a="http://schemas.openxmlformats.org/drawingml/2006/main">
              <a:ext uri="{FF2B5EF4-FFF2-40B4-BE49-F238E27FC236}">
                <a16:creationId xmlns:a16="http://schemas.microsoft.com/office/drawing/2014/main" id="{ADCD8FDF-AF5E-4484-8631-86576958F731}"/>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The current 22-file model inventory</a:t>
            </a:r>
          </a:p>
        </p:txBody>
      </p:sp>
      <p:sp>
        <p:nvSpPr>
          <p:cNvPr id="3" name="RoadScan / AIEP capstone">
            <a:extLst xmlns:a="http://schemas.openxmlformats.org/drawingml/2006/main">
              <a:ext uri="{FF2B5EF4-FFF2-40B4-BE49-F238E27FC236}">
                <a16:creationId xmlns:a16="http://schemas.microsoft.com/office/drawing/2014/main" id="{CA586D5C-33CF-4A28-BA34-E0E598272510}"/>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8">
            <a:extLst xmlns:a="http://schemas.openxmlformats.org/drawingml/2006/main">
              <a:ext uri="{FF2B5EF4-FFF2-40B4-BE49-F238E27FC236}">
                <a16:creationId xmlns:a16="http://schemas.microsoft.com/office/drawing/2014/main" id="{D10171D1-64AE-4503-80B4-90846A8FF9F5}"/>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08</a:t>
            </a:r>
          </a:p>
        </p:txBody>
      </p:sp>
      <p:graphicFrame>
        <p:nvGraphicFramePr>
          <p:cNvPr id="5" name="">
            <a:extLst xmlns:a="http://schemas.openxmlformats.org/drawingml/2006/main">
              <a:ext uri="{FF2B5EF4-FFF2-40B4-BE49-F238E27FC236}">
                <a16:creationId xmlns:a16="http://schemas.microsoft.com/office/drawing/2014/main" id="{A7191742-EC7C-452E-853D-A4DBBEE919A1}"/>
              </a:ext>
            </a:extLst>
          </p:cNvPr>
          <p:cNvGraphicFramePr/>
          <p:nvPr/>
        </p:nvGraphicFramePr>
        <p:xfrm>
          <a:off xmlns:a="http://schemas.openxmlformats.org/drawingml/2006/main" x="552450" y="1981200"/>
          <a:ext xmlns:a="http://schemas.openxmlformats.org/drawingml/2006/main" cx="11087100" cy="3171825"/>
        </p:xfrm>
        <a:graphic xmlns:a="http://schemas.openxmlformats.org/drawingml/2006/main">
          <a:graphicData uri="http://schemas.openxmlformats.org/drawingml/2006/table">
            <a:tbl>
              <a:tblPr/>
              <a:tblGrid>
                <a:gridCol w="3810000"/>
                <a:gridCol w="1333500"/>
                <a:gridCol w="5943600"/>
              </a:tblGrid>
              <a:tr h="634365">
                <a:tc>
                  <a:txBody>
                    <a:bodyPr/>
                    <a:lstStyle/>
                    <a:p>
                      <a:r>
                        <a:rPr sz="1425" b="1">
                          <a:solidFill>
                            <a:srgbClr val="77D6DD"/>
                          </a:solidFill>
                          <a:latin typeface="Arial"/>
                          <a:ea typeface="Arial"/>
                          <a:cs typeface="Arial"/>
                        </a:rPr>
                        <a:t>Role</a:t>
                      </a:r>
                    </a:p>
                  </a:txBody>
                  <a:tcPr marL="91440" marR="91440" marT="45720" marB="45720">
                    <a:lnL w="9525">
                      <a:solidFill>
                        <a:srgbClr val="36515B"/>
                      </a:solidFill>
                      <a:prstDash val="solid"/>
                    </a:lnL>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Count</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c>
                  <a:txBody>
                    <a:bodyPr/>
                    <a:lstStyle/>
                    <a:p>
                      <a:r>
                        <a:rPr sz="1425" b="1">
                          <a:solidFill>
                            <a:srgbClr val="77D6DD"/>
                          </a:solidFill>
                          <a:latin typeface="Arial"/>
                          <a:ea typeface="Arial"/>
                          <a:cs typeface="Arial"/>
                        </a:rPr>
                        <a:t>Purpose</a:t>
                      </a:r>
                    </a:p>
                  </a:txBody>
                  <a:tcPr marL="91440" marR="91440" marT="45720" marB="45720">
                    <a:lnR w="9525">
                      <a:solidFill>
                        <a:srgbClr val="36515B"/>
                      </a:solidFill>
                      <a:prstDash val="solid"/>
                    </a:lnR>
                    <a:lnT w="9525">
                      <a:solidFill>
                        <a:srgbClr val="36515B"/>
                      </a:solidFill>
                      <a:prstDash val="solid"/>
                    </a:lnT>
                    <a:lnB w="9525">
                      <a:solidFill>
                        <a:srgbClr val="36515B"/>
                      </a:solidFill>
                      <a:prstDash val="solid"/>
                    </a:lnB>
                    <a:solidFill>
                      <a:srgbClr val="1B343C"/>
                    </a:solidFill>
                  </a:tcPr>
                </a:tc>
              </a:tr>
              <a:tr h="634365">
                <a:tc>
                  <a:txBody>
                    <a:bodyPr/>
                    <a:lstStyle/>
                    <a:p>
                      <a:r>
                        <a:rPr sz="1725" b="0">
                          <a:solidFill>
                            <a:srgbClr val="F0F5F6"/>
                          </a:solidFill>
                          <a:latin typeface="Arial"/>
                          <a:ea typeface="Arial"/>
                          <a:cs typeface="Arial"/>
                        </a:rPr>
                        <a:t>Road detectors</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19</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Boxes and road-damage classes</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ResNet18 classifier</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Image-level classification</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Stock YOLO initializer</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General COCO initialization</a:t>
                      </a:r>
                    </a:p>
                  </a:txBody>
                  <a:tcPr marL="91440" marR="91440" marT="45720" marB="45720">
                    <a:lnR w="9525">
                      <a:solidFill>
                        <a:srgbClr val="36515B"/>
                      </a:solidFill>
                      <a:prstDash val="solid"/>
                    </a:lnR>
                    <a:lnB w="9525">
                      <a:solidFill>
                        <a:srgbClr val="36515B"/>
                      </a:solidFill>
                      <a:prstDash val="solid"/>
                    </a:lnB>
                    <a:solidFill>
                      <a:srgbClr val="0C1820"/>
                    </a:solidFill>
                  </a:tcPr>
                </a:tc>
              </a:tr>
              <a:tr h="634365">
                <a:tc>
                  <a:txBody>
                    <a:bodyPr/>
                    <a:lstStyle/>
                    <a:p>
                      <a:r>
                        <a:rPr sz="1725" b="0">
                          <a:solidFill>
                            <a:srgbClr val="F0F5F6"/>
                          </a:solidFill>
                          <a:latin typeface="Arial"/>
                          <a:ea typeface="Arial"/>
                          <a:cs typeface="Arial"/>
                        </a:rPr>
                        <a:t>DINOv2 embedding model</a:t>
                      </a:r>
                    </a:p>
                  </a:txBody>
                  <a:tcPr marL="91440" marR="91440" marT="45720" marB="45720">
                    <a:lnL w="9525">
                      <a:solidFill>
                        <a:srgbClr val="36515B"/>
                      </a:solidFill>
                      <a:prstDash val="solid"/>
                    </a:lnL>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1</a:t>
                      </a:r>
                    </a:p>
                  </a:txBody>
                  <a:tcPr marL="91440" marR="91440" marT="45720" marB="45720">
                    <a:lnR w="9525">
                      <a:solidFill>
                        <a:srgbClr val="36515B"/>
                      </a:solidFill>
                      <a:prstDash val="solid"/>
                    </a:lnR>
                    <a:lnB w="9525">
                      <a:solidFill>
                        <a:srgbClr val="36515B"/>
                      </a:solidFill>
                      <a:prstDash val="solid"/>
                    </a:lnB>
                    <a:solidFill>
                      <a:srgbClr val="0C1820"/>
                    </a:solidFill>
                  </a:tcPr>
                </a:tc>
                <a:tc>
                  <a:txBody>
                    <a:bodyPr/>
                    <a:lstStyle/>
                    <a:p>
                      <a:r>
                        <a:rPr sz="1725" b="0">
                          <a:solidFill>
                            <a:srgbClr val="F0F5F6"/>
                          </a:solidFill>
                          <a:latin typeface="Arial"/>
                          <a:ea typeface="Arial"/>
                          <a:cs typeface="Arial"/>
                        </a:rPr>
                        <a:t>Optional visual similarity</a:t>
                      </a:r>
                    </a:p>
                  </a:txBody>
                  <a:tcPr marL="91440" marR="91440" marT="45720" marB="45720">
                    <a:lnR w="9525">
                      <a:solidFill>
                        <a:srgbClr val="36515B"/>
                      </a:solidFill>
                      <a:prstDash val="solid"/>
                    </a:lnR>
                    <a:lnB w="9525">
                      <a:solidFill>
                        <a:srgbClr val="36515B"/>
                      </a:solidFill>
                      <a:prstDash val="solid"/>
                    </a:lnB>
                    <a:solidFill>
                      <a:srgbClr val="0C1820"/>
                    </a:solidFill>
                  </a:tcPr>
                </a:tc>
              </a:tr>
            </a:tbl>
          </a:graphicData>
        </a:graphic>
      </p:graphicFrame>
      <p:sp>
        <p:nvSpPr>
          <p:cNvPr id="6" name="Downloads: 11 road detectors + DINOv2. Nine files ">
            <a:extLst xmlns:a="http://schemas.openxmlformats.org/drawingml/2006/main">
              <a:ext uri="{FF2B5EF4-FFF2-40B4-BE49-F238E27FC236}">
                <a16:creationId xmlns:a16="http://schemas.microsoft.com/office/drawing/2014/main" id="{5060CE38-81A1-40AD-B59D-20D7C81F2124}"/>
              </a:ext>
            </a:extLst>
          </p:cNvPr>
          <p:cNvSpPr>
            <a:spLocks xmlns:a="http://schemas.openxmlformats.org/drawingml/2006/main" noGrp="1"/>
          </p:cNvSpPr>
          <p:nvPr/>
        </p:nvSpPr>
        <p:spPr>
          <a:xfrm xmlns:a="http://schemas.openxmlformats.org/drawingml/2006/main">
            <a:off x="552450" y="5400675"/>
            <a:ext cx="1100137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Downloads: 11 road detectors + DINOv2. Nine files remain on hold.</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The stock initializer links to its official upstream release.</a:t>
            </a:r>
          </a:p>
        </p:txBody>
      </p:sp>
    </p:spTree>
    <p:extLst>
      <p:ext uri="{BB962C8B-B14F-4D97-AF65-F5344CB8AC3E}">
        <p14:creationId xmlns:p14="http://schemas.microsoft.com/office/powerpoint/2010/main" val="361933298"/>
      </p:ext>
    </p:extLst>
  </p:cSld>
</p:sld>
</file>

<file path=ppt/slides/slide9.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3" name="APPENDIX B / IMPLEMENTATION EVIDENCE">
            <a:extLst xmlns:a="http://schemas.openxmlformats.org/drawingml/2006/main">
              <a:ext uri="{FF2B5EF4-FFF2-40B4-BE49-F238E27FC236}">
                <a16:creationId xmlns:a16="http://schemas.microsoft.com/office/drawing/2014/main" id="{CF7C0A5B-F062-47D4-BB60-974641CC48EB}"/>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B / IMPLEMENTATION EVIDENCE</a:t>
            </a:r>
          </a:p>
        </p:txBody>
      </p:sp>
      <p:sp>
        <p:nvSpPr>
          <p:cNvPr id="2" name="Two safeguards in the actual code">
            <a:extLst xmlns:a="http://schemas.openxmlformats.org/drawingml/2006/main">
              <a:ext uri="{FF2B5EF4-FFF2-40B4-BE49-F238E27FC236}">
                <a16:creationId xmlns:a16="http://schemas.microsoft.com/office/drawing/2014/main" id="{25B52534-CAF9-41AC-B8BF-46EABD006A94}"/>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Two safeguards in the actual code</a:t>
            </a:r>
          </a:p>
        </p:txBody>
      </p:sp>
      <p:sp>
        <p:nvSpPr>
          <p:cNvPr id="3" name="RoadScan / AIEP capstone">
            <a:extLst xmlns:a="http://schemas.openxmlformats.org/drawingml/2006/main">
              <a:ext uri="{FF2B5EF4-FFF2-40B4-BE49-F238E27FC236}">
                <a16:creationId xmlns:a16="http://schemas.microsoft.com/office/drawing/2014/main" id="{79667AA3-A268-4618-9D1A-EC119F2919F8}"/>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09">
            <a:extLst xmlns:a="http://schemas.openxmlformats.org/drawingml/2006/main">
              <a:ext uri="{FF2B5EF4-FFF2-40B4-BE49-F238E27FC236}">
                <a16:creationId xmlns:a16="http://schemas.microsoft.com/office/drawing/2014/main" id="{C1E0FA4E-F259-455E-8297-8E84DF41C787}"/>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09</a:t>
            </a:r>
          </a:p>
        </p:txBody>
      </p:sp>
      <p:sp>
        <p:nvSpPr>
          <p:cNvPr id="5" name="Temporary recognition">
            <a:extLst xmlns:a="http://schemas.openxmlformats.org/drawingml/2006/main">
              <a:ext uri="{FF2B5EF4-FFF2-40B4-BE49-F238E27FC236}">
                <a16:creationId xmlns:a16="http://schemas.microsoft.com/office/drawing/2014/main" id="{F97BBE04-75FF-4C14-8D4E-384DF95EDB38}"/>
              </a:ext>
            </a:extLst>
          </p:cNvPr>
          <p:cNvSpPr>
            <a:spLocks xmlns:a="http://schemas.openxmlformats.org/drawingml/2006/main" noGrp="1"/>
          </p:cNvSpPr>
          <p:nvPr/>
        </p:nvSpPr>
        <p:spPr>
          <a:xfrm xmlns:a="http://schemas.openxmlformats.org/drawingml/2006/main">
            <a:off x="552450" y="1933575"/>
            <a:ext cx="5524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DCFA6B"/>
                </a:solidFill>
                <a:latin typeface="Arial"/>
                <a:ea typeface="Arial"/>
                <a:cs typeface="Arial"/>
              </a:defRPr>
            </a:defPPr>
            <a:lvl1pPr>
              <a:defRPr sz="2175" b="1">
                <a:solidFill>
                  <a:srgbClr val="DCFA6B"/>
                </a:solidFill>
                <a:latin typeface="Arial"/>
                <a:ea typeface="Arial"/>
                <a:cs typeface="Arial"/>
              </a:defRPr>
            </a:lvl1pPr>
            <a:lvl2pPr>
              <a:defRPr sz="2175" b="1">
                <a:solidFill>
                  <a:srgbClr val="DCFA6B"/>
                </a:solidFill>
                <a:latin typeface="Arial"/>
                <a:ea typeface="Arial"/>
                <a:cs typeface="Arial"/>
              </a:defRPr>
            </a:lvl2pPr>
            <a:lvl3pPr>
              <a:defRPr sz="2175" b="1">
                <a:solidFill>
                  <a:srgbClr val="DCFA6B"/>
                </a:solidFill>
                <a:latin typeface="Arial"/>
                <a:ea typeface="Arial"/>
                <a:cs typeface="Arial"/>
              </a:defRPr>
            </a:lvl3pPr>
            <a:lvl4pPr>
              <a:defRPr sz="2175" b="1">
                <a:solidFill>
                  <a:srgbClr val="DCFA6B"/>
                </a:solidFill>
                <a:latin typeface="Arial"/>
                <a:ea typeface="Arial"/>
                <a:cs typeface="Arial"/>
              </a:defRPr>
            </a:lvl4pPr>
            <a:lvl5pPr>
              <a:defRPr sz="2175" b="1">
                <a:solidFill>
                  <a:srgbClr val="DCFA6B"/>
                </a:solidFill>
                <a:latin typeface="Arial"/>
                <a:ea typeface="Arial"/>
                <a:cs typeface="Arial"/>
              </a:defRPr>
            </a:lvl5pPr>
            <a:lvl6pPr>
              <a:defRPr sz="2175" b="1">
                <a:solidFill>
                  <a:srgbClr val="DCFA6B"/>
                </a:solidFill>
                <a:latin typeface="Arial"/>
                <a:ea typeface="Arial"/>
                <a:cs typeface="Arial"/>
              </a:defRPr>
            </a:lvl6pPr>
            <a:lvl7pPr>
              <a:defRPr sz="2175" b="1">
                <a:solidFill>
                  <a:srgbClr val="DCFA6B"/>
                </a:solidFill>
                <a:latin typeface="Arial"/>
                <a:ea typeface="Arial"/>
                <a:cs typeface="Arial"/>
              </a:defRPr>
            </a:lvl7pPr>
            <a:lvl8pPr>
              <a:defRPr sz="2175" b="1">
                <a:solidFill>
                  <a:srgbClr val="DCFA6B"/>
                </a:solidFill>
                <a:latin typeface="Arial"/>
                <a:ea typeface="Arial"/>
                <a:cs typeface="Arial"/>
              </a:defRPr>
            </a:lvl8pPr>
            <a:lvl9pPr>
              <a:defRPr sz="2175" b="1">
                <a:solidFill>
                  <a:srgbClr val="DCFA6B"/>
                </a:solidFill>
                <a:latin typeface="Arial"/>
                <a:ea typeface="Arial"/>
                <a:cs typeface="Arial"/>
              </a:defRPr>
            </a:lvl9pPr>
          </a:lstStyle>
          <a:p xmlns:a="http://schemas.openxmlformats.org/drawingml/2006/main">
            <a:pPr>
              <a:defRPr sz="2175" b="1">
                <a:solidFill>
                  <a:srgbClr val="DCFA6B"/>
                </a:solidFill>
                <a:latin typeface="Arial"/>
                <a:ea typeface="Arial"/>
                <a:cs typeface="Arial"/>
              </a:defRPr>
            </a:pPr>
            <a:r>
              <a:rPr sz="2175" b="1">
                <a:solidFill>
                  <a:srgbClr val="DCFA6B"/>
                </a:solidFill>
                <a:latin typeface="Arial"/>
                <a:ea typeface="Arial"/>
                <a:cs typeface="Arial"/>
              </a:rPr>
              <a:t>Temporary recognition</a:t>
            </a:r>
          </a:p>
        </p:txBody>
      </p:sp>
      <p:sp>
        <p:nvSpPr>
          <p:cNvPr id="6" name="roadscan/api.py:139–148">
            <a:extLst xmlns:a="http://schemas.openxmlformats.org/drawingml/2006/main">
              <a:ext uri="{FF2B5EF4-FFF2-40B4-BE49-F238E27FC236}">
                <a16:creationId xmlns:a16="http://schemas.microsoft.com/office/drawing/2014/main" id="{CB789421-F91E-4924-9356-600984B7A83A}"/>
              </a:ext>
            </a:extLst>
          </p:cNvPr>
          <p:cNvSpPr>
            <a:spLocks xmlns:a="http://schemas.openxmlformats.org/drawingml/2006/main" noGrp="1"/>
          </p:cNvSpPr>
          <p:nvPr/>
        </p:nvSpPr>
        <p:spPr>
          <a:xfrm xmlns:a="http://schemas.openxmlformats.org/drawingml/2006/main">
            <a:off x="552450" y="237172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7D6DD"/>
                </a:solidFill>
                <a:latin typeface="Arial"/>
                <a:ea typeface="Arial"/>
                <a:cs typeface="Arial"/>
              </a:defRPr>
            </a:defPPr>
            <a:lvl1pPr>
              <a:defRPr sz="1500" b="0">
                <a:solidFill>
                  <a:srgbClr val="77D6DD"/>
                </a:solidFill>
                <a:latin typeface="Arial"/>
                <a:ea typeface="Arial"/>
                <a:cs typeface="Arial"/>
              </a:defRPr>
            </a:lvl1pPr>
            <a:lvl2pPr>
              <a:defRPr sz="1500" b="0">
                <a:solidFill>
                  <a:srgbClr val="77D6DD"/>
                </a:solidFill>
                <a:latin typeface="Arial"/>
                <a:ea typeface="Arial"/>
                <a:cs typeface="Arial"/>
              </a:defRPr>
            </a:lvl2pPr>
            <a:lvl3pPr>
              <a:defRPr sz="1500" b="0">
                <a:solidFill>
                  <a:srgbClr val="77D6DD"/>
                </a:solidFill>
                <a:latin typeface="Arial"/>
                <a:ea typeface="Arial"/>
                <a:cs typeface="Arial"/>
              </a:defRPr>
            </a:lvl3pPr>
            <a:lvl4pPr>
              <a:defRPr sz="1500" b="0">
                <a:solidFill>
                  <a:srgbClr val="77D6DD"/>
                </a:solidFill>
                <a:latin typeface="Arial"/>
                <a:ea typeface="Arial"/>
                <a:cs typeface="Arial"/>
              </a:defRPr>
            </a:lvl4pPr>
            <a:lvl5pPr>
              <a:defRPr sz="1500" b="0">
                <a:solidFill>
                  <a:srgbClr val="77D6DD"/>
                </a:solidFill>
                <a:latin typeface="Arial"/>
                <a:ea typeface="Arial"/>
                <a:cs typeface="Arial"/>
              </a:defRPr>
            </a:lvl5pPr>
            <a:lvl6pPr>
              <a:defRPr sz="1500" b="0">
                <a:solidFill>
                  <a:srgbClr val="77D6DD"/>
                </a:solidFill>
                <a:latin typeface="Arial"/>
                <a:ea typeface="Arial"/>
                <a:cs typeface="Arial"/>
              </a:defRPr>
            </a:lvl6pPr>
            <a:lvl7pPr>
              <a:defRPr sz="1500" b="0">
                <a:solidFill>
                  <a:srgbClr val="77D6DD"/>
                </a:solidFill>
                <a:latin typeface="Arial"/>
                <a:ea typeface="Arial"/>
                <a:cs typeface="Arial"/>
              </a:defRPr>
            </a:lvl7pPr>
            <a:lvl8pPr>
              <a:defRPr sz="1500" b="0">
                <a:solidFill>
                  <a:srgbClr val="77D6DD"/>
                </a:solidFill>
                <a:latin typeface="Arial"/>
                <a:ea typeface="Arial"/>
                <a:cs typeface="Arial"/>
              </a:defRPr>
            </a:lvl8pPr>
            <a:lvl9pPr>
              <a:defRPr sz="1500" b="0">
                <a:solidFill>
                  <a:srgbClr val="77D6DD"/>
                </a:solidFill>
                <a:latin typeface="Arial"/>
                <a:ea typeface="Arial"/>
                <a:cs typeface="Arial"/>
              </a:defRPr>
            </a:lvl9pPr>
          </a:lstStyle>
          <a:p xmlns:a="http://schemas.openxmlformats.org/drawingml/2006/main">
            <a:pPr>
              <a:defRPr sz="1500" b="0">
                <a:solidFill>
                  <a:srgbClr val="77D6DD"/>
                </a:solidFill>
                <a:latin typeface="Arial"/>
                <a:ea typeface="Arial"/>
                <a:cs typeface="Arial"/>
              </a:defRPr>
            </a:pPr>
            <a:r>
              <a:rPr sz="1500" b="0">
                <a:solidFill>
                  <a:srgbClr val="77D6DD"/>
                </a:solidFill>
                <a:latin typeface="Arial"/>
                <a:ea typeface="Arial"/>
                <a:cs typeface="Arial"/>
              </a:rPr>
              <a:t>roadscan/api.py:139–148</a:t>
            </a:r>
          </a:p>
        </p:txBody>
      </p:sp>
      <p:sp>
        <p:nvSpPr>
          <p:cNvPr id="7" name="raw=await read_bounded(request,2*1024*1024)&#10;image=">
            <a:extLst xmlns:a="http://schemas.openxmlformats.org/drawingml/2006/main">
              <a:ext uri="{FF2B5EF4-FFF2-40B4-BE49-F238E27FC236}">
                <a16:creationId xmlns:a16="http://schemas.microsoft.com/office/drawing/2014/main" id="{D93AEE4B-3791-4D2E-B1C5-4D27AF62ED4C}"/>
              </a:ext>
            </a:extLst>
          </p:cNvPr>
          <p:cNvSpPr>
            <a:spLocks xmlns:a="http://schemas.openxmlformats.org/drawingml/2006/main" noGrp="1"/>
          </p:cNvSpPr>
          <p:nvPr/>
        </p:nvSpPr>
        <p:spPr>
          <a:xfrm xmlns:a="http://schemas.openxmlformats.org/drawingml/2006/main">
            <a:off x="552450" y="2867025"/>
            <a:ext cx="6477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F0F5F6"/>
                </a:solidFill>
                <a:latin typeface="Arial"/>
                <a:ea typeface="Arial"/>
                <a:cs typeface="Arial"/>
              </a:defRPr>
            </a:defPPr>
            <a:lvl1pPr>
              <a:defRPr sz="1575" b="0">
                <a:solidFill>
                  <a:srgbClr val="F0F5F6"/>
                </a:solidFill>
                <a:latin typeface="Arial"/>
                <a:ea typeface="Arial"/>
                <a:cs typeface="Arial"/>
              </a:defRPr>
            </a:lvl1pPr>
            <a:lvl2pPr>
              <a:defRPr sz="1575" b="0">
                <a:solidFill>
                  <a:srgbClr val="F0F5F6"/>
                </a:solidFill>
                <a:latin typeface="Arial"/>
                <a:ea typeface="Arial"/>
                <a:cs typeface="Arial"/>
              </a:defRPr>
            </a:lvl2pPr>
            <a:lvl3pPr>
              <a:defRPr sz="1575" b="0">
                <a:solidFill>
                  <a:srgbClr val="F0F5F6"/>
                </a:solidFill>
                <a:latin typeface="Arial"/>
                <a:ea typeface="Arial"/>
                <a:cs typeface="Arial"/>
              </a:defRPr>
            </a:lvl3pPr>
            <a:lvl4pPr>
              <a:defRPr sz="1575" b="0">
                <a:solidFill>
                  <a:srgbClr val="F0F5F6"/>
                </a:solidFill>
                <a:latin typeface="Arial"/>
                <a:ea typeface="Arial"/>
                <a:cs typeface="Arial"/>
              </a:defRPr>
            </a:lvl4pPr>
            <a:lvl5pPr>
              <a:defRPr sz="1575" b="0">
                <a:solidFill>
                  <a:srgbClr val="F0F5F6"/>
                </a:solidFill>
                <a:latin typeface="Arial"/>
                <a:ea typeface="Arial"/>
                <a:cs typeface="Arial"/>
              </a:defRPr>
            </a:lvl5pPr>
            <a:lvl6pPr>
              <a:defRPr sz="1575" b="0">
                <a:solidFill>
                  <a:srgbClr val="F0F5F6"/>
                </a:solidFill>
                <a:latin typeface="Arial"/>
                <a:ea typeface="Arial"/>
                <a:cs typeface="Arial"/>
              </a:defRPr>
            </a:lvl6pPr>
            <a:lvl7pPr>
              <a:defRPr sz="1575" b="0">
                <a:solidFill>
                  <a:srgbClr val="F0F5F6"/>
                </a:solidFill>
                <a:latin typeface="Arial"/>
                <a:ea typeface="Arial"/>
                <a:cs typeface="Arial"/>
              </a:defRPr>
            </a:lvl7pPr>
            <a:lvl8pPr>
              <a:defRPr sz="1575" b="0">
                <a:solidFill>
                  <a:srgbClr val="F0F5F6"/>
                </a:solidFill>
                <a:latin typeface="Arial"/>
                <a:ea typeface="Arial"/>
                <a:cs typeface="Arial"/>
              </a:defRPr>
            </a:lvl8pPr>
            <a:lvl9pPr>
              <a:defRPr sz="1575" b="0">
                <a:solidFill>
                  <a:srgbClr val="F0F5F6"/>
                </a:solidFill>
                <a:latin typeface="Arial"/>
                <a:ea typeface="Arial"/>
                <a:cs typeface="Arial"/>
              </a:defRPr>
            </a:lvl9pPr>
          </a:lstStyle>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raw=await read_bounded(request,2*1024*1024)</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image=decode_image(raw,max_pixels=2_000_000)</a:t>
            </a:r>
          </a:p>
          <a:p xmlns:a="http://schemas.openxmlformats.org/drawingml/2006/main">
            <a:r>
              <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 Response excerpt</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'persisted':False</a:t>
            </a:r>
          </a:p>
          <a:p xmlns:a="http://schemas.openxmlformats.org/drawingml/2006/main">
            <a:r>
              <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finally:</a:t>
            </a:r>
          </a:p>
          <a:p xmlns:a="http://schemas.openxmlformats.org/drawingml/2006/main">
            <a:pPr>
              <a:defRPr sz="1575" b="0">
                <a:solidFill>
                  <a:srgbClr val="F0F5F6"/>
                </a:solidFill>
                <a:latin typeface="Arial"/>
                <a:ea typeface="Arial"/>
                <a:cs typeface="Arial"/>
              </a:defRPr>
            </a:pPr>
            <a:r>
              <a:rPr sz="1575" b="0">
                <a:solidFill>
                  <a:srgbClr val="F0F5F6"/>
                </a:solidFill>
                <a:latin typeface="Arial"/>
                <a:ea typeface="Arial"/>
                <a:cs typeface="Arial"/>
              </a:rPr>
              <a:t>    image.close()</a:t>
            </a:r>
          </a:p>
        </p:txBody>
      </p:sp>
      <p:sp>
        <p:nvSpPr>
          <p:cNvPr id="8" name="A model vote stays a draft">
            <a:extLst xmlns:a="http://schemas.openxmlformats.org/drawingml/2006/main">
              <a:ext uri="{FF2B5EF4-FFF2-40B4-BE49-F238E27FC236}">
                <a16:creationId xmlns:a16="http://schemas.microsoft.com/office/drawing/2014/main" id="{48F04728-3078-4CF6-BC64-03DA565BF9D3}"/>
              </a:ext>
            </a:extLst>
          </p:cNvPr>
          <p:cNvSpPr>
            <a:spLocks xmlns:a="http://schemas.openxmlformats.org/drawingml/2006/main" noGrp="1"/>
          </p:cNvSpPr>
          <p:nvPr/>
        </p:nvSpPr>
        <p:spPr>
          <a:xfrm xmlns:a="http://schemas.openxmlformats.org/drawingml/2006/main">
            <a:off x="7524750" y="1933575"/>
            <a:ext cx="4095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DCFA6B"/>
                </a:solidFill>
                <a:latin typeface="Arial"/>
                <a:ea typeface="Arial"/>
                <a:cs typeface="Arial"/>
              </a:defRPr>
            </a:defPPr>
            <a:lvl1pPr>
              <a:defRPr sz="2175" b="1">
                <a:solidFill>
                  <a:srgbClr val="DCFA6B"/>
                </a:solidFill>
                <a:latin typeface="Arial"/>
                <a:ea typeface="Arial"/>
                <a:cs typeface="Arial"/>
              </a:defRPr>
            </a:lvl1pPr>
            <a:lvl2pPr>
              <a:defRPr sz="2175" b="1">
                <a:solidFill>
                  <a:srgbClr val="DCFA6B"/>
                </a:solidFill>
                <a:latin typeface="Arial"/>
                <a:ea typeface="Arial"/>
                <a:cs typeface="Arial"/>
              </a:defRPr>
            </a:lvl2pPr>
            <a:lvl3pPr>
              <a:defRPr sz="2175" b="1">
                <a:solidFill>
                  <a:srgbClr val="DCFA6B"/>
                </a:solidFill>
                <a:latin typeface="Arial"/>
                <a:ea typeface="Arial"/>
                <a:cs typeface="Arial"/>
              </a:defRPr>
            </a:lvl3pPr>
            <a:lvl4pPr>
              <a:defRPr sz="2175" b="1">
                <a:solidFill>
                  <a:srgbClr val="DCFA6B"/>
                </a:solidFill>
                <a:latin typeface="Arial"/>
                <a:ea typeface="Arial"/>
                <a:cs typeface="Arial"/>
              </a:defRPr>
            </a:lvl4pPr>
            <a:lvl5pPr>
              <a:defRPr sz="2175" b="1">
                <a:solidFill>
                  <a:srgbClr val="DCFA6B"/>
                </a:solidFill>
                <a:latin typeface="Arial"/>
                <a:ea typeface="Arial"/>
                <a:cs typeface="Arial"/>
              </a:defRPr>
            </a:lvl5pPr>
            <a:lvl6pPr>
              <a:defRPr sz="2175" b="1">
                <a:solidFill>
                  <a:srgbClr val="DCFA6B"/>
                </a:solidFill>
                <a:latin typeface="Arial"/>
                <a:ea typeface="Arial"/>
                <a:cs typeface="Arial"/>
              </a:defRPr>
            </a:lvl6pPr>
            <a:lvl7pPr>
              <a:defRPr sz="2175" b="1">
                <a:solidFill>
                  <a:srgbClr val="DCFA6B"/>
                </a:solidFill>
                <a:latin typeface="Arial"/>
                <a:ea typeface="Arial"/>
                <a:cs typeface="Arial"/>
              </a:defRPr>
            </a:lvl7pPr>
            <a:lvl8pPr>
              <a:defRPr sz="2175" b="1">
                <a:solidFill>
                  <a:srgbClr val="DCFA6B"/>
                </a:solidFill>
                <a:latin typeface="Arial"/>
                <a:ea typeface="Arial"/>
                <a:cs typeface="Arial"/>
              </a:defRPr>
            </a:lvl8pPr>
            <a:lvl9pPr>
              <a:defRPr sz="2175" b="1">
                <a:solidFill>
                  <a:srgbClr val="DCFA6B"/>
                </a:solidFill>
                <a:latin typeface="Arial"/>
                <a:ea typeface="Arial"/>
                <a:cs typeface="Arial"/>
              </a:defRPr>
            </a:lvl9pPr>
          </a:lstStyle>
          <a:p xmlns:a="http://schemas.openxmlformats.org/drawingml/2006/main">
            <a:pPr>
              <a:defRPr sz="2175" b="1">
                <a:solidFill>
                  <a:srgbClr val="DCFA6B"/>
                </a:solidFill>
                <a:latin typeface="Arial"/>
                <a:ea typeface="Arial"/>
                <a:cs typeface="Arial"/>
              </a:defRPr>
            </a:pPr>
            <a:r>
              <a:rPr sz="2175" b="1">
                <a:solidFill>
                  <a:srgbClr val="DCFA6B"/>
                </a:solidFill>
                <a:latin typeface="Arial"/>
                <a:ea typeface="Arial"/>
                <a:cs typeface="Arial"/>
              </a:rPr>
              <a:t>A model vote stays a draft</a:t>
            </a:r>
          </a:p>
        </p:txBody>
      </p:sp>
      <p:sp>
        <p:nvSpPr>
          <p:cNvPr id="9" name="frontend/src/App.tsx:337">
            <a:extLst xmlns:a="http://schemas.openxmlformats.org/drawingml/2006/main">
              <a:ext uri="{FF2B5EF4-FFF2-40B4-BE49-F238E27FC236}">
                <a16:creationId xmlns:a16="http://schemas.microsoft.com/office/drawing/2014/main" id="{9CC80230-ACCF-4239-9FA3-1BCBCAC26F5D}"/>
              </a:ext>
            </a:extLst>
          </p:cNvPr>
          <p:cNvSpPr>
            <a:spLocks xmlns:a="http://schemas.openxmlformats.org/drawingml/2006/main" noGrp="1"/>
          </p:cNvSpPr>
          <p:nvPr/>
        </p:nvSpPr>
        <p:spPr>
          <a:xfrm xmlns:a="http://schemas.openxmlformats.org/drawingml/2006/main">
            <a:off x="7524750" y="2790825"/>
            <a:ext cx="4095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77D6DD"/>
                </a:solidFill>
                <a:latin typeface="Arial"/>
                <a:ea typeface="Arial"/>
                <a:cs typeface="Arial"/>
              </a:defRPr>
            </a:defPPr>
            <a:lvl1pPr>
              <a:defRPr sz="1500" b="0">
                <a:solidFill>
                  <a:srgbClr val="77D6DD"/>
                </a:solidFill>
                <a:latin typeface="Arial"/>
                <a:ea typeface="Arial"/>
                <a:cs typeface="Arial"/>
              </a:defRPr>
            </a:lvl1pPr>
            <a:lvl2pPr>
              <a:defRPr sz="1500" b="0">
                <a:solidFill>
                  <a:srgbClr val="77D6DD"/>
                </a:solidFill>
                <a:latin typeface="Arial"/>
                <a:ea typeface="Arial"/>
                <a:cs typeface="Arial"/>
              </a:defRPr>
            </a:lvl2pPr>
            <a:lvl3pPr>
              <a:defRPr sz="1500" b="0">
                <a:solidFill>
                  <a:srgbClr val="77D6DD"/>
                </a:solidFill>
                <a:latin typeface="Arial"/>
                <a:ea typeface="Arial"/>
                <a:cs typeface="Arial"/>
              </a:defRPr>
            </a:lvl3pPr>
            <a:lvl4pPr>
              <a:defRPr sz="1500" b="0">
                <a:solidFill>
                  <a:srgbClr val="77D6DD"/>
                </a:solidFill>
                <a:latin typeface="Arial"/>
                <a:ea typeface="Arial"/>
                <a:cs typeface="Arial"/>
              </a:defRPr>
            </a:lvl4pPr>
            <a:lvl5pPr>
              <a:defRPr sz="1500" b="0">
                <a:solidFill>
                  <a:srgbClr val="77D6DD"/>
                </a:solidFill>
                <a:latin typeface="Arial"/>
                <a:ea typeface="Arial"/>
                <a:cs typeface="Arial"/>
              </a:defRPr>
            </a:lvl5pPr>
            <a:lvl6pPr>
              <a:defRPr sz="1500" b="0">
                <a:solidFill>
                  <a:srgbClr val="77D6DD"/>
                </a:solidFill>
                <a:latin typeface="Arial"/>
                <a:ea typeface="Arial"/>
                <a:cs typeface="Arial"/>
              </a:defRPr>
            </a:lvl6pPr>
            <a:lvl7pPr>
              <a:defRPr sz="1500" b="0">
                <a:solidFill>
                  <a:srgbClr val="77D6DD"/>
                </a:solidFill>
                <a:latin typeface="Arial"/>
                <a:ea typeface="Arial"/>
                <a:cs typeface="Arial"/>
              </a:defRPr>
            </a:lvl7pPr>
            <a:lvl8pPr>
              <a:defRPr sz="1500" b="0">
                <a:solidFill>
                  <a:srgbClr val="77D6DD"/>
                </a:solidFill>
                <a:latin typeface="Arial"/>
                <a:ea typeface="Arial"/>
                <a:cs typeface="Arial"/>
              </a:defRPr>
            </a:lvl8pPr>
            <a:lvl9pPr>
              <a:defRPr sz="1500" b="0">
                <a:solidFill>
                  <a:srgbClr val="77D6DD"/>
                </a:solidFill>
                <a:latin typeface="Arial"/>
                <a:ea typeface="Arial"/>
                <a:cs typeface="Arial"/>
              </a:defRPr>
            </a:lvl9pPr>
          </a:lstStyle>
          <a:p xmlns:a="http://schemas.openxmlformats.org/drawingml/2006/main">
            <a:pPr>
              <a:defRPr sz="1500" b="0">
                <a:solidFill>
                  <a:srgbClr val="77D6DD"/>
                </a:solidFill>
                <a:latin typeface="Arial"/>
                <a:ea typeface="Arial"/>
                <a:cs typeface="Arial"/>
              </a:defRPr>
            </a:pPr>
            <a:r>
              <a:rPr sz="1500" b="0">
                <a:solidFill>
                  <a:srgbClr val="77D6DD"/>
                </a:solidFill>
                <a:latin typeface="Arial"/>
                <a:ea typeface="Arial"/>
                <a:cs typeface="Arial"/>
              </a:rPr>
              <a:t>frontend/src/App.tsx:337</a:t>
            </a:r>
          </a:p>
        </p:txBody>
      </p:sp>
      <p:sp>
        <p:nvSpPr>
          <p:cNvPr id="10" name="setBoxes(value);&#10;setEdited(true);">
            <a:extLst xmlns:a="http://schemas.openxmlformats.org/drawingml/2006/main">
              <a:ext uri="{FF2B5EF4-FFF2-40B4-BE49-F238E27FC236}">
                <a16:creationId xmlns:a16="http://schemas.microsoft.com/office/drawing/2014/main" id="{F75CE9E4-4A96-423E-BAA3-F3C310C6662B}"/>
              </a:ext>
            </a:extLst>
          </p:cNvPr>
          <p:cNvSpPr>
            <a:spLocks xmlns:a="http://schemas.openxmlformats.org/drawingml/2006/main" noGrp="1"/>
          </p:cNvSpPr>
          <p:nvPr/>
        </p:nvSpPr>
        <p:spPr>
          <a:xfrm xmlns:a="http://schemas.openxmlformats.org/drawingml/2006/main">
            <a:off x="7524750" y="3295650"/>
            <a:ext cx="4095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F0F5F6"/>
                </a:solidFill>
                <a:latin typeface="Arial"/>
                <a:ea typeface="Arial"/>
                <a:cs typeface="Arial"/>
              </a:defRPr>
            </a:defPPr>
            <a:lvl1pPr>
              <a:defRPr sz="2025" b="0">
                <a:solidFill>
                  <a:srgbClr val="F0F5F6"/>
                </a:solidFill>
                <a:latin typeface="Arial"/>
                <a:ea typeface="Arial"/>
                <a:cs typeface="Arial"/>
              </a:defRPr>
            </a:lvl1pPr>
            <a:lvl2pPr>
              <a:defRPr sz="2025" b="0">
                <a:solidFill>
                  <a:srgbClr val="F0F5F6"/>
                </a:solidFill>
                <a:latin typeface="Arial"/>
                <a:ea typeface="Arial"/>
                <a:cs typeface="Arial"/>
              </a:defRPr>
            </a:lvl2pPr>
            <a:lvl3pPr>
              <a:defRPr sz="2025" b="0">
                <a:solidFill>
                  <a:srgbClr val="F0F5F6"/>
                </a:solidFill>
                <a:latin typeface="Arial"/>
                <a:ea typeface="Arial"/>
                <a:cs typeface="Arial"/>
              </a:defRPr>
            </a:lvl3pPr>
            <a:lvl4pPr>
              <a:defRPr sz="2025" b="0">
                <a:solidFill>
                  <a:srgbClr val="F0F5F6"/>
                </a:solidFill>
                <a:latin typeface="Arial"/>
                <a:ea typeface="Arial"/>
                <a:cs typeface="Arial"/>
              </a:defRPr>
            </a:lvl4pPr>
            <a:lvl5pPr>
              <a:defRPr sz="2025" b="0">
                <a:solidFill>
                  <a:srgbClr val="F0F5F6"/>
                </a:solidFill>
                <a:latin typeface="Arial"/>
                <a:ea typeface="Arial"/>
                <a:cs typeface="Arial"/>
              </a:defRPr>
            </a:lvl5pPr>
            <a:lvl6pPr>
              <a:defRPr sz="2025" b="0">
                <a:solidFill>
                  <a:srgbClr val="F0F5F6"/>
                </a:solidFill>
                <a:latin typeface="Arial"/>
                <a:ea typeface="Arial"/>
                <a:cs typeface="Arial"/>
              </a:defRPr>
            </a:lvl6pPr>
            <a:lvl7pPr>
              <a:defRPr sz="2025" b="0">
                <a:solidFill>
                  <a:srgbClr val="F0F5F6"/>
                </a:solidFill>
                <a:latin typeface="Arial"/>
                <a:ea typeface="Arial"/>
                <a:cs typeface="Arial"/>
              </a:defRPr>
            </a:lvl7pPr>
            <a:lvl8pPr>
              <a:defRPr sz="2025" b="0">
                <a:solidFill>
                  <a:srgbClr val="F0F5F6"/>
                </a:solidFill>
                <a:latin typeface="Arial"/>
                <a:ea typeface="Arial"/>
                <a:cs typeface="Arial"/>
              </a:defRPr>
            </a:lvl8pPr>
            <a:lvl9pPr>
              <a:defRPr sz="2025" b="0">
                <a:solidFill>
                  <a:srgbClr val="F0F5F6"/>
                </a:solidFill>
                <a:latin typeface="Arial"/>
                <a:ea typeface="Arial"/>
                <a:cs typeface="Arial"/>
              </a:defRPr>
            </a:lvl9pPr>
          </a:lstStyle>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setBoxes(value);</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setEdited(true);</a:t>
            </a:r>
          </a:p>
        </p:txBody>
      </p:sp>
      <p:sp>
        <p:nvSpPr>
          <p:cNvPr id="11" name="The interface asks the reviewer&#10;to check every box">
            <a:extLst xmlns:a="http://schemas.openxmlformats.org/drawingml/2006/main">
              <a:ext uri="{FF2B5EF4-FFF2-40B4-BE49-F238E27FC236}">
                <a16:creationId xmlns:a16="http://schemas.microsoft.com/office/drawing/2014/main" id="{8F196828-76F2-4170-B927-87774827D38C}"/>
              </a:ext>
            </a:extLst>
          </p:cNvPr>
          <p:cNvSpPr>
            <a:spLocks xmlns:a="http://schemas.openxmlformats.org/drawingml/2006/main" noGrp="1"/>
          </p:cNvSpPr>
          <p:nvPr/>
        </p:nvSpPr>
        <p:spPr>
          <a:xfrm xmlns:a="http://schemas.openxmlformats.org/drawingml/2006/main">
            <a:off x="7524750" y="4429125"/>
            <a:ext cx="4095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The interface asks the reviewer</a:t>
            </a:r>
          </a:p>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to check every box and save.</a:t>
            </a:r>
          </a:p>
        </p:txBody>
      </p:sp>
      <p:sp>
        <p:nvSpPr>
          <p:cNvPr id="12" name="Abbreviated source excerpts. Validation and review">
            <a:extLst xmlns:a="http://schemas.openxmlformats.org/drawingml/2006/main">
              <a:ext uri="{FF2B5EF4-FFF2-40B4-BE49-F238E27FC236}">
                <a16:creationId xmlns:a16="http://schemas.microsoft.com/office/drawing/2014/main" id="{275DFC2B-0047-47D8-B7DF-3A00B57F023F}"/>
              </a:ext>
            </a:extLst>
          </p:cNvPr>
          <p:cNvSpPr>
            <a:spLocks xmlns:a="http://schemas.openxmlformats.org/drawingml/2006/main" noGrp="1"/>
          </p:cNvSpPr>
          <p:nvPr/>
        </p:nvSpPr>
        <p:spPr>
          <a:xfrm xmlns:a="http://schemas.openxmlformats.org/drawingml/2006/main">
            <a:off x="552450" y="5857875"/>
            <a:ext cx="1104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A5BDC6"/>
                </a:solidFill>
                <a:latin typeface="Arial"/>
                <a:ea typeface="Arial"/>
                <a:cs typeface="Arial"/>
              </a:defRPr>
            </a:defPPr>
            <a:lvl1pPr>
              <a:defRPr sz="1575" b="0">
                <a:solidFill>
                  <a:srgbClr val="A5BDC6"/>
                </a:solidFill>
                <a:latin typeface="Arial"/>
                <a:ea typeface="Arial"/>
                <a:cs typeface="Arial"/>
              </a:defRPr>
            </a:lvl1pPr>
            <a:lvl2pPr>
              <a:defRPr sz="1575" b="0">
                <a:solidFill>
                  <a:srgbClr val="A5BDC6"/>
                </a:solidFill>
                <a:latin typeface="Arial"/>
                <a:ea typeface="Arial"/>
                <a:cs typeface="Arial"/>
              </a:defRPr>
            </a:lvl2pPr>
            <a:lvl3pPr>
              <a:defRPr sz="1575" b="0">
                <a:solidFill>
                  <a:srgbClr val="A5BDC6"/>
                </a:solidFill>
                <a:latin typeface="Arial"/>
                <a:ea typeface="Arial"/>
                <a:cs typeface="Arial"/>
              </a:defRPr>
            </a:lvl3pPr>
            <a:lvl4pPr>
              <a:defRPr sz="1575" b="0">
                <a:solidFill>
                  <a:srgbClr val="A5BDC6"/>
                </a:solidFill>
                <a:latin typeface="Arial"/>
                <a:ea typeface="Arial"/>
                <a:cs typeface="Arial"/>
              </a:defRPr>
            </a:lvl4pPr>
            <a:lvl5pPr>
              <a:defRPr sz="1575" b="0">
                <a:solidFill>
                  <a:srgbClr val="A5BDC6"/>
                </a:solidFill>
                <a:latin typeface="Arial"/>
                <a:ea typeface="Arial"/>
                <a:cs typeface="Arial"/>
              </a:defRPr>
            </a:lvl5pPr>
            <a:lvl6pPr>
              <a:defRPr sz="1575" b="0">
                <a:solidFill>
                  <a:srgbClr val="A5BDC6"/>
                </a:solidFill>
                <a:latin typeface="Arial"/>
                <a:ea typeface="Arial"/>
                <a:cs typeface="Arial"/>
              </a:defRPr>
            </a:lvl6pPr>
            <a:lvl7pPr>
              <a:defRPr sz="1575" b="0">
                <a:solidFill>
                  <a:srgbClr val="A5BDC6"/>
                </a:solidFill>
                <a:latin typeface="Arial"/>
                <a:ea typeface="Arial"/>
                <a:cs typeface="Arial"/>
              </a:defRPr>
            </a:lvl7pPr>
            <a:lvl8pPr>
              <a:defRPr sz="1575" b="0">
                <a:solidFill>
                  <a:srgbClr val="A5BDC6"/>
                </a:solidFill>
                <a:latin typeface="Arial"/>
                <a:ea typeface="Arial"/>
                <a:cs typeface="Arial"/>
              </a:defRPr>
            </a:lvl8pPr>
            <a:lvl9pPr>
              <a:defRPr sz="1575" b="0">
                <a:solidFill>
                  <a:srgbClr val="A5BDC6"/>
                </a:solidFill>
                <a:latin typeface="Arial"/>
                <a:ea typeface="Arial"/>
                <a:cs typeface="Arial"/>
              </a:defRPr>
            </a:lvl9pPr>
          </a:lstStyle>
          <a:p xmlns:a="http://schemas.openxmlformats.org/drawingml/2006/main">
            <a:pPr>
              <a:defRPr sz="1575" b="0">
                <a:solidFill>
                  <a:srgbClr val="A5BDC6"/>
                </a:solidFill>
                <a:latin typeface="Arial"/>
                <a:ea typeface="Arial"/>
                <a:cs typeface="Arial"/>
              </a:defRPr>
            </a:pPr>
            <a:r>
              <a:rPr sz="1575" b="0">
                <a:solidFill>
                  <a:srgbClr val="A5BDC6"/>
                </a:solidFill>
                <a:latin typeface="Arial"/>
                <a:ea typeface="Arial"/>
                <a:cs typeface="Arial"/>
              </a:rPr>
              <a:t>Abbreviated source excerpts. Validation and review history remain in their shared modules.</a:t>
            </a:r>
          </a:p>
        </p:txBody>
      </p:sp>
    </p:spTree>
    <p:extLst>
      <p:ext uri="{BB962C8B-B14F-4D97-AF65-F5344CB8AC3E}">
        <p14:creationId xmlns:p14="http://schemas.microsoft.com/office/powerpoint/2010/main" val="874015409"/>
      </p:ext>
    </p:extLst>
  </p:cSld>
</p:sld>
</file>

<file path=ppt/slides/slide10.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8" name="APPENDIX C / DEPLOYMENT">
            <a:extLst xmlns:a="http://schemas.openxmlformats.org/drawingml/2006/main">
              <a:ext uri="{FF2B5EF4-FFF2-40B4-BE49-F238E27FC236}">
                <a16:creationId xmlns:a16="http://schemas.microsoft.com/office/drawing/2014/main" id="{1BB60BBF-77F1-480B-B536-C40617AB49BC}"/>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C / DEPLOYMENT</a:t>
            </a:r>
          </a:p>
        </p:txBody>
      </p:sp>
      <p:sp>
        <p:nvSpPr>
          <p:cNvPr id="2" name="Running RoadScan on another laptop">
            <a:extLst xmlns:a="http://schemas.openxmlformats.org/drawingml/2006/main">
              <a:ext uri="{FF2B5EF4-FFF2-40B4-BE49-F238E27FC236}">
                <a16:creationId xmlns:a16="http://schemas.microsoft.com/office/drawing/2014/main" id="{37B518C4-014A-47C3-A65E-74B3C8271B8E}"/>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Running RoadScan on another laptop</a:t>
            </a:r>
          </a:p>
        </p:txBody>
      </p:sp>
      <p:sp>
        <p:nvSpPr>
          <p:cNvPr id="3" name="RoadScan / AIEP capstone">
            <a:extLst xmlns:a="http://schemas.openxmlformats.org/drawingml/2006/main">
              <a:ext uri="{FF2B5EF4-FFF2-40B4-BE49-F238E27FC236}">
                <a16:creationId xmlns:a16="http://schemas.microsoft.com/office/drawing/2014/main" id="{0303B519-F932-47BD-BBA1-64355A3F1F41}"/>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10">
            <a:extLst xmlns:a="http://schemas.openxmlformats.org/drawingml/2006/main">
              <a:ext uri="{FF2B5EF4-FFF2-40B4-BE49-F238E27FC236}">
                <a16:creationId xmlns:a16="http://schemas.microsoft.com/office/drawing/2014/main" id="{F0278442-2EFF-4435-9DA2-C077A7841096}"/>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10</a:t>
            </a:r>
          </a:p>
        </p:txBody>
      </p:sp>
      <p:sp>
        <p:nvSpPr>
          <p:cNvPr id="5" name="1">
            <a:extLst xmlns:a="http://schemas.openxmlformats.org/drawingml/2006/main">
              <a:ext uri="{FF2B5EF4-FFF2-40B4-BE49-F238E27FC236}">
                <a16:creationId xmlns:a16="http://schemas.microsoft.com/office/drawing/2014/main" id="{8FB7B1D0-8AB9-44F2-B8E9-80C119F9D3F8}"/>
              </a:ext>
            </a:extLst>
          </p:cNvPr>
          <p:cNvSpPr>
            <a:spLocks xmlns:a="http://schemas.openxmlformats.org/drawingml/2006/main" noGrp="1"/>
          </p:cNvSpPr>
          <p:nvPr/>
        </p:nvSpPr>
        <p:spPr>
          <a:xfrm xmlns:a="http://schemas.openxmlformats.org/drawingml/2006/main">
            <a:off x="552450" y="194310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1</a:t>
            </a:r>
          </a:p>
        </p:txBody>
      </p:sp>
      <p:sp>
        <p:nvSpPr>
          <p:cNvPr id="6" name="Docker Desktop">
            <a:extLst xmlns:a="http://schemas.openxmlformats.org/drawingml/2006/main">
              <a:ext uri="{FF2B5EF4-FFF2-40B4-BE49-F238E27FC236}">
                <a16:creationId xmlns:a16="http://schemas.microsoft.com/office/drawing/2014/main" id="{FC45531A-0F77-4494-ABC5-4AC08FAF649F}"/>
              </a:ext>
            </a:extLst>
          </p:cNvPr>
          <p:cNvSpPr>
            <a:spLocks xmlns:a="http://schemas.openxmlformats.org/drawingml/2006/main" noGrp="1"/>
          </p:cNvSpPr>
          <p:nvPr/>
        </p:nvSpPr>
        <p:spPr>
          <a:xfrm xmlns:a="http://schemas.openxmlformats.org/drawingml/2006/main">
            <a:off x="1438275" y="19431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Docker Desktop</a:t>
            </a:r>
          </a:p>
        </p:txBody>
      </p:sp>
      <p:sp>
        <p:nvSpPr>
          <p:cNvPr id="7" name="Use Linux containers and the repository setup guid">
            <a:extLst xmlns:a="http://schemas.openxmlformats.org/drawingml/2006/main">
              <a:ext uri="{FF2B5EF4-FFF2-40B4-BE49-F238E27FC236}">
                <a16:creationId xmlns:a16="http://schemas.microsoft.com/office/drawing/2014/main" id="{0F140D01-5FBB-4BA3-82D5-2725A26E3052}"/>
              </a:ext>
            </a:extLst>
          </p:cNvPr>
          <p:cNvSpPr>
            <a:spLocks xmlns:a="http://schemas.openxmlformats.org/drawingml/2006/main" noGrp="1"/>
          </p:cNvSpPr>
          <p:nvPr/>
        </p:nvSpPr>
        <p:spPr>
          <a:xfrm xmlns:a="http://schemas.openxmlformats.org/drawingml/2006/main">
            <a:off x="1438275" y="23622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Use Linux containers and the repository setup guide.</a:t>
            </a:r>
          </a:p>
        </p:txBody>
      </p:sp>
      <p:sp>
        <p:nvSpPr>
          <p:cNvPr id="8" name="2">
            <a:extLst xmlns:a="http://schemas.openxmlformats.org/drawingml/2006/main">
              <a:ext uri="{FF2B5EF4-FFF2-40B4-BE49-F238E27FC236}">
                <a16:creationId xmlns:a16="http://schemas.microsoft.com/office/drawing/2014/main" id="{CDC0D6FA-4959-40C6-92A5-8E0F1D570FFE}"/>
              </a:ext>
            </a:extLst>
          </p:cNvPr>
          <p:cNvSpPr>
            <a:spLocks xmlns:a="http://schemas.openxmlformats.org/drawingml/2006/main" noGrp="1"/>
          </p:cNvSpPr>
          <p:nvPr/>
        </p:nvSpPr>
        <p:spPr>
          <a:xfrm xmlns:a="http://schemas.openxmlformats.org/drawingml/2006/main">
            <a:off x="552450" y="287655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2</a:t>
            </a:r>
          </a:p>
        </p:txBody>
      </p:sp>
      <p:sp>
        <p:nvSpPr>
          <p:cNvPr id="9" name="Local settings">
            <a:extLst xmlns:a="http://schemas.openxmlformats.org/drawingml/2006/main">
              <a:ext uri="{FF2B5EF4-FFF2-40B4-BE49-F238E27FC236}">
                <a16:creationId xmlns:a16="http://schemas.microsoft.com/office/drawing/2014/main" id="{F376CA59-19C8-4D6D-8CED-16A80CD4A039}"/>
              </a:ext>
            </a:extLst>
          </p:cNvPr>
          <p:cNvSpPr>
            <a:spLocks xmlns:a="http://schemas.openxmlformats.org/drawingml/2006/main" noGrp="1"/>
          </p:cNvSpPr>
          <p:nvPr/>
        </p:nvSpPr>
        <p:spPr>
          <a:xfrm xmlns:a="http://schemas.openxmlformats.org/drawingml/2006/main">
            <a:off x="1438275" y="28765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Local settings</a:t>
            </a:r>
          </a:p>
        </p:txBody>
      </p:sp>
      <p:sp>
        <p:nvSpPr>
          <p:cNvPr id="10" name="Generate the local token and keep the data volume.">
            <a:extLst xmlns:a="http://schemas.openxmlformats.org/drawingml/2006/main">
              <a:ext uri="{FF2B5EF4-FFF2-40B4-BE49-F238E27FC236}">
                <a16:creationId xmlns:a16="http://schemas.microsoft.com/office/drawing/2014/main" id="{EA43E2A5-2CD2-4A5D-889A-C6CAF25EEAFB}"/>
              </a:ext>
            </a:extLst>
          </p:cNvPr>
          <p:cNvSpPr>
            <a:spLocks xmlns:a="http://schemas.openxmlformats.org/drawingml/2006/main" noGrp="1"/>
          </p:cNvSpPr>
          <p:nvPr/>
        </p:nvSpPr>
        <p:spPr>
          <a:xfrm xmlns:a="http://schemas.openxmlformats.org/drawingml/2006/main">
            <a:off x="1438275" y="32956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Generate the local token and keep the data volume.</a:t>
            </a:r>
          </a:p>
        </p:txBody>
      </p:sp>
      <p:sp>
        <p:nvSpPr>
          <p:cNvPr id="11" name="3">
            <a:extLst xmlns:a="http://schemas.openxmlformats.org/drawingml/2006/main">
              <a:ext uri="{FF2B5EF4-FFF2-40B4-BE49-F238E27FC236}">
                <a16:creationId xmlns:a16="http://schemas.microsoft.com/office/drawing/2014/main" id="{4D6AB26C-A84E-49DF-9E7D-7324BD328003}"/>
              </a:ext>
            </a:extLst>
          </p:cNvPr>
          <p:cNvSpPr>
            <a:spLocks xmlns:a="http://schemas.openxmlformats.org/drawingml/2006/main" noGrp="1"/>
          </p:cNvSpPr>
          <p:nvPr/>
        </p:nvSpPr>
        <p:spPr>
          <a:xfrm xmlns:a="http://schemas.openxmlformats.org/drawingml/2006/main">
            <a:off x="552450" y="381000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3</a:t>
            </a:r>
          </a:p>
        </p:txBody>
      </p:sp>
      <p:sp>
        <p:nvSpPr>
          <p:cNvPr id="12" name="Trusted checkpoint">
            <a:extLst xmlns:a="http://schemas.openxmlformats.org/drawingml/2006/main">
              <a:ext uri="{FF2B5EF4-FFF2-40B4-BE49-F238E27FC236}">
                <a16:creationId xmlns:a16="http://schemas.microsoft.com/office/drawing/2014/main" id="{93AAD8B6-AF84-4595-B077-FEE9CCDD3A69}"/>
              </a:ext>
            </a:extLst>
          </p:cNvPr>
          <p:cNvSpPr>
            <a:spLocks xmlns:a="http://schemas.openxmlformats.org/drawingml/2006/main" noGrp="1"/>
          </p:cNvSpPr>
          <p:nvPr/>
        </p:nvSpPr>
        <p:spPr>
          <a:xfrm xmlns:a="http://schemas.openxmlformats.org/drawingml/2006/main">
            <a:off x="1438275" y="38100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Trusted checkpoint</a:t>
            </a:r>
          </a:p>
        </p:txBody>
      </p:sp>
      <p:sp>
        <p:nvSpPr>
          <p:cNvPr id="13" name="Import a compatible road model and confirm Active.">
            <a:extLst xmlns:a="http://schemas.openxmlformats.org/drawingml/2006/main">
              <a:ext uri="{FF2B5EF4-FFF2-40B4-BE49-F238E27FC236}">
                <a16:creationId xmlns:a16="http://schemas.microsoft.com/office/drawing/2014/main" id="{858965A7-D278-4A4C-B8F7-1D29225F5CE3}"/>
              </a:ext>
            </a:extLst>
          </p:cNvPr>
          <p:cNvSpPr>
            <a:spLocks xmlns:a="http://schemas.openxmlformats.org/drawingml/2006/main" noGrp="1"/>
          </p:cNvSpPr>
          <p:nvPr/>
        </p:nvSpPr>
        <p:spPr>
          <a:xfrm xmlns:a="http://schemas.openxmlformats.org/drawingml/2006/main">
            <a:off x="1438275" y="422910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Import a compatible road model and confirm Active.</a:t>
            </a:r>
          </a:p>
        </p:txBody>
      </p:sp>
      <p:sp>
        <p:nvSpPr>
          <p:cNvPr id="14" name="4">
            <a:extLst xmlns:a="http://schemas.openxmlformats.org/drawingml/2006/main">
              <a:ext uri="{FF2B5EF4-FFF2-40B4-BE49-F238E27FC236}">
                <a16:creationId xmlns:a16="http://schemas.microsoft.com/office/drawing/2014/main" id="{722CB8CA-F6C2-4AD7-9C22-AD36BD592060}"/>
              </a:ext>
            </a:extLst>
          </p:cNvPr>
          <p:cNvSpPr>
            <a:spLocks xmlns:a="http://schemas.openxmlformats.org/drawingml/2006/main" noGrp="1"/>
          </p:cNvSpPr>
          <p:nvPr/>
        </p:nvSpPr>
        <p:spPr>
          <a:xfrm xmlns:a="http://schemas.openxmlformats.org/drawingml/2006/main">
            <a:off x="552450" y="4743450"/>
            <a:ext cx="609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75" b="1">
                <a:solidFill>
                  <a:srgbClr val="DCFA6B"/>
                </a:solidFill>
                <a:latin typeface="Arial"/>
                <a:ea typeface="Arial"/>
                <a:cs typeface="Arial"/>
              </a:defRPr>
            </a:defPPr>
            <a:lvl1pPr>
              <a:defRPr sz="3375" b="1">
                <a:solidFill>
                  <a:srgbClr val="DCFA6B"/>
                </a:solidFill>
                <a:latin typeface="Arial"/>
                <a:ea typeface="Arial"/>
                <a:cs typeface="Arial"/>
              </a:defRPr>
            </a:lvl1pPr>
            <a:lvl2pPr>
              <a:defRPr sz="3375" b="1">
                <a:solidFill>
                  <a:srgbClr val="DCFA6B"/>
                </a:solidFill>
                <a:latin typeface="Arial"/>
                <a:ea typeface="Arial"/>
                <a:cs typeface="Arial"/>
              </a:defRPr>
            </a:lvl2pPr>
            <a:lvl3pPr>
              <a:defRPr sz="3375" b="1">
                <a:solidFill>
                  <a:srgbClr val="DCFA6B"/>
                </a:solidFill>
                <a:latin typeface="Arial"/>
                <a:ea typeface="Arial"/>
                <a:cs typeface="Arial"/>
              </a:defRPr>
            </a:lvl3pPr>
            <a:lvl4pPr>
              <a:defRPr sz="3375" b="1">
                <a:solidFill>
                  <a:srgbClr val="DCFA6B"/>
                </a:solidFill>
                <a:latin typeface="Arial"/>
                <a:ea typeface="Arial"/>
                <a:cs typeface="Arial"/>
              </a:defRPr>
            </a:lvl4pPr>
            <a:lvl5pPr>
              <a:defRPr sz="3375" b="1">
                <a:solidFill>
                  <a:srgbClr val="DCFA6B"/>
                </a:solidFill>
                <a:latin typeface="Arial"/>
                <a:ea typeface="Arial"/>
                <a:cs typeface="Arial"/>
              </a:defRPr>
            </a:lvl5pPr>
            <a:lvl6pPr>
              <a:defRPr sz="3375" b="1">
                <a:solidFill>
                  <a:srgbClr val="DCFA6B"/>
                </a:solidFill>
                <a:latin typeface="Arial"/>
                <a:ea typeface="Arial"/>
                <a:cs typeface="Arial"/>
              </a:defRPr>
            </a:lvl6pPr>
            <a:lvl7pPr>
              <a:defRPr sz="3375" b="1">
                <a:solidFill>
                  <a:srgbClr val="DCFA6B"/>
                </a:solidFill>
                <a:latin typeface="Arial"/>
                <a:ea typeface="Arial"/>
                <a:cs typeface="Arial"/>
              </a:defRPr>
            </a:lvl7pPr>
            <a:lvl8pPr>
              <a:defRPr sz="3375" b="1">
                <a:solidFill>
                  <a:srgbClr val="DCFA6B"/>
                </a:solidFill>
                <a:latin typeface="Arial"/>
                <a:ea typeface="Arial"/>
                <a:cs typeface="Arial"/>
              </a:defRPr>
            </a:lvl8pPr>
            <a:lvl9pPr>
              <a:defRPr sz="3375" b="1">
                <a:solidFill>
                  <a:srgbClr val="DCFA6B"/>
                </a:solidFill>
                <a:latin typeface="Arial"/>
                <a:ea typeface="Arial"/>
                <a:cs typeface="Arial"/>
              </a:defRPr>
            </a:lvl9pPr>
          </a:lstStyle>
          <a:p xmlns:a="http://schemas.openxmlformats.org/drawingml/2006/main">
            <a:pPr>
              <a:defRPr sz="3375" b="1">
                <a:solidFill>
                  <a:srgbClr val="DCFA6B"/>
                </a:solidFill>
                <a:latin typeface="Arial"/>
                <a:ea typeface="Arial"/>
                <a:cs typeface="Arial"/>
              </a:defRPr>
            </a:pPr>
            <a:r>
              <a:rPr sz="3375" b="1">
                <a:solidFill>
                  <a:srgbClr val="DCFA6B"/>
                </a:solidFill>
                <a:latin typeface="Arial"/>
                <a:ea typeface="Arial"/>
                <a:cs typeface="Arial"/>
              </a:rPr>
              <a:t>4</a:t>
            </a:r>
          </a:p>
        </p:txBody>
      </p:sp>
      <p:sp>
        <p:nvSpPr>
          <p:cNvPr id="15" name="First report">
            <a:extLst xmlns:a="http://schemas.openxmlformats.org/drawingml/2006/main">
              <a:ext uri="{FF2B5EF4-FFF2-40B4-BE49-F238E27FC236}">
                <a16:creationId xmlns:a16="http://schemas.microsoft.com/office/drawing/2014/main" id="{8F5DEC78-376B-4CEC-8187-4FDEDC971DA7}"/>
              </a:ext>
            </a:extLst>
          </p:cNvPr>
          <p:cNvSpPr>
            <a:spLocks xmlns:a="http://schemas.openxmlformats.org/drawingml/2006/main" noGrp="1"/>
          </p:cNvSpPr>
          <p:nvPr/>
        </p:nvSpPr>
        <p:spPr>
          <a:xfrm xmlns:a="http://schemas.openxmlformats.org/drawingml/2006/main">
            <a:off x="1438275" y="47434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F0F5F6"/>
                </a:solidFill>
                <a:latin typeface="Arial"/>
                <a:ea typeface="Arial"/>
                <a:cs typeface="Arial"/>
              </a:defRPr>
            </a:defPPr>
            <a:lvl1pPr>
              <a:defRPr sz="2100" b="1">
                <a:solidFill>
                  <a:srgbClr val="F0F5F6"/>
                </a:solidFill>
                <a:latin typeface="Arial"/>
                <a:ea typeface="Arial"/>
                <a:cs typeface="Arial"/>
              </a:defRPr>
            </a:lvl1pPr>
            <a:lvl2pPr>
              <a:defRPr sz="2100" b="1">
                <a:solidFill>
                  <a:srgbClr val="F0F5F6"/>
                </a:solidFill>
                <a:latin typeface="Arial"/>
                <a:ea typeface="Arial"/>
                <a:cs typeface="Arial"/>
              </a:defRPr>
            </a:lvl2pPr>
            <a:lvl3pPr>
              <a:defRPr sz="2100" b="1">
                <a:solidFill>
                  <a:srgbClr val="F0F5F6"/>
                </a:solidFill>
                <a:latin typeface="Arial"/>
                <a:ea typeface="Arial"/>
                <a:cs typeface="Arial"/>
              </a:defRPr>
            </a:lvl3pPr>
            <a:lvl4pPr>
              <a:defRPr sz="2100" b="1">
                <a:solidFill>
                  <a:srgbClr val="F0F5F6"/>
                </a:solidFill>
                <a:latin typeface="Arial"/>
                <a:ea typeface="Arial"/>
                <a:cs typeface="Arial"/>
              </a:defRPr>
            </a:lvl4pPr>
            <a:lvl5pPr>
              <a:defRPr sz="2100" b="1">
                <a:solidFill>
                  <a:srgbClr val="F0F5F6"/>
                </a:solidFill>
                <a:latin typeface="Arial"/>
                <a:ea typeface="Arial"/>
                <a:cs typeface="Arial"/>
              </a:defRPr>
            </a:lvl5pPr>
            <a:lvl6pPr>
              <a:defRPr sz="2100" b="1">
                <a:solidFill>
                  <a:srgbClr val="F0F5F6"/>
                </a:solidFill>
                <a:latin typeface="Arial"/>
                <a:ea typeface="Arial"/>
                <a:cs typeface="Arial"/>
              </a:defRPr>
            </a:lvl6pPr>
            <a:lvl7pPr>
              <a:defRPr sz="2100" b="1">
                <a:solidFill>
                  <a:srgbClr val="F0F5F6"/>
                </a:solidFill>
                <a:latin typeface="Arial"/>
                <a:ea typeface="Arial"/>
                <a:cs typeface="Arial"/>
              </a:defRPr>
            </a:lvl7pPr>
            <a:lvl8pPr>
              <a:defRPr sz="2100" b="1">
                <a:solidFill>
                  <a:srgbClr val="F0F5F6"/>
                </a:solidFill>
                <a:latin typeface="Arial"/>
                <a:ea typeface="Arial"/>
                <a:cs typeface="Arial"/>
              </a:defRPr>
            </a:lvl8pPr>
            <a:lvl9pPr>
              <a:defRPr sz="2100" b="1">
                <a:solidFill>
                  <a:srgbClr val="F0F5F6"/>
                </a:solidFill>
                <a:latin typeface="Arial"/>
                <a:ea typeface="Arial"/>
                <a:cs typeface="Arial"/>
              </a:defRPr>
            </a:lvl9pPr>
          </a:lstStyle>
          <a:p xmlns:a="http://schemas.openxmlformats.org/drawingml/2006/main">
            <a:pPr>
              <a:defRPr sz="2100" b="1">
                <a:solidFill>
                  <a:srgbClr val="F0F5F6"/>
                </a:solidFill>
                <a:latin typeface="Arial"/>
                <a:ea typeface="Arial"/>
                <a:cs typeface="Arial"/>
              </a:defRPr>
            </a:pPr>
            <a:r>
              <a:rPr sz="2100" b="1">
                <a:solidFill>
                  <a:srgbClr val="F0F5F6"/>
                </a:solidFill>
                <a:latin typeface="Arial"/>
                <a:ea typeface="Arial"/>
                <a:cs typeface="Arial"/>
              </a:rPr>
              <a:t>First report</a:t>
            </a:r>
          </a:p>
        </p:txBody>
      </p:sp>
      <p:sp>
        <p:nvSpPr>
          <p:cNvPr id="16" name="Analyze a photo, inspect the boxes, then save a re">
            <a:extLst xmlns:a="http://schemas.openxmlformats.org/drawingml/2006/main">
              <a:ext uri="{FF2B5EF4-FFF2-40B4-BE49-F238E27FC236}">
                <a16:creationId xmlns:a16="http://schemas.microsoft.com/office/drawing/2014/main" id="{93EF1445-F82B-4ABD-A905-5575C3CA5EA8}"/>
              </a:ext>
            </a:extLst>
          </p:cNvPr>
          <p:cNvSpPr>
            <a:spLocks xmlns:a="http://schemas.openxmlformats.org/drawingml/2006/main" noGrp="1"/>
          </p:cNvSpPr>
          <p:nvPr/>
        </p:nvSpPr>
        <p:spPr>
          <a:xfrm xmlns:a="http://schemas.openxmlformats.org/drawingml/2006/main">
            <a:off x="1438275" y="5162550"/>
            <a:ext cx="10096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Analyze a photo, inspect the boxes, then save a review.</a:t>
            </a:r>
          </a:p>
        </p:txBody>
      </p:sp>
      <p:sp>
        <p:nvSpPr>
          <p:cNvPr id="17" name="Fresh-machine acceptance, Mac/ARM and physical dro">
            <a:extLst xmlns:a="http://schemas.openxmlformats.org/drawingml/2006/main">
              <a:ext uri="{FF2B5EF4-FFF2-40B4-BE49-F238E27FC236}">
                <a16:creationId xmlns:a16="http://schemas.microsoft.com/office/drawing/2014/main" id="{0DB35ECC-1714-4340-97F6-C6CC40BF0E9C}"/>
              </a:ext>
            </a:extLst>
          </p:cNvPr>
          <p:cNvSpPr>
            <a:spLocks xmlns:a="http://schemas.openxmlformats.org/drawingml/2006/main" noGrp="1"/>
          </p:cNvSpPr>
          <p:nvPr/>
        </p:nvSpPr>
        <p:spPr>
          <a:xfrm xmlns:a="http://schemas.openxmlformats.org/drawingml/2006/main">
            <a:off x="552450" y="5962650"/>
            <a:ext cx="11049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77D6DD"/>
                </a:solidFill>
                <a:latin typeface="Arial"/>
                <a:ea typeface="Arial"/>
                <a:cs typeface="Arial"/>
              </a:defRPr>
            </a:defPPr>
            <a:lvl1pPr>
              <a:defRPr sz="1650" b="0">
                <a:solidFill>
                  <a:srgbClr val="77D6DD"/>
                </a:solidFill>
                <a:latin typeface="Arial"/>
                <a:ea typeface="Arial"/>
                <a:cs typeface="Arial"/>
              </a:defRPr>
            </a:lvl1pPr>
            <a:lvl2pPr>
              <a:defRPr sz="1650" b="0">
                <a:solidFill>
                  <a:srgbClr val="77D6DD"/>
                </a:solidFill>
                <a:latin typeface="Arial"/>
                <a:ea typeface="Arial"/>
                <a:cs typeface="Arial"/>
              </a:defRPr>
            </a:lvl2pPr>
            <a:lvl3pPr>
              <a:defRPr sz="1650" b="0">
                <a:solidFill>
                  <a:srgbClr val="77D6DD"/>
                </a:solidFill>
                <a:latin typeface="Arial"/>
                <a:ea typeface="Arial"/>
                <a:cs typeface="Arial"/>
              </a:defRPr>
            </a:lvl3pPr>
            <a:lvl4pPr>
              <a:defRPr sz="1650" b="0">
                <a:solidFill>
                  <a:srgbClr val="77D6DD"/>
                </a:solidFill>
                <a:latin typeface="Arial"/>
                <a:ea typeface="Arial"/>
                <a:cs typeface="Arial"/>
              </a:defRPr>
            </a:lvl4pPr>
            <a:lvl5pPr>
              <a:defRPr sz="1650" b="0">
                <a:solidFill>
                  <a:srgbClr val="77D6DD"/>
                </a:solidFill>
                <a:latin typeface="Arial"/>
                <a:ea typeface="Arial"/>
                <a:cs typeface="Arial"/>
              </a:defRPr>
            </a:lvl5pPr>
            <a:lvl6pPr>
              <a:defRPr sz="1650" b="0">
                <a:solidFill>
                  <a:srgbClr val="77D6DD"/>
                </a:solidFill>
                <a:latin typeface="Arial"/>
                <a:ea typeface="Arial"/>
                <a:cs typeface="Arial"/>
              </a:defRPr>
            </a:lvl6pPr>
            <a:lvl7pPr>
              <a:defRPr sz="1650" b="0">
                <a:solidFill>
                  <a:srgbClr val="77D6DD"/>
                </a:solidFill>
                <a:latin typeface="Arial"/>
                <a:ea typeface="Arial"/>
                <a:cs typeface="Arial"/>
              </a:defRPr>
            </a:lvl7pPr>
            <a:lvl8pPr>
              <a:defRPr sz="1650" b="0">
                <a:solidFill>
                  <a:srgbClr val="77D6DD"/>
                </a:solidFill>
                <a:latin typeface="Arial"/>
                <a:ea typeface="Arial"/>
                <a:cs typeface="Arial"/>
              </a:defRPr>
            </a:lvl8pPr>
            <a:lvl9pPr>
              <a:defRPr sz="1650" b="0">
                <a:solidFill>
                  <a:srgbClr val="77D6DD"/>
                </a:solidFill>
                <a:latin typeface="Arial"/>
                <a:ea typeface="Arial"/>
                <a:cs typeface="Arial"/>
              </a:defRPr>
            </a:lvl9pPr>
          </a:lstStyle>
          <a:p xmlns:a="http://schemas.openxmlformats.org/drawingml/2006/main">
            <a:pPr>
              <a:defRPr sz="1650" b="0">
                <a:solidFill>
                  <a:srgbClr val="77D6DD"/>
                </a:solidFill>
                <a:latin typeface="Arial"/>
                <a:ea typeface="Arial"/>
                <a:cs typeface="Arial"/>
              </a:defRPr>
            </a:pPr>
            <a:r>
              <a:rPr sz="1650" b="0">
                <a:solidFill>
                  <a:srgbClr val="77D6DD"/>
                </a:solidFill>
                <a:latin typeface="Arial"/>
                <a:ea typeface="Arial"/>
                <a:cs typeface="Arial"/>
              </a:rPr>
              <a:t>Fresh-machine acceptance, Mac/ARM and physical drone integration remain unverified.</a:t>
            </a:r>
          </a:p>
        </p:txBody>
      </p:sp>
    </p:spTree>
    <p:extLst>
      <p:ext uri="{BB962C8B-B14F-4D97-AF65-F5344CB8AC3E}">
        <p14:creationId xmlns:p14="http://schemas.microsoft.com/office/powerpoint/2010/main" val="808542499"/>
      </p:ext>
    </p:extLst>
  </p:cSld>
</p:sld>
</file>

<file path=ppt/slides/slide11.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0" name="APPENDIX D / DEMO AND QUESTIONS">
            <a:extLst xmlns:a="http://schemas.openxmlformats.org/drawingml/2006/main">
              <a:ext uri="{FF2B5EF4-FFF2-40B4-BE49-F238E27FC236}">
                <a16:creationId xmlns:a16="http://schemas.microsoft.com/office/drawing/2014/main" id="{652E783E-C5C6-41EE-A665-487FF5E62A77}"/>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D / DEMO AND QUESTIONS</a:t>
            </a:r>
          </a:p>
        </p:txBody>
      </p:sp>
      <p:sp>
        <p:nvSpPr>
          <p:cNvPr id="2" name="A short demonstration with evidence">
            <a:extLst xmlns:a="http://schemas.openxmlformats.org/drawingml/2006/main">
              <a:ext uri="{FF2B5EF4-FFF2-40B4-BE49-F238E27FC236}">
                <a16:creationId xmlns:a16="http://schemas.microsoft.com/office/drawing/2014/main" id="{1329A13B-BB03-4F8E-973A-7CC50A754D59}"/>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A short demonstration with evidence</a:t>
            </a:r>
          </a:p>
        </p:txBody>
      </p:sp>
      <p:sp>
        <p:nvSpPr>
          <p:cNvPr id="3" name="RoadScan / AIEP capstone">
            <a:extLst xmlns:a="http://schemas.openxmlformats.org/drawingml/2006/main">
              <a:ext uri="{FF2B5EF4-FFF2-40B4-BE49-F238E27FC236}">
                <a16:creationId xmlns:a16="http://schemas.microsoft.com/office/drawing/2014/main" id="{54D515BA-EEFF-49D1-AC24-B0EDE03C1CB1}"/>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11">
            <a:extLst xmlns:a="http://schemas.openxmlformats.org/drawingml/2006/main">
              <a:ext uri="{FF2B5EF4-FFF2-40B4-BE49-F238E27FC236}">
                <a16:creationId xmlns:a16="http://schemas.microsoft.com/office/drawing/2014/main" id="{80797D99-DD84-40EA-A5D7-6BE843346870}"/>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11</a:t>
            </a:r>
          </a:p>
        </p:txBody>
      </p:sp>
      <p:sp>
        <p:nvSpPr>
          <p:cNvPr id="5" name="Show">
            <a:extLst xmlns:a="http://schemas.openxmlformats.org/drawingml/2006/main">
              <a:ext uri="{FF2B5EF4-FFF2-40B4-BE49-F238E27FC236}">
                <a16:creationId xmlns:a16="http://schemas.microsoft.com/office/drawing/2014/main" id="{E228A792-7A38-4C5A-ADEA-CB6D5A4BBB4C}"/>
              </a:ext>
            </a:extLst>
          </p:cNvPr>
          <p:cNvSpPr>
            <a:spLocks xmlns:a="http://schemas.openxmlformats.org/drawingml/2006/main" noGrp="1"/>
          </p:cNvSpPr>
          <p:nvPr/>
        </p:nvSpPr>
        <p:spPr>
          <a:xfrm xmlns:a="http://schemas.openxmlformats.org/drawingml/2006/main">
            <a:off x="552450" y="2009775"/>
            <a:ext cx="504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DCFA6B"/>
                </a:solidFill>
                <a:latin typeface="Arial"/>
                <a:ea typeface="Arial"/>
                <a:cs typeface="Arial"/>
              </a:defRPr>
            </a:defPPr>
            <a:lvl1pPr>
              <a:defRPr sz="2550" b="1">
                <a:solidFill>
                  <a:srgbClr val="DCFA6B"/>
                </a:solidFill>
                <a:latin typeface="Arial"/>
                <a:ea typeface="Arial"/>
                <a:cs typeface="Arial"/>
              </a:defRPr>
            </a:lvl1pPr>
            <a:lvl2pPr>
              <a:defRPr sz="2550" b="1">
                <a:solidFill>
                  <a:srgbClr val="DCFA6B"/>
                </a:solidFill>
                <a:latin typeface="Arial"/>
                <a:ea typeface="Arial"/>
                <a:cs typeface="Arial"/>
              </a:defRPr>
            </a:lvl2pPr>
            <a:lvl3pPr>
              <a:defRPr sz="2550" b="1">
                <a:solidFill>
                  <a:srgbClr val="DCFA6B"/>
                </a:solidFill>
                <a:latin typeface="Arial"/>
                <a:ea typeface="Arial"/>
                <a:cs typeface="Arial"/>
              </a:defRPr>
            </a:lvl3pPr>
            <a:lvl4pPr>
              <a:defRPr sz="2550" b="1">
                <a:solidFill>
                  <a:srgbClr val="DCFA6B"/>
                </a:solidFill>
                <a:latin typeface="Arial"/>
                <a:ea typeface="Arial"/>
                <a:cs typeface="Arial"/>
              </a:defRPr>
            </a:lvl4pPr>
            <a:lvl5pPr>
              <a:defRPr sz="2550" b="1">
                <a:solidFill>
                  <a:srgbClr val="DCFA6B"/>
                </a:solidFill>
                <a:latin typeface="Arial"/>
                <a:ea typeface="Arial"/>
                <a:cs typeface="Arial"/>
              </a:defRPr>
            </a:lvl5pPr>
            <a:lvl6pPr>
              <a:defRPr sz="2550" b="1">
                <a:solidFill>
                  <a:srgbClr val="DCFA6B"/>
                </a:solidFill>
                <a:latin typeface="Arial"/>
                <a:ea typeface="Arial"/>
                <a:cs typeface="Arial"/>
              </a:defRPr>
            </a:lvl6pPr>
            <a:lvl7pPr>
              <a:defRPr sz="2550" b="1">
                <a:solidFill>
                  <a:srgbClr val="DCFA6B"/>
                </a:solidFill>
                <a:latin typeface="Arial"/>
                <a:ea typeface="Arial"/>
                <a:cs typeface="Arial"/>
              </a:defRPr>
            </a:lvl7pPr>
            <a:lvl8pPr>
              <a:defRPr sz="2550" b="1">
                <a:solidFill>
                  <a:srgbClr val="DCFA6B"/>
                </a:solidFill>
                <a:latin typeface="Arial"/>
                <a:ea typeface="Arial"/>
                <a:cs typeface="Arial"/>
              </a:defRPr>
            </a:lvl8pPr>
            <a:lvl9pPr>
              <a:defRPr sz="2550" b="1">
                <a:solidFill>
                  <a:srgbClr val="DCFA6B"/>
                </a:solidFill>
                <a:latin typeface="Arial"/>
                <a:ea typeface="Arial"/>
                <a:cs typeface="Arial"/>
              </a:defRPr>
            </a:lvl9pPr>
          </a:lstStyle>
          <a:p xmlns:a="http://schemas.openxmlformats.org/drawingml/2006/main">
            <a:pPr>
              <a:defRPr sz="2550" b="1">
                <a:solidFill>
                  <a:srgbClr val="DCFA6B"/>
                </a:solidFill>
                <a:latin typeface="Arial"/>
                <a:ea typeface="Arial"/>
                <a:cs typeface="Arial"/>
              </a:defRPr>
            </a:pPr>
            <a:r>
              <a:rPr sz="2550" b="1">
                <a:solidFill>
                  <a:srgbClr val="DCFA6B"/>
                </a:solidFill>
                <a:latin typeface="Arial"/>
                <a:ea typeface="Arial"/>
                <a:cs typeface="Arial"/>
              </a:rPr>
              <a:t>Show</a:t>
            </a:r>
          </a:p>
        </p:txBody>
      </p:sp>
      <p:sp>
        <p:nvSpPr>
          <p:cNvPr id="6" name="A road image and its prediction.&#10;A corrected repor">
            <a:extLst xmlns:a="http://schemas.openxmlformats.org/drawingml/2006/main">
              <a:ext uri="{FF2B5EF4-FFF2-40B4-BE49-F238E27FC236}">
                <a16:creationId xmlns:a16="http://schemas.microsoft.com/office/drawing/2014/main" id="{7828DB7B-1E5C-463A-A699-BE2B8FCBDAC7}"/>
              </a:ext>
            </a:extLst>
          </p:cNvPr>
          <p:cNvSpPr>
            <a:spLocks xmlns:a="http://schemas.openxmlformats.org/drawingml/2006/main" noGrp="1"/>
          </p:cNvSpPr>
          <p:nvPr/>
        </p:nvSpPr>
        <p:spPr>
          <a:xfrm xmlns:a="http://schemas.openxmlformats.org/drawingml/2006/main">
            <a:off x="552450" y="2667000"/>
            <a:ext cx="5381625" cy="1971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F0F5F6"/>
                </a:solidFill>
                <a:latin typeface="Arial"/>
                <a:ea typeface="Arial"/>
                <a:cs typeface="Arial"/>
              </a:defRPr>
            </a:defPPr>
            <a:lvl1pPr>
              <a:defRPr sz="2100" b="0">
                <a:solidFill>
                  <a:srgbClr val="F0F5F6"/>
                </a:solidFill>
                <a:latin typeface="Arial"/>
                <a:ea typeface="Arial"/>
                <a:cs typeface="Arial"/>
              </a:defRPr>
            </a:lvl1pPr>
            <a:lvl2pPr>
              <a:defRPr sz="2100" b="0">
                <a:solidFill>
                  <a:srgbClr val="F0F5F6"/>
                </a:solidFill>
                <a:latin typeface="Arial"/>
                <a:ea typeface="Arial"/>
                <a:cs typeface="Arial"/>
              </a:defRPr>
            </a:lvl2pPr>
            <a:lvl3pPr>
              <a:defRPr sz="2100" b="0">
                <a:solidFill>
                  <a:srgbClr val="F0F5F6"/>
                </a:solidFill>
                <a:latin typeface="Arial"/>
                <a:ea typeface="Arial"/>
                <a:cs typeface="Arial"/>
              </a:defRPr>
            </a:lvl3pPr>
            <a:lvl4pPr>
              <a:defRPr sz="2100" b="0">
                <a:solidFill>
                  <a:srgbClr val="F0F5F6"/>
                </a:solidFill>
                <a:latin typeface="Arial"/>
                <a:ea typeface="Arial"/>
                <a:cs typeface="Arial"/>
              </a:defRPr>
            </a:lvl4pPr>
            <a:lvl5pPr>
              <a:defRPr sz="2100" b="0">
                <a:solidFill>
                  <a:srgbClr val="F0F5F6"/>
                </a:solidFill>
                <a:latin typeface="Arial"/>
                <a:ea typeface="Arial"/>
                <a:cs typeface="Arial"/>
              </a:defRPr>
            </a:lvl5pPr>
            <a:lvl6pPr>
              <a:defRPr sz="2100" b="0">
                <a:solidFill>
                  <a:srgbClr val="F0F5F6"/>
                </a:solidFill>
                <a:latin typeface="Arial"/>
                <a:ea typeface="Arial"/>
                <a:cs typeface="Arial"/>
              </a:defRPr>
            </a:lvl6pPr>
            <a:lvl7pPr>
              <a:defRPr sz="2100" b="0">
                <a:solidFill>
                  <a:srgbClr val="F0F5F6"/>
                </a:solidFill>
                <a:latin typeface="Arial"/>
                <a:ea typeface="Arial"/>
                <a:cs typeface="Arial"/>
              </a:defRPr>
            </a:lvl7pPr>
            <a:lvl8pPr>
              <a:defRPr sz="2100" b="0">
                <a:solidFill>
                  <a:srgbClr val="F0F5F6"/>
                </a:solidFill>
                <a:latin typeface="Arial"/>
                <a:ea typeface="Arial"/>
                <a:cs typeface="Arial"/>
              </a:defRPr>
            </a:lvl8pPr>
            <a:lvl9pPr>
              <a:defRPr sz="2100" b="0">
                <a:solidFill>
                  <a:srgbClr val="F0F5F6"/>
                </a:solidFill>
                <a:latin typeface="Arial"/>
                <a:ea typeface="Arial"/>
                <a:cs typeface="Arial"/>
              </a:defRPr>
            </a:lvl9pPr>
          </a:lstStyle>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road image and its prediction.</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 corrected report and saved decision.</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An individual model chosen from a vote.</a:t>
            </a:r>
          </a:p>
          <a:p xmlns:a="http://schemas.openxmlformats.org/drawingml/2006/main">
            <a:pPr>
              <a:defRPr sz="2100" b="0">
                <a:solidFill>
                  <a:srgbClr val="F0F5F6"/>
                </a:solidFill>
                <a:latin typeface="Arial"/>
                <a:ea typeface="Arial"/>
                <a:cs typeface="Arial"/>
              </a:defRPr>
            </a:pPr>
            <a:r>
              <a:rPr sz="2100" b="0">
                <a:solidFill>
                  <a:srgbClr val="F0F5F6"/>
                </a:solidFill>
                <a:latin typeface="Arial"/>
                <a:ea typeface="Arial"/>
                <a:cs typeface="Arial"/>
              </a:rPr>
              <a:t>The approved-example export workflow.</a:t>
            </a:r>
          </a:p>
        </p:txBody>
      </p:sp>
      <p:sp>
        <p:nvSpPr>
          <p:cNvPr id="7" name="Explain">
            <a:extLst xmlns:a="http://schemas.openxmlformats.org/drawingml/2006/main">
              <a:ext uri="{FF2B5EF4-FFF2-40B4-BE49-F238E27FC236}">
                <a16:creationId xmlns:a16="http://schemas.microsoft.com/office/drawing/2014/main" id="{4F9CE830-0B3D-4B58-A2B0-02BEFE87804B}"/>
              </a:ext>
            </a:extLst>
          </p:cNvPr>
          <p:cNvSpPr>
            <a:spLocks xmlns:a="http://schemas.openxmlformats.org/drawingml/2006/main" noGrp="1"/>
          </p:cNvSpPr>
          <p:nvPr/>
        </p:nvSpPr>
        <p:spPr>
          <a:xfrm xmlns:a="http://schemas.openxmlformats.org/drawingml/2006/main">
            <a:off x="6934200" y="2009775"/>
            <a:ext cx="47053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77D6DD"/>
                </a:solidFill>
                <a:latin typeface="Arial"/>
                <a:ea typeface="Arial"/>
                <a:cs typeface="Arial"/>
              </a:defRPr>
            </a:defPPr>
            <a:lvl1pPr>
              <a:defRPr sz="2550" b="1">
                <a:solidFill>
                  <a:srgbClr val="77D6DD"/>
                </a:solidFill>
                <a:latin typeface="Arial"/>
                <a:ea typeface="Arial"/>
                <a:cs typeface="Arial"/>
              </a:defRPr>
            </a:lvl1pPr>
            <a:lvl2pPr>
              <a:defRPr sz="2550" b="1">
                <a:solidFill>
                  <a:srgbClr val="77D6DD"/>
                </a:solidFill>
                <a:latin typeface="Arial"/>
                <a:ea typeface="Arial"/>
                <a:cs typeface="Arial"/>
              </a:defRPr>
            </a:lvl2pPr>
            <a:lvl3pPr>
              <a:defRPr sz="2550" b="1">
                <a:solidFill>
                  <a:srgbClr val="77D6DD"/>
                </a:solidFill>
                <a:latin typeface="Arial"/>
                <a:ea typeface="Arial"/>
                <a:cs typeface="Arial"/>
              </a:defRPr>
            </a:lvl3pPr>
            <a:lvl4pPr>
              <a:defRPr sz="2550" b="1">
                <a:solidFill>
                  <a:srgbClr val="77D6DD"/>
                </a:solidFill>
                <a:latin typeface="Arial"/>
                <a:ea typeface="Arial"/>
                <a:cs typeface="Arial"/>
              </a:defRPr>
            </a:lvl4pPr>
            <a:lvl5pPr>
              <a:defRPr sz="2550" b="1">
                <a:solidFill>
                  <a:srgbClr val="77D6DD"/>
                </a:solidFill>
                <a:latin typeface="Arial"/>
                <a:ea typeface="Arial"/>
                <a:cs typeface="Arial"/>
              </a:defRPr>
            </a:lvl5pPr>
            <a:lvl6pPr>
              <a:defRPr sz="2550" b="1">
                <a:solidFill>
                  <a:srgbClr val="77D6DD"/>
                </a:solidFill>
                <a:latin typeface="Arial"/>
                <a:ea typeface="Arial"/>
                <a:cs typeface="Arial"/>
              </a:defRPr>
            </a:lvl6pPr>
            <a:lvl7pPr>
              <a:defRPr sz="2550" b="1">
                <a:solidFill>
                  <a:srgbClr val="77D6DD"/>
                </a:solidFill>
                <a:latin typeface="Arial"/>
                <a:ea typeface="Arial"/>
                <a:cs typeface="Arial"/>
              </a:defRPr>
            </a:lvl7pPr>
            <a:lvl8pPr>
              <a:defRPr sz="2550" b="1">
                <a:solidFill>
                  <a:srgbClr val="77D6DD"/>
                </a:solidFill>
                <a:latin typeface="Arial"/>
                <a:ea typeface="Arial"/>
                <a:cs typeface="Arial"/>
              </a:defRPr>
            </a:lvl8pPr>
            <a:lvl9pPr>
              <a:defRPr sz="2550" b="1">
                <a:solidFill>
                  <a:srgbClr val="77D6DD"/>
                </a:solidFill>
                <a:latin typeface="Arial"/>
                <a:ea typeface="Arial"/>
                <a:cs typeface="Arial"/>
              </a:defRPr>
            </a:lvl9pPr>
          </a:lstStyle>
          <a:p xmlns:a="http://schemas.openxmlformats.org/drawingml/2006/main">
            <a:pPr>
              <a:defRPr sz="2550" b="1">
                <a:solidFill>
                  <a:srgbClr val="77D6DD"/>
                </a:solidFill>
                <a:latin typeface="Arial"/>
                <a:ea typeface="Arial"/>
                <a:cs typeface="Arial"/>
              </a:defRPr>
            </a:pPr>
            <a:r>
              <a:rPr sz="2550" b="1">
                <a:solidFill>
                  <a:srgbClr val="77D6DD"/>
                </a:solidFill>
                <a:latin typeface="Arial"/>
                <a:ea typeface="Arial"/>
                <a:cs typeface="Arial"/>
              </a:rPr>
              <a:t>Explain</a:t>
            </a:r>
          </a:p>
        </p:txBody>
      </p:sp>
      <p:sp>
        <p:nvSpPr>
          <p:cNvPr id="8" name="Confidence is not accuracy.&#10;Priority is an estimat">
            <a:extLst xmlns:a="http://schemas.openxmlformats.org/drawingml/2006/main">
              <a:ext uri="{FF2B5EF4-FFF2-40B4-BE49-F238E27FC236}">
                <a16:creationId xmlns:a16="http://schemas.microsoft.com/office/drawing/2014/main" id="{6EBCEBF7-0D93-442F-BACB-EF91B2D63667}"/>
              </a:ext>
            </a:extLst>
          </p:cNvPr>
          <p:cNvSpPr>
            <a:spLocks xmlns:a="http://schemas.openxmlformats.org/drawingml/2006/main" noGrp="1"/>
          </p:cNvSpPr>
          <p:nvPr/>
        </p:nvSpPr>
        <p:spPr>
          <a:xfrm xmlns:a="http://schemas.openxmlformats.org/drawingml/2006/main">
            <a:off x="6934200" y="2667000"/>
            <a:ext cx="4705350"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F0F5F6"/>
                </a:solidFill>
                <a:latin typeface="Arial"/>
                <a:ea typeface="Arial"/>
                <a:cs typeface="Arial"/>
              </a:defRPr>
            </a:defPPr>
            <a:lvl1pPr>
              <a:defRPr sz="2025" b="0">
                <a:solidFill>
                  <a:srgbClr val="F0F5F6"/>
                </a:solidFill>
                <a:latin typeface="Arial"/>
                <a:ea typeface="Arial"/>
                <a:cs typeface="Arial"/>
              </a:defRPr>
            </a:lvl1pPr>
            <a:lvl2pPr>
              <a:defRPr sz="2025" b="0">
                <a:solidFill>
                  <a:srgbClr val="F0F5F6"/>
                </a:solidFill>
                <a:latin typeface="Arial"/>
                <a:ea typeface="Arial"/>
                <a:cs typeface="Arial"/>
              </a:defRPr>
            </a:lvl2pPr>
            <a:lvl3pPr>
              <a:defRPr sz="2025" b="0">
                <a:solidFill>
                  <a:srgbClr val="F0F5F6"/>
                </a:solidFill>
                <a:latin typeface="Arial"/>
                <a:ea typeface="Arial"/>
                <a:cs typeface="Arial"/>
              </a:defRPr>
            </a:lvl3pPr>
            <a:lvl4pPr>
              <a:defRPr sz="2025" b="0">
                <a:solidFill>
                  <a:srgbClr val="F0F5F6"/>
                </a:solidFill>
                <a:latin typeface="Arial"/>
                <a:ea typeface="Arial"/>
                <a:cs typeface="Arial"/>
              </a:defRPr>
            </a:lvl4pPr>
            <a:lvl5pPr>
              <a:defRPr sz="2025" b="0">
                <a:solidFill>
                  <a:srgbClr val="F0F5F6"/>
                </a:solidFill>
                <a:latin typeface="Arial"/>
                <a:ea typeface="Arial"/>
                <a:cs typeface="Arial"/>
              </a:defRPr>
            </a:lvl5pPr>
            <a:lvl6pPr>
              <a:defRPr sz="2025" b="0">
                <a:solidFill>
                  <a:srgbClr val="F0F5F6"/>
                </a:solidFill>
                <a:latin typeface="Arial"/>
                <a:ea typeface="Arial"/>
                <a:cs typeface="Arial"/>
              </a:defRPr>
            </a:lvl6pPr>
            <a:lvl7pPr>
              <a:defRPr sz="2025" b="0">
                <a:solidFill>
                  <a:srgbClr val="F0F5F6"/>
                </a:solidFill>
                <a:latin typeface="Arial"/>
                <a:ea typeface="Arial"/>
                <a:cs typeface="Arial"/>
              </a:defRPr>
            </a:lvl7pPr>
            <a:lvl8pPr>
              <a:defRPr sz="2025" b="0">
                <a:solidFill>
                  <a:srgbClr val="F0F5F6"/>
                </a:solidFill>
                <a:latin typeface="Arial"/>
                <a:ea typeface="Arial"/>
                <a:cs typeface="Arial"/>
              </a:defRPr>
            </a:lvl8pPr>
            <a:lvl9pPr>
              <a:defRPr sz="2025" b="0">
                <a:solidFill>
                  <a:srgbClr val="F0F5F6"/>
                </a:solidFill>
                <a:latin typeface="Arial"/>
                <a:ea typeface="Arial"/>
                <a:cs typeface="Arial"/>
              </a:defRPr>
            </a:lvl9pPr>
          </a:lstStyle>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Confidence is not accuracy.</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Priority is an estimated triage aid.</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Training happens separately.</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Location and drone support need</a:t>
            </a:r>
          </a:p>
          <a:p xmlns:a="http://schemas.openxmlformats.org/drawingml/2006/main">
            <a:pPr>
              <a:defRPr sz="2025" b="0">
                <a:solidFill>
                  <a:srgbClr val="F0F5F6"/>
                </a:solidFill>
                <a:latin typeface="Arial"/>
                <a:ea typeface="Arial"/>
                <a:cs typeface="Arial"/>
              </a:defRPr>
            </a:pPr>
            <a:r>
              <a:rPr sz="2025" b="0">
                <a:solidFill>
                  <a:srgbClr val="F0F5F6"/>
                </a:solidFill>
                <a:latin typeface="Arial"/>
                <a:ea typeface="Arial"/>
                <a:cs typeface="Arial"/>
              </a:rPr>
              <a:t>representative field validation.</a:t>
            </a:r>
          </a:p>
        </p:txBody>
      </p:sp>
      <p:sp>
        <p:nvSpPr>
          <p:cNvPr id="9" name="If hardware is unavailable, use the cleared interf">
            <a:extLst xmlns:a="http://schemas.openxmlformats.org/drawingml/2006/main">
              <a:ext uri="{FF2B5EF4-FFF2-40B4-BE49-F238E27FC236}">
                <a16:creationId xmlns:a16="http://schemas.microsoft.com/office/drawing/2014/main" id="{9AF0C610-3875-4B62-B50E-A554CA86FC72}"/>
              </a:ext>
            </a:extLst>
          </p:cNvPr>
          <p:cNvSpPr>
            <a:spLocks xmlns:a="http://schemas.openxmlformats.org/drawingml/2006/main" noGrp="1"/>
          </p:cNvSpPr>
          <p:nvPr/>
        </p:nvSpPr>
        <p:spPr>
          <a:xfrm xmlns:a="http://schemas.openxmlformats.org/drawingml/2006/main">
            <a:off x="552450" y="572452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A5BDC6"/>
                </a:solidFill>
                <a:latin typeface="Arial"/>
                <a:ea typeface="Arial"/>
                <a:cs typeface="Arial"/>
              </a:defRPr>
            </a:defPPr>
            <a:lvl1pPr>
              <a:defRPr sz="1800" b="0">
                <a:solidFill>
                  <a:srgbClr val="A5BDC6"/>
                </a:solidFill>
                <a:latin typeface="Arial"/>
                <a:ea typeface="Arial"/>
                <a:cs typeface="Arial"/>
              </a:defRPr>
            </a:lvl1pPr>
            <a:lvl2pPr>
              <a:defRPr sz="1800" b="0">
                <a:solidFill>
                  <a:srgbClr val="A5BDC6"/>
                </a:solidFill>
                <a:latin typeface="Arial"/>
                <a:ea typeface="Arial"/>
                <a:cs typeface="Arial"/>
              </a:defRPr>
            </a:lvl2pPr>
            <a:lvl3pPr>
              <a:defRPr sz="1800" b="0">
                <a:solidFill>
                  <a:srgbClr val="A5BDC6"/>
                </a:solidFill>
                <a:latin typeface="Arial"/>
                <a:ea typeface="Arial"/>
                <a:cs typeface="Arial"/>
              </a:defRPr>
            </a:lvl3pPr>
            <a:lvl4pPr>
              <a:defRPr sz="1800" b="0">
                <a:solidFill>
                  <a:srgbClr val="A5BDC6"/>
                </a:solidFill>
                <a:latin typeface="Arial"/>
                <a:ea typeface="Arial"/>
                <a:cs typeface="Arial"/>
              </a:defRPr>
            </a:lvl4pPr>
            <a:lvl5pPr>
              <a:defRPr sz="1800" b="0">
                <a:solidFill>
                  <a:srgbClr val="A5BDC6"/>
                </a:solidFill>
                <a:latin typeface="Arial"/>
                <a:ea typeface="Arial"/>
                <a:cs typeface="Arial"/>
              </a:defRPr>
            </a:lvl5pPr>
            <a:lvl6pPr>
              <a:defRPr sz="1800" b="0">
                <a:solidFill>
                  <a:srgbClr val="A5BDC6"/>
                </a:solidFill>
                <a:latin typeface="Arial"/>
                <a:ea typeface="Arial"/>
                <a:cs typeface="Arial"/>
              </a:defRPr>
            </a:lvl6pPr>
            <a:lvl7pPr>
              <a:defRPr sz="1800" b="0">
                <a:solidFill>
                  <a:srgbClr val="A5BDC6"/>
                </a:solidFill>
                <a:latin typeface="Arial"/>
                <a:ea typeface="Arial"/>
                <a:cs typeface="Arial"/>
              </a:defRPr>
            </a:lvl7pPr>
            <a:lvl8pPr>
              <a:defRPr sz="1800" b="0">
                <a:solidFill>
                  <a:srgbClr val="A5BDC6"/>
                </a:solidFill>
                <a:latin typeface="Arial"/>
                <a:ea typeface="Arial"/>
                <a:cs typeface="Arial"/>
              </a:defRPr>
            </a:lvl8pPr>
            <a:lvl9pPr>
              <a:defRPr sz="1800" b="0">
                <a:solidFill>
                  <a:srgbClr val="A5BDC6"/>
                </a:solidFill>
                <a:latin typeface="Arial"/>
                <a:ea typeface="Arial"/>
                <a:cs typeface="Arial"/>
              </a:defRPr>
            </a:lvl9pPr>
          </a:lstStyle>
          <a:p xmlns:a="http://schemas.openxmlformats.org/drawingml/2006/main">
            <a:pPr>
              <a:defRPr sz="1800" b="0">
                <a:solidFill>
                  <a:srgbClr val="A5BDC6"/>
                </a:solidFill>
                <a:latin typeface="Arial"/>
                <a:ea typeface="Arial"/>
                <a:cs typeface="Arial"/>
              </a:defRPr>
            </a:pPr>
            <a:r>
              <a:rPr sz="1800" b="0">
                <a:solidFill>
                  <a:srgbClr val="A5BDC6"/>
                </a:solidFill>
                <a:latin typeface="Arial"/>
                <a:ea typeface="Arial"/>
                <a:cs typeface="Arial"/>
              </a:rPr>
              <a:t>If hardware is unavailable, use the cleared interface screenshots and recorded evidence.</a:t>
            </a:r>
          </a:p>
        </p:txBody>
      </p:sp>
    </p:spTree>
    <p:extLst>
      <p:ext uri="{BB962C8B-B14F-4D97-AF65-F5344CB8AC3E}">
        <p14:creationId xmlns:p14="http://schemas.microsoft.com/office/powerpoint/2010/main" val="476823856"/>
      </p:ext>
    </p:extLst>
  </p:cSld>
</p:sld>
</file>

<file path=ppt/slides/slide12.xml><?xml version="1.0" encoding="utf-8"?>
<p:sld xmlns:p="http://schemas.openxmlformats.org/presentationml/2006/main">
  <p:cSld>
    <p:bg>
      <p:bgPr>
        <a:solidFill xmlns:a="http://schemas.openxmlformats.org/drawingml/2006/main">
          <a:srgbClr val="0C1820"/>
        </a:solidFill>
      </p:bgPr>
    </p:bg>
    <p:spTree>
      <p:nvGrpSpPr>
        <p:cNvPr id="1" name=""/>
        <p:cNvGrpSpPr/>
        <p:nvPr/>
      </p:nvGrpSpPr>
      <p:grpSpPr>
        <a:xfrm xmlns:a="http://schemas.openxmlformats.org/drawingml/2006/main"/>
      </p:grpSpPr>
      <p:sp>
        <p:nvSpPr>
          <p:cNvPr id="15" name="APPENDIX E / RESEARCH SCOPE">
            <a:extLst xmlns:a="http://schemas.openxmlformats.org/drawingml/2006/main">
              <a:ext uri="{FF2B5EF4-FFF2-40B4-BE49-F238E27FC236}">
                <a16:creationId xmlns:a16="http://schemas.microsoft.com/office/drawing/2014/main" id="{3B01BBE0-B6FD-4E4F-A53A-0B72A26B7E17}"/>
              </a:ext>
            </a:extLst>
          </p:cNvPr>
          <p:cNvSpPr>
            <a:spLocks xmlns:a="http://schemas.openxmlformats.org/drawingml/2006/main" noGrp="1"/>
          </p:cNvSpPr>
          <p:nvPr/>
        </p:nvSpPr>
        <p:spPr>
          <a:xfrm xmlns:a="http://schemas.openxmlformats.org/drawingml/2006/main">
            <a:off x="552450" y="304800"/>
            <a:ext cx="1000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1">
                <a:solidFill>
                  <a:srgbClr val="77D6DD"/>
                </a:solidFill>
                <a:latin typeface="Arial"/>
                <a:ea typeface="Arial"/>
                <a:cs typeface="Arial"/>
              </a:defRPr>
            </a:defPPr>
            <a:lvl1pPr>
              <a:defRPr sz="1125" b="1">
                <a:solidFill>
                  <a:srgbClr val="77D6DD"/>
                </a:solidFill>
                <a:latin typeface="Arial"/>
                <a:ea typeface="Arial"/>
                <a:cs typeface="Arial"/>
              </a:defRPr>
            </a:lvl1pPr>
            <a:lvl2pPr>
              <a:defRPr sz="1125" b="1">
                <a:solidFill>
                  <a:srgbClr val="77D6DD"/>
                </a:solidFill>
                <a:latin typeface="Arial"/>
                <a:ea typeface="Arial"/>
                <a:cs typeface="Arial"/>
              </a:defRPr>
            </a:lvl2pPr>
            <a:lvl3pPr>
              <a:defRPr sz="1125" b="1">
                <a:solidFill>
                  <a:srgbClr val="77D6DD"/>
                </a:solidFill>
                <a:latin typeface="Arial"/>
                <a:ea typeface="Arial"/>
                <a:cs typeface="Arial"/>
              </a:defRPr>
            </a:lvl3pPr>
            <a:lvl4pPr>
              <a:defRPr sz="1125" b="1">
                <a:solidFill>
                  <a:srgbClr val="77D6DD"/>
                </a:solidFill>
                <a:latin typeface="Arial"/>
                <a:ea typeface="Arial"/>
                <a:cs typeface="Arial"/>
              </a:defRPr>
            </a:lvl4pPr>
            <a:lvl5pPr>
              <a:defRPr sz="1125" b="1">
                <a:solidFill>
                  <a:srgbClr val="77D6DD"/>
                </a:solidFill>
                <a:latin typeface="Arial"/>
                <a:ea typeface="Arial"/>
                <a:cs typeface="Arial"/>
              </a:defRPr>
            </a:lvl5pPr>
            <a:lvl6pPr>
              <a:defRPr sz="1125" b="1">
                <a:solidFill>
                  <a:srgbClr val="77D6DD"/>
                </a:solidFill>
                <a:latin typeface="Arial"/>
                <a:ea typeface="Arial"/>
                <a:cs typeface="Arial"/>
              </a:defRPr>
            </a:lvl6pPr>
            <a:lvl7pPr>
              <a:defRPr sz="1125" b="1">
                <a:solidFill>
                  <a:srgbClr val="77D6DD"/>
                </a:solidFill>
                <a:latin typeface="Arial"/>
                <a:ea typeface="Arial"/>
                <a:cs typeface="Arial"/>
              </a:defRPr>
            </a:lvl7pPr>
            <a:lvl8pPr>
              <a:defRPr sz="1125" b="1">
                <a:solidFill>
                  <a:srgbClr val="77D6DD"/>
                </a:solidFill>
                <a:latin typeface="Arial"/>
                <a:ea typeface="Arial"/>
                <a:cs typeface="Arial"/>
              </a:defRPr>
            </a:lvl8pPr>
            <a:lvl9pPr>
              <a:defRPr sz="1125" b="1">
                <a:solidFill>
                  <a:srgbClr val="77D6DD"/>
                </a:solidFill>
                <a:latin typeface="Arial"/>
                <a:ea typeface="Arial"/>
                <a:cs typeface="Arial"/>
              </a:defRPr>
            </a:lvl9pPr>
          </a:lstStyle>
          <a:p xmlns:a="http://schemas.openxmlformats.org/drawingml/2006/main">
            <a:pPr>
              <a:defRPr sz="1125" b="1">
                <a:solidFill>
                  <a:srgbClr val="77D6DD"/>
                </a:solidFill>
                <a:latin typeface="Arial"/>
                <a:ea typeface="Arial"/>
                <a:cs typeface="Arial"/>
              </a:defRPr>
            </a:pPr>
            <a:r>
              <a:rPr sz="1125" b="1">
                <a:solidFill>
                  <a:srgbClr val="77D6DD"/>
                </a:solidFill>
                <a:latin typeface="Arial"/>
                <a:ea typeface="Arial"/>
                <a:cs typeface="Arial"/>
              </a:rPr>
              <a:t>APPENDIX E / RESEARCH SCOPE</a:t>
            </a:r>
          </a:p>
        </p:txBody>
      </p:sp>
      <p:sp>
        <p:nvSpPr>
          <p:cNvPr id="2" name="Experiments and remaining evidence">
            <a:extLst xmlns:a="http://schemas.openxmlformats.org/drawingml/2006/main">
              <a:ext uri="{FF2B5EF4-FFF2-40B4-BE49-F238E27FC236}">
                <a16:creationId xmlns:a16="http://schemas.microsoft.com/office/drawing/2014/main" id="{AB3C1F4D-F92A-4DFC-9E76-6FB816B809C7}"/>
              </a:ext>
            </a:extLst>
          </p:cNvPr>
          <p:cNvSpPr>
            <a:spLocks xmlns:a="http://schemas.openxmlformats.org/drawingml/2006/main" noGrp="1"/>
          </p:cNvSpPr>
          <p:nvPr/>
        </p:nvSpPr>
        <p:spPr>
          <a:xfrm xmlns:a="http://schemas.openxmlformats.org/drawingml/2006/main">
            <a:off x="552450" y="742950"/>
            <a:ext cx="110871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75" b="1">
                <a:solidFill>
                  <a:srgbClr val="F0F5F6"/>
                </a:solidFill>
                <a:latin typeface="Arial"/>
                <a:ea typeface="Arial"/>
                <a:cs typeface="Arial"/>
              </a:defRPr>
            </a:defPPr>
            <a:lvl1pPr>
              <a:defRPr sz="3675" b="1">
                <a:solidFill>
                  <a:srgbClr val="F0F5F6"/>
                </a:solidFill>
                <a:latin typeface="Arial"/>
                <a:ea typeface="Arial"/>
                <a:cs typeface="Arial"/>
              </a:defRPr>
            </a:lvl1pPr>
            <a:lvl2pPr>
              <a:defRPr sz="3675" b="1">
                <a:solidFill>
                  <a:srgbClr val="F0F5F6"/>
                </a:solidFill>
                <a:latin typeface="Arial"/>
                <a:ea typeface="Arial"/>
                <a:cs typeface="Arial"/>
              </a:defRPr>
            </a:lvl2pPr>
            <a:lvl3pPr>
              <a:defRPr sz="3675" b="1">
                <a:solidFill>
                  <a:srgbClr val="F0F5F6"/>
                </a:solidFill>
                <a:latin typeface="Arial"/>
                <a:ea typeface="Arial"/>
                <a:cs typeface="Arial"/>
              </a:defRPr>
            </a:lvl3pPr>
            <a:lvl4pPr>
              <a:defRPr sz="3675" b="1">
                <a:solidFill>
                  <a:srgbClr val="F0F5F6"/>
                </a:solidFill>
                <a:latin typeface="Arial"/>
                <a:ea typeface="Arial"/>
                <a:cs typeface="Arial"/>
              </a:defRPr>
            </a:lvl4pPr>
            <a:lvl5pPr>
              <a:defRPr sz="3675" b="1">
                <a:solidFill>
                  <a:srgbClr val="F0F5F6"/>
                </a:solidFill>
                <a:latin typeface="Arial"/>
                <a:ea typeface="Arial"/>
                <a:cs typeface="Arial"/>
              </a:defRPr>
            </a:lvl5pPr>
            <a:lvl6pPr>
              <a:defRPr sz="3675" b="1">
                <a:solidFill>
                  <a:srgbClr val="F0F5F6"/>
                </a:solidFill>
                <a:latin typeface="Arial"/>
                <a:ea typeface="Arial"/>
                <a:cs typeface="Arial"/>
              </a:defRPr>
            </a:lvl6pPr>
            <a:lvl7pPr>
              <a:defRPr sz="3675" b="1">
                <a:solidFill>
                  <a:srgbClr val="F0F5F6"/>
                </a:solidFill>
                <a:latin typeface="Arial"/>
                <a:ea typeface="Arial"/>
                <a:cs typeface="Arial"/>
              </a:defRPr>
            </a:lvl7pPr>
            <a:lvl8pPr>
              <a:defRPr sz="3675" b="1">
                <a:solidFill>
                  <a:srgbClr val="F0F5F6"/>
                </a:solidFill>
                <a:latin typeface="Arial"/>
                <a:ea typeface="Arial"/>
                <a:cs typeface="Arial"/>
              </a:defRPr>
            </a:lvl8pPr>
            <a:lvl9pPr>
              <a:defRPr sz="3675" b="1">
                <a:solidFill>
                  <a:srgbClr val="F0F5F6"/>
                </a:solidFill>
                <a:latin typeface="Arial"/>
                <a:ea typeface="Arial"/>
                <a:cs typeface="Arial"/>
              </a:defRPr>
            </a:lvl9pPr>
          </a:lstStyle>
          <a:p xmlns:a="http://schemas.openxmlformats.org/drawingml/2006/main">
            <a:pPr>
              <a:defRPr sz="3675" b="1">
                <a:solidFill>
                  <a:srgbClr val="F0F5F6"/>
                </a:solidFill>
                <a:latin typeface="Arial"/>
                <a:ea typeface="Arial"/>
                <a:cs typeface="Arial"/>
              </a:defRPr>
            </a:pPr>
            <a:r>
              <a:rPr sz="3675" b="1">
                <a:solidFill>
                  <a:srgbClr val="F0F5F6"/>
                </a:solidFill>
                <a:latin typeface="Arial"/>
                <a:ea typeface="Arial"/>
                <a:cs typeface="Arial"/>
              </a:rPr>
              <a:t>Experiments and remaining evidence</a:t>
            </a:r>
          </a:p>
        </p:txBody>
      </p:sp>
      <p:sp>
        <p:nvSpPr>
          <p:cNvPr id="3" name="RoadScan / AIEP capstone">
            <a:extLst xmlns:a="http://schemas.openxmlformats.org/drawingml/2006/main">
              <a:ext uri="{FF2B5EF4-FFF2-40B4-BE49-F238E27FC236}">
                <a16:creationId xmlns:a16="http://schemas.microsoft.com/office/drawing/2014/main" id="{F5582677-D8EC-4E2C-B5F9-A44A4A75D799}"/>
              </a:ext>
            </a:extLst>
          </p:cNvPr>
          <p:cNvSpPr>
            <a:spLocks xmlns:a="http://schemas.openxmlformats.org/drawingml/2006/main" noGrp="1"/>
          </p:cNvSpPr>
          <p:nvPr/>
        </p:nvSpPr>
        <p:spPr>
          <a:xfrm xmlns:a="http://schemas.openxmlformats.org/drawingml/2006/main">
            <a:off x="552450" y="6438900"/>
            <a:ext cx="857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5BDC6"/>
                </a:solidFill>
                <a:latin typeface="Arial"/>
                <a:ea typeface="Arial"/>
                <a:cs typeface="Arial"/>
              </a:defRPr>
            </a:defPPr>
            <a:lvl1pPr>
              <a:defRPr sz="1125" b="0">
                <a:solidFill>
                  <a:srgbClr val="A5BDC6"/>
                </a:solidFill>
                <a:latin typeface="Arial"/>
                <a:ea typeface="Arial"/>
                <a:cs typeface="Arial"/>
              </a:defRPr>
            </a:lvl1pPr>
            <a:lvl2pPr>
              <a:defRPr sz="1125" b="0">
                <a:solidFill>
                  <a:srgbClr val="A5BDC6"/>
                </a:solidFill>
                <a:latin typeface="Arial"/>
                <a:ea typeface="Arial"/>
                <a:cs typeface="Arial"/>
              </a:defRPr>
            </a:lvl2pPr>
            <a:lvl3pPr>
              <a:defRPr sz="1125" b="0">
                <a:solidFill>
                  <a:srgbClr val="A5BDC6"/>
                </a:solidFill>
                <a:latin typeface="Arial"/>
                <a:ea typeface="Arial"/>
                <a:cs typeface="Arial"/>
              </a:defRPr>
            </a:lvl3pPr>
            <a:lvl4pPr>
              <a:defRPr sz="1125" b="0">
                <a:solidFill>
                  <a:srgbClr val="A5BDC6"/>
                </a:solidFill>
                <a:latin typeface="Arial"/>
                <a:ea typeface="Arial"/>
                <a:cs typeface="Arial"/>
              </a:defRPr>
            </a:lvl4pPr>
            <a:lvl5pPr>
              <a:defRPr sz="1125" b="0">
                <a:solidFill>
                  <a:srgbClr val="A5BDC6"/>
                </a:solidFill>
                <a:latin typeface="Arial"/>
                <a:ea typeface="Arial"/>
                <a:cs typeface="Arial"/>
              </a:defRPr>
            </a:lvl5pPr>
            <a:lvl6pPr>
              <a:defRPr sz="1125" b="0">
                <a:solidFill>
                  <a:srgbClr val="A5BDC6"/>
                </a:solidFill>
                <a:latin typeface="Arial"/>
                <a:ea typeface="Arial"/>
                <a:cs typeface="Arial"/>
              </a:defRPr>
            </a:lvl6pPr>
            <a:lvl7pPr>
              <a:defRPr sz="1125" b="0">
                <a:solidFill>
                  <a:srgbClr val="A5BDC6"/>
                </a:solidFill>
                <a:latin typeface="Arial"/>
                <a:ea typeface="Arial"/>
                <a:cs typeface="Arial"/>
              </a:defRPr>
            </a:lvl7pPr>
            <a:lvl8pPr>
              <a:defRPr sz="1125" b="0">
                <a:solidFill>
                  <a:srgbClr val="A5BDC6"/>
                </a:solidFill>
                <a:latin typeface="Arial"/>
                <a:ea typeface="Arial"/>
                <a:cs typeface="Arial"/>
              </a:defRPr>
            </a:lvl8pPr>
            <a:lvl9pPr>
              <a:defRPr sz="1125" b="0">
                <a:solidFill>
                  <a:srgbClr val="A5BDC6"/>
                </a:solidFill>
                <a:latin typeface="Arial"/>
                <a:ea typeface="Arial"/>
                <a:cs typeface="Arial"/>
              </a:defRPr>
            </a:lvl9pPr>
          </a:lstStyle>
          <a:p xmlns:a="http://schemas.openxmlformats.org/drawingml/2006/main">
            <a:pPr>
              <a:defRPr sz="1125" b="0">
                <a:solidFill>
                  <a:srgbClr val="A5BDC6"/>
                </a:solidFill>
                <a:latin typeface="Arial"/>
                <a:ea typeface="Arial"/>
                <a:cs typeface="Arial"/>
              </a:defRPr>
            </a:pPr>
            <a:r>
              <a:rPr sz="1125" b="0">
                <a:solidFill>
                  <a:srgbClr val="A5BDC6"/>
                </a:solidFill>
                <a:latin typeface="Arial"/>
                <a:ea typeface="Arial"/>
                <a:cs typeface="Arial"/>
              </a:rPr>
              <a:t>RoadScan / AIEP capstone</a:t>
            </a:r>
          </a:p>
        </p:txBody>
      </p:sp>
      <p:sp>
        <p:nvSpPr>
          <p:cNvPr id="4" name="12">
            <a:extLst xmlns:a="http://schemas.openxmlformats.org/drawingml/2006/main">
              <a:ext uri="{FF2B5EF4-FFF2-40B4-BE49-F238E27FC236}">
                <a16:creationId xmlns:a16="http://schemas.microsoft.com/office/drawing/2014/main" id="{0DE2A4E0-BAD6-4B9C-B098-6C29D1E82796}"/>
              </a:ext>
            </a:extLst>
          </p:cNvPr>
          <p:cNvSpPr>
            <a:spLocks xmlns:a="http://schemas.openxmlformats.org/drawingml/2006/main" noGrp="1"/>
          </p:cNvSpPr>
          <p:nvPr/>
        </p:nvSpPr>
        <p:spPr>
          <a:xfrm xmlns:a="http://schemas.openxmlformats.org/drawingml/2006/main">
            <a:off x="11144250" y="6400800"/>
            <a:ext cx="552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1">
                <a:solidFill>
                  <a:srgbClr val="DCFA6B"/>
                </a:solidFill>
                <a:latin typeface="Arial"/>
                <a:ea typeface="Arial"/>
                <a:cs typeface="Arial"/>
              </a:defRPr>
            </a:defPPr>
            <a:lvl1pPr>
              <a:defRPr sz="1500" b="1">
                <a:solidFill>
                  <a:srgbClr val="DCFA6B"/>
                </a:solidFill>
                <a:latin typeface="Arial"/>
                <a:ea typeface="Arial"/>
                <a:cs typeface="Arial"/>
              </a:defRPr>
            </a:lvl1pPr>
            <a:lvl2pPr>
              <a:defRPr sz="1500" b="1">
                <a:solidFill>
                  <a:srgbClr val="DCFA6B"/>
                </a:solidFill>
                <a:latin typeface="Arial"/>
                <a:ea typeface="Arial"/>
                <a:cs typeface="Arial"/>
              </a:defRPr>
            </a:lvl2pPr>
            <a:lvl3pPr>
              <a:defRPr sz="1500" b="1">
                <a:solidFill>
                  <a:srgbClr val="DCFA6B"/>
                </a:solidFill>
                <a:latin typeface="Arial"/>
                <a:ea typeface="Arial"/>
                <a:cs typeface="Arial"/>
              </a:defRPr>
            </a:lvl3pPr>
            <a:lvl4pPr>
              <a:defRPr sz="1500" b="1">
                <a:solidFill>
                  <a:srgbClr val="DCFA6B"/>
                </a:solidFill>
                <a:latin typeface="Arial"/>
                <a:ea typeface="Arial"/>
                <a:cs typeface="Arial"/>
              </a:defRPr>
            </a:lvl4pPr>
            <a:lvl5pPr>
              <a:defRPr sz="1500" b="1">
                <a:solidFill>
                  <a:srgbClr val="DCFA6B"/>
                </a:solidFill>
                <a:latin typeface="Arial"/>
                <a:ea typeface="Arial"/>
                <a:cs typeface="Arial"/>
              </a:defRPr>
            </a:lvl5pPr>
            <a:lvl6pPr>
              <a:defRPr sz="1500" b="1">
                <a:solidFill>
                  <a:srgbClr val="DCFA6B"/>
                </a:solidFill>
                <a:latin typeface="Arial"/>
                <a:ea typeface="Arial"/>
                <a:cs typeface="Arial"/>
              </a:defRPr>
            </a:lvl6pPr>
            <a:lvl7pPr>
              <a:defRPr sz="1500" b="1">
                <a:solidFill>
                  <a:srgbClr val="DCFA6B"/>
                </a:solidFill>
                <a:latin typeface="Arial"/>
                <a:ea typeface="Arial"/>
                <a:cs typeface="Arial"/>
              </a:defRPr>
            </a:lvl7pPr>
            <a:lvl8pPr>
              <a:defRPr sz="1500" b="1">
                <a:solidFill>
                  <a:srgbClr val="DCFA6B"/>
                </a:solidFill>
                <a:latin typeface="Arial"/>
                <a:ea typeface="Arial"/>
                <a:cs typeface="Arial"/>
              </a:defRPr>
            </a:lvl8pPr>
            <a:lvl9pPr>
              <a:defRPr sz="1500" b="1">
                <a:solidFill>
                  <a:srgbClr val="DCFA6B"/>
                </a:solidFill>
                <a:latin typeface="Arial"/>
                <a:ea typeface="Arial"/>
                <a:cs typeface="Arial"/>
              </a:defRPr>
            </a:lvl9pPr>
          </a:lstStyle>
          <a:p xmlns:a="http://schemas.openxmlformats.org/drawingml/2006/main">
            <a:pPr>
              <a:defRPr sz="1500" b="1">
                <a:solidFill>
                  <a:srgbClr val="DCFA6B"/>
                </a:solidFill>
                <a:latin typeface="Arial"/>
                <a:ea typeface="Arial"/>
                <a:cs typeface="Arial"/>
              </a:defRPr>
            </a:pPr>
            <a:r>
              <a:rPr sz="1500" b="1">
                <a:solidFill>
                  <a:srgbClr val="DCFA6B"/>
                </a:solidFill>
                <a:latin typeface="Arial"/>
                <a:ea typeface="Arial"/>
                <a:cs typeface="Arial"/>
              </a:rPr>
              <a:t>12</a:t>
            </a:r>
          </a:p>
        </p:txBody>
      </p:sp>
      <p:sp>
        <p:nvSpPr>
          <p:cNvPr id="5" name="E1  Classifier and detector">
            <a:extLst xmlns:a="http://schemas.openxmlformats.org/drawingml/2006/main">
              <a:ext uri="{FF2B5EF4-FFF2-40B4-BE49-F238E27FC236}">
                <a16:creationId xmlns:a16="http://schemas.microsoft.com/office/drawing/2014/main" id="{0DA41B83-6D2E-4C01-ACE8-83168E2952A5}"/>
              </a:ext>
            </a:extLst>
          </p:cNvPr>
          <p:cNvSpPr>
            <a:spLocks xmlns:a="http://schemas.openxmlformats.org/drawingml/2006/main" noGrp="1"/>
          </p:cNvSpPr>
          <p:nvPr/>
        </p:nvSpPr>
        <p:spPr>
          <a:xfrm xmlns:a="http://schemas.openxmlformats.org/drawingml/2006/main">
            <a:off x="552450" y="19335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E1  Classifier and detector</a:t>
            </a:r>
          </a:p>
        </p:txBody>
      </p:sp>
      <p:sp>
        <p:nvSpPr>
          <p:cNvPr id="6" name="Different tasks and metrics. Original run reproduc">
            <a:extLst xmlns:a="http://schemas.openxmlformats.org/drawingml/2006/main">
              <a:ext uri="{FF2B5EF4-FFF2-40B4-BE49-F238E27FC236}">
                <a16:creationId xmlns:a16="http://schemas.microsoft.com/office/drawing/2014/main" id="{9B56E476-7B6D-498B-A294-ED9165026F03}"/>
              </a:ext>
            </a:extLst>
          </p:cNvPr>
          <p:cNvSpPr>
            <a:spLocks xmlns:a="http://schemas.openxmlformats.org/drawingml/2006/main" noGrp="1"/>
          </p:cNvSpPr>
          <p:nvPr/>
        </p:nvSpPr>
        <p:spPr>
          <a:xfrm xmlns:a="http://schemas.openxmlformats.org/drawingml/2006/main">
            <a:off x="552450" y="23050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Different tasks and metrics. Original run reproducibility is incomplete.</a:t>
            </a:r>
          </a:p>
        </p:txBody>
      </p:sp>
      <p:sp>
        <p:nvSpPr>
          <p:cNvPr id="7" name="E2  Size and resolution">
            <a:extLst xmlns:a="http://schemas.openxmlformats.org/drawingml/2006/main">
              <a:ext uri="{FF2B5EF4-FFF2-40B4-BE49-F238E27FC236}">
                <a16:creationId xmlns:a16="http://schemas.microsoft.com/office/drawing/2014/main" id="{98C12284-76E4-4D57-BE1C-62A4EFDAA8F3}"/>
              </a:ext>
            </a:extLst>
          </p:cNvPr>
          <p:cNvSpPr>
            <a:spLocks xmlns:a="http://schemas.openxmlformats.org/drawingml/2006/main" noGrp="1"/>
          </p:cNvSpPr>
          <p:nvPr/>
        </p:nvSpPr>
        <p:spPr>
          <a:xfrm xmlns:a="http://schemas.openxmlformats.org/drawingml/2006/main">
            <a:off x="552450" y="27146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E2  Size and resolution</a:t>
            </a:r>
          </a:p>
        </p:txBody>
      </p:sp>
      <p:sp>
        <p:nvSpPr>
          <p:cNvPr id="8" name="Reported accuracy trade-offs. Comparable CPU laten">
            <a:extLst xmlns:a="http://schemas.openxmlformats.org/drawingml/2006/main">
              <a:ext uri="{FF2B5EF4-FFF2-40B4-BE49-F238E27FC236}">
                <a16:creationId xmlns:a16="http://schemas.microsoft.com/office/drawing/2014/main" id="{E91FD08F-9FB8-4E01-B272-786EA4B3CA7B}"/>
              </a:ext>
            </a:extLst>
          </p:cNvPr>
          <p:cNvSpPr>
            <a:spLocks xmlns:a="http://schemas.openxmlformats.org/drawingml/2006/main" noGrp="1"/>
          </p:cNvSpPr>
          <p:nvPr/>
        </p:nvSpPr>
        <p:spPr>
          <a:xfrm xmlns:a="http://schemas.openxmlformats.org/drawingml/2006/main">
            <a:off x="552450" y="30861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Reported accuracy trade-offs. Comparable CPU latency is still needed.</a:t>
            </a:r>
          </a:p>
        </p:txBody>
      </p:sp>
      <p:sp>
        <p:nvSpPr>
          <p:cNvPr id="9" name="E3  Augmentation">
            <a:extLst xmlns:a="http://schemas.openxmlformats.org/drawingml/2006/main">
              <a:ext uri="{FF2B5EF4-FFF2-40B4-BE49-F238E27FC236}">
                <a16:creationId xmlns:a16="http://schemas.microsoft.com/office/drawing/2014/main" id="{E35DA318-299C-4104-A323-FDE0040B80C6}"/>
              </a:ext>
            </a:extLst>
          </p:cNvPr>
          <p:cNvSpPr>
            <a:spLocks xmlns:a="http://schemas.openxmlformats.org/drawingml/2006/main" noGrp="1"/>
          </p:cNvSpPr>
          <p:nvPr/>
        </p:nvSpPr>
        <p:spPr>
          <a:xfrm xmlns:a="http://schemas.openxmlformats.org/drawingml/2006/main">
            <a:off x="552450" y="34956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E3  Augmentation</a:t>
            </a:r>
          </a:p>
        </p:txBody>
      </p:sp>
      <p:sp>
        <p:nvSpPr>
          <p:cNvPr id="10" name="Saved ablations include no augmentation and vertic">
            <a:extLst xmlns:a="http://schemas.openxmlformats.org/drawingml/2006/main">
              <a:ext uri="{FF2B5EF4-FFF2-40B4-BE49-F238E27FC236}">
                <a16:creationId xmlns:a16="http://schemas.microsoft.com/office/drawing/2014/main" id="{F45A4200-00D4-4E41-AD71-F63411F26F06}"/>
              </a:ext>
            </a:extLst>
          </p:cNvPr>
          <p:cNvSpPr>
            <a:spLocks xmlns:a="http://schemas.openxmlformats.org/drawingml/2006/main" noGrp="1"/>
          </p:cNvSpPr>
          <p:nvPr/>
        </p:nvSpPr>
        <p:spPr>
          <a:xfrm xmlns:a="http://schemas.openxmlformats.org/drawingml/2006/main">
            <a:off x="552450" y="38671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Saved ablations include no augmentation and vertical flips.</a:t>
            </a:r>
          </a:p>
        </p:txBody>
      </p:sp>
      <p:sp>
        <p:nvSpPr>
          <p:cNvPr id="11" name="E4  Country and road adaptation">
            <a:extLst xmlns:a="http://schemas.openxmlformats.org/drawingml/2006/main">
              <a:ext uri="{FF2B5EF4-FFF2-40B4-BE49-F238E27FC236}">
                <a16:creationId xmlns:a16="http://schemas.microsoft.com/office/drawing/2014/main" id="{BF0AA104-B561-4760-9472-2DE6271C1F21}"/>
              </a:ext>
            </a:extLst>
          </p:cNvPr>
          <p:cNvSpPr>
            <a:spLocks xmlns:a="http://schemas.openxmlformats.org/drawingml/2006/main" noGrp="1"/>
          </p:cNvSpPr>
          <p:nvPr/>
        </p:nvSpPr>
        <p:spPr>
          <a:xfrm xmlns:a="http://schemas.openxmlformats.org/drawingml/2006/main">
            <a:off x="552450" y="427672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E4  Country and road adaptation</a:t>
            </a:r>
          </a:p>
        </p:txBody>
      </p:sp>
      <p:sp>
        <p:nvSpPr>
          <p:cNvPr id="12" name="Near-duplicate leakage limits claims. Saudi field ">
            <a:extLst xmlns:a="http://schemas.openxmlformats.org/drawingml/2006/main">
              <a:ext uri="{FF2B5EF4-FFF2-40B4-BE49-F238E27FC236}">
                <a16:creationId xmlns:a16="http://schemas.microsoft.com/office/drawing/2014/main" id="{9AB09FA5-60ED-4FE0-974A-9F71B5D8628C}"/>
              </a:ext>
            </a:extLst>
          </p:cNvPr>
          <p:cNvSpPr>
            <a:spLocks xmlns:a="http://schemas.openxmlformats.org/drawingml/2006/main" noGrp="1"/>
          </p:cNvSpPr>
          <p:nvPr/>
        </p:nvSpPr>
        <p:spPr>
          <a:xfrm xmlns:a="http://schemas.openxmlformats.org/drawingml/2006/main">
            <a:off x="552450" y="464820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Near-duplicate leakage limits claims. Saudi field testing is still needed.</a:t>
            </a:r>
          </a:p>
        </p:txBody>
      </p:sp>
      <p:sp>
        <p:nvSpPr>
          <p:cNvPr id="13" name="E5  Repeated damage">
            <a:extLst xmlns:a="http://schemas.openxmlformats.org/drawingml/2006/main">
              <a:ext uri="{FF2B5EF4-FFF2-40B4-BE49-F238E27FC236}">
                <a16:creationId xmlns:a16="http://schemas.microsoft.com/office/drawing/2014/main" id="{3C901791-55E7-411C-BC92-03768CA03BDD}"/>
              </a:ext>
            </a:extLst>
          </p:cNvPr>
          <p:cNvSpPr>
            <a:spLocks xmlns:a="http://schemas.openxmlformats.org/drawingml/2006/main" noGrp="1"/>
          </p:cNvSpPr>
          <p:nvPr/>
        </p:nvSpPr>
        <p:spPr>
          <a:xfrm xmlns:a="http://schemas.openxmlformats.org/drawingml/2006/main">
            <a:off x="552450" y="5057775"/>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DCFA6B"/>
                </a:solidFill>
                <a:latin typeface="Arial"/>
                <a:ea typeface="Arial"/>
                <a:cs typeface="Arial"/>
              </a:defRPr>
            </a:defPPr>
            <a:lvl1pPr>
              <a:defRPr sz="2025" b="1">
                <a:solidFill>
                  <a:srgbClr val="DCFA6B"/>
                </a:solidFill>
                <a:latin typeface="Arial"/>
                <a:ea typeface="Arial"/>
                <a:cs typeface="Arial"/>
              </a:defRPr>
            </a:lvl1pPr>
            <a:lvl2pPr>
              <a:defRPr sz="2025" b="1">
                <a:solidFill>
                  <a:srgbClr val="DCFA6B"/>
                </a:solidFill>
                <a:latin typeface="Arial"/>
                <a:ea typeface="Arial"/>
                <a:cs typeface="Arial"/>
              </a:defRPr>
            </a:lvl2pPr>
            <a:lvl3pPr>
              <a:defRPr sz="2025" b="1">
                <a:solidFill>
                  <a:srgbClr val="DCFA6B"/>
                </a:solidFill>
                <a:latin typeface="Arial"/>
                <a:ea typeface="Arial"/>
                <a:cs typeface="Arial"/>
              </a:defRPr>
            </a:lvl3pPr>
            <a:lvl4pPr>
              <a:defRPr sz="2025" b="1">
                <a:solidFill>
                  <a:srgbClr val="DCFA6B"/>
                </a:solidFill>
                <a:latin typeface="Arial"/>
                <a:ea typeface="Arial"/>
                <a:cs typeface="Arial"/>
              </a:defRPr>
            </a:lvl4pPr>
            <a:lvl5pPr>
              <a:defRPr sz="2025" b="1">
                <a:solidFill>
                  <a:srgbClr val="DCFA6B"/>
                </a:solidFill>
                <a:latin typeface="Arial"/>
                <a:ea typeface="Arial"/>
                <a:cs typeface="Arial"/>
              </a:defRPr>
            </a:lvl5pPr>
            <a:lvl6pPr>
              <a:defRPr sz="2025" b="1">
                <a:solidFill>
                  <a:srgbClr val="DCFA6B"/>
                </a:solidFill>
                <a:latin typeface="Arial"/>
                <a:ea typeface="Arial"/>
                <a:cs typeface="Arial"/>
              </a:defRPr>
            </a:lvl6pPr>
            <a:lvl7pPr>
              <a:defRPr sz="2025" b="1">
                <a:solidFill>
                  <a:srgbClr val="DCFA6B"/>
                </a:solidFill>
                <a:latin typeface="Arial"/>
                <a:ea typeface="Arial"/>
                <a:cs typeface="Arial"/>
              </a:defRPr>
            </a:lvl7pPr>
            <a:lvl8pPr>
              <a:defRPr sz="2025" b="1">
                <a:solidFill>
                  <a:srgbClr val="DCFA6B"/>
                </a:solidFill>
                <a:latin typeface="Arial"/>
                <a:ea typeface="Arial"/>
                <a:cs typeface="Arial"/>
              </a:defRPr>
            </a:lvl8pPr>
            <a:lvl9pPr>
              <a:defRPr sz="2025" b="1">
                <a:solidFill>
                  <a:srgbClr val="DCFA6B"/>
                </a:solidFill>
                <a:latin typeface="Arial"/>
                <a:ea typeface="Arial"/>
                <a:cs typeface="Arial"/>
              </a:defRPr>
            </a:lvl9pPr>
          </a:lstStyle>
          <a:p xmlns:a="http://schemas.openxmlformats.org/drawingml/2006/main">
            <a:pPr>
              <a:defRPr sz="2025" b="1">
                <a:solidFill>
                  <a:srgbClr val="DCFA6B"/>
                </a:solidFill>
                <a:latin typeface="Arial"/>
                <a:ea typeface="Arial"/>
                <a:cs typeface="Arial"/>
              </a:defRPr>
            </a:pPr>
            <a:r>
              <a:rPr sz="2025" b="1">
                <a:solidFill>
                  <a:srgbClr val="DCFA6B"/>
                </a:solidFill>
                <a:latin typeface="Arial"/>
                <a:ea typeface="Arial"/>
                <a:cs typeface="Arial"/>
              </a:rPr>
              <a:t>E5  Repeated damage</a:t>
            </a:r>
          </a:p>
        </p:txBody>
      </p:sp>
      <p:sp>
        <p:nvSpPr>
          <p:cNvPr id="14" name="Embedding simulations exist. Real repeat-damage pa">
            <a:extLst xmlns:a="http://schemas.openxmlformats.org/drawingml/2006/main">
              <a:ext uri="{FF2B5EF4-FFF2-40B4-BE49-F238E27FC236}">
                <a16:creationId xmlns:a16="http://schemas.microsoft.com/office/drawing/2014/main" id="{41581E14-C390-4F9A-97CE-001D7F12BC24}"/>
              </a:ext>
            </a:extLst>
          </p:cNvPr>
          <p:cNvSpPr>
            <a:spLocks xmlns:a="http://schemas.openxmlformats.org/drawingml/2006/main" noGrp="1"/>
          </p:cNvSpPr>
          <p:nvPr/>
        </p:nvSpPr>
        <p:spPr>
          <a:xfrm xmlns:a="http://schemas.openxmlformats.org/drawingml/2006/main">
            <a:off x="552450" y="5429250"/>
            <a:ext cx="11087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A5BDC6"/>
                </a:solidFill>
                <a:latin typeface="Arial"/>
                <a:ea typeface="Arial"/>
                <a:cs typeface="Arial"/>
              </a:defRPr>
            </a:defPPr>
            <a:lvl1pPr>
              <a:defRPr sz="1725" b="0">
                <a:solidFill>
                  <a:srgbClr val="A5BDC6"/>
                </a:solidFill>
                <a:latin typeface="Arial"/>
                <a:ea typeface="Arial"/>
                <a:cs typeface="Arial"/>
              </a:defRPr>
            </a:lvl1pPr>
            <a:lvl2pPr>
              <a:defRPr sz="1725" b="0">
                <a:solidFill>
                  <a:srgbClr val="A5BDC6"/>
                </a:solidFill>
                <a:latin typeface="Arial"/>
                <a:ea typeface="Arial"/>
                <a:cs typeface="Arial"/>
              </a:defRPr>
            </a:lvl2pPr>
            <a:lvl3pPr>
              <a:defRPr sz="1725" b="0">
                <a:solidFill>
                  <a:srgbClr val="A5BDC6"/>
                </a:solidFill>
                <a:latin typeface="Arial"/>
                <a:ea typeface="Arial"/>
                <a:cs typeface="Arial"/>
              </a:defRPr>
            </a:lvl3pPr>
            <a:lvl4pPr>
              <a:defRPr sz="1725" b="0">
                <a:solidFill>
                  <a:srgbClr val="A5BDC6"/>
                </a:solidFill>
                <a:latin typeface="Arial"/>
                <a:ea typeface="Arial"/>
                <a:cs typeface="Arial"/>
              </a:defRPr>
            </a:lvl4pPr>
            <a:lvl5pPr>
              <a:defRPr sz="1725" b="0">
                <a:solidFill>
                  <a:srgbClr val="A5BDC6"/>
                </a:solidFill>
                <a:latin typeface="Arial"/>
                <a:ea typeface="Arial"/>
                <a:cs typeface="Arial"/>
              </a:defRPr>
            </a:lvl5pPr>
            <a:lvl6pPr>
              <a:defRPr sz="1725" b="0">
                <a:solidFill>
                  <a:srgbClr val="A5BDC6"/>
                </a:solidFill>
                <a:latin typeface="Arial"/>
                <a:ea typeface="Arial"/>
                <a:cs typeface="Arial"/>
              </a:defRPr>
            </a:lvl6pPr>
            <a:lvl7pPr>
              <a:defRPr sz="1725" b="0">
                <a:solidFill>
                  <a:srgbClr val="A5BDC6"/>
                </a:solidFill>
                <a:latin typeface="Arial"/>
                <a:ea typeface="Arial"/>
                <a:cs typeface="Arial"/>
              </a:defRPr>
            </a:lvl7pPr>
            <a:lvl8pPr>
              <a:defRPr sz="1725" b="0">
                <a:solidFill>
                  <a:srgbClr val="A5BDC6"/>
                </a:solidFill>
                <a:latin typeface="Arial"/>
                <a:ea typeface="Arial"/>
                <a:cs typeface="Arial"/>
              </a:defRPr>
            </a:lvl8pPr>
            <a:lvl9pPr>
              <a:defRPr sz="1725" b="0">
                <a:solidFill>
                  <a:srgbClr val="A5BDC6"/>
                </a:solidFill>
                <a:latin typeface="Arial"/>
                <a:ea typeface="Arial"/>
                <a:cs typeface="Arial"/>
              </a:defRPr>
            </a:lvl9pPr>
          </a:lstStyle>
          <a:p xmlns:a="http://schemas.openxmlformats.org/drawingml/2006/main">
            <a:pPr>
              <a:defRPr sz="1725" b="0">
                <a:solidFill>
                  <a:srgbClr val="A5BDC6"/>
                </a:solidFill>
                <a:latin typeface="Arial"/>
                <a:ea typeface="Arial"/>
                <a:cs typeface="Arial"/>
              </a:defRPr>
            </a:pPr>
            <a:r>
              <a:rPr sz="1725" b="0">
                <a:solidFill>
                  <a:srgbClr val="A5BDC6"/>
                </a:solidFill>
                <a:latin typeface="Arial"/>
                <a:ea typeface="Arial"/>
                <a:cs typeface="Arial"/>
              </a:rPr>
              <a:t>Embedding simulations exist. Real repeat-damage pairs remain untested.</a:t>
            </a:r>
          </a:p>
        </p:txBody>
      </p:sp>
    </p:spTree>
    <p:extLst>
      <p:ext uri="{BB962C8B-B14F-4D97-AF65-F5344CB8AC3E}">
        <p14:creationId xmlns:p14="http://schemas.microsoft.com/office/powerpoint/2010/main" val="48225340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2026-10-31T09:41:45.9560000Z</dcterms:created>
  <dcterms:modified xsi:type="dcterms:W3CDTF">2026-10-31T09:41:45.9560000Z</dcterms:modified>
</coreProperties>
</file>